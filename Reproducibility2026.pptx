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4"/>
  </p:notesMasterIdLst>
  <p:sldIdLst>
    <p:sldId id="293" r:id="rId2"/>
    <p:sldId id="330" r:id="rId3"/>
    <p:sldId id="331" r:id="rId4"/>
    <p:sldId id="332" r:id="rId5"/>
    <p:sldId id="316" r:id="rId6"/>
    <p:sldId id="1356" r:id="rId7"/>
    <p:sldId id="328" r:id="rId8"/>
    <p:sldId id="1352" r:id="rId9"/>
    <p:sldId id="317" r:id="rId10"/>
    <p:sldId id="318" r:id="rId11"/>
    <p:sldId id="333" r:id="rId12"/>
    <p:sldId id="320" r:id="rId13"/>
    <p:sldId id="334" r:id="rId14"/>
    <p:sldId id="336" r:id="rId15"/>
    <p:sldId id="337" r:id="rId16"/>
    <p:sldId id="327" r:id="rId17"/>
    <p:sldId id="339" r:id="rId18"/>
    <p:sldId id="1351" r:id="rId19"/>
    <p:sldId id="340" r:id="rId20"/>
    <p:sldId id="343" r:id="rId21"/>
    <p:sldId id="341" r:id="rId22"/>
    <p:sldId id="1337" r:id="rId23"/>
    <p:sldId id="1348" r:id="rId24"/>
    <p:sldId id="1339" r:id="rId25"/>
    <p:sldId id="1340" r:id="rId26"/>
    <p:sldId id="1341" r:id="rId27"/>
    <p:sldId id="1353" r:id="rId28"/>
    <p:sldId id="1354" r:id="rId29"/>
    <p:sldId id="342" r:id="rId30"/>
    <p:sldId id="1349" r:id="rId31"/>
    <p:sldId id="1350" r:id="rId32"/>
    <p:sldId id="1355" r:id="rId3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472C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22" autoAdjust="0"/>
    <p:restoredTop sz="94658"/>
  </p:normalViewPr>
  <p:slideViewPr>
    <p:cSldViewPr snapToGrid="0">
      <p:cViewPr varScale="1">
        <p:scale>
          <a:sx n="116" d="100"/>
          <a:sy n="116" d="100"/>
        </p:scale>
        <p:origin x="904" y="176"/>
      </p:cViewPr>
      <p:guideLst/>
    </p:cSldViewPr>
  </p:slideViewPr>
  <p:notesTextViewPr>
    <p:cViewPr>
      <p:scale>
        <a:sx n="1" d="1"/>
        <a:sy n="1" d="1"/>
      </p:scale>
      <p:origin x="0" y="0"/>
    </p:cViewPr>
  </p:notesTextViewPr>
  <p:sorterViewPr>
    <p:cViewPr>
      <p:scale>
        <a:sx n="80" d="100"/>
        <a:sy n="8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42E20EA-8F17-944D-9BC1-5610BC4E0ABB}" type="doc">
      <dgm:prSet loTypeId="urn:microsoft.com/office/officeart/2005/8/layout/hList1" loCatId="" qsTypeId="urn:microsoft.com/office/officeart/2005/8/quickstyle/simple1" qsCatId="simple" csTypeId="urn:microsoft.com/office/officeart/2005/8/colors/accent1_2" csCatId="accent1" phldr="1"/>
      <dgm:spPr/>
      <dgm:t>
        <a:bodyPr/>
        <a:lstStyle/>
        <a:p>
          <a:endParaRPr lang="en-US"/>
        </a:p>
      </dgm:t>
    </dgm:pt>
    <dgm:pt modelId="{E208E3F2-684A-1D4E-A3EA-F3596D9E6250}">
      <dgm:prSet phldrT="[Text]"/>
      <dgm:spPr/>
      <dgm:t>
        <a:bodyPr/>
        <a:lstStyle/>
        <a:p>
          <a:r>
            <a:rPr lang="en-US" dirty="0"/>
            <a:t>You</a:t>
          </a:r>
        </a:p>
      </dgm:t>
    </dgm:pt>
    <dgm:pt modelId="{EBC5C7DC-5338-3A46-9EFC-347C6DBC9F07}" type="parTrans" cxnId="{A94AE04B-CE0D-AF4B-AB94-9F06197ADEA7}">
      <dgm:prSet/>
      <dgm:spPr/>
      <dgm:t>
        <a:bodyPr/>
        <a:lstStyle/>
        <a:p>
          <a:endParaRPr lang="en-US"/>
        </a:p>
      </dgm:t>
    </dgm:pt>
    <dgm:pt modelId="{9AF21A0E-3AAA-9F48-BFFA-4BBF6C310F79}" type="sibTrans" cxnId="{A94AE04B-CE0D-AF4B-AB94-9F06197ADEA7}">
      <dgm:prSet/>
      <dgm:spPr/>
      <dgm:t>
        <a:bodyPr/>
        <a:lstStyle/>
        <a:p>
          <a:endParaRPr lang="en-US"/>
        </a:p>
      </dgm:t>
    </dgm:pt>
    <dgm:pt modelId="{1E1F8FE6-ACD3-8C43-8231-2D0C7D91F561}">
      <dgm:prSet phldrT="[Text]"/>
      <dgm:spPr/>
      <dgm:t>
        <a:bodyPr/>
        <a:lstStyle/>
        <a:p>
          <a:r>
            <a:rPr lang="en-US" dirty="0"/>
            <a:t>Memory</a:t>
          </a:r>
        </a:p>
      </dgm:t>
    </dgm:pt>
    <dgm:pt modelId="{A9B1E668-4489-9345-8072-8835A126E42C}" type="parTrans" cxnId="{8271FF1F-F524-9D41-8482-EF72BDF49089}">
      <dgm:prSet/>
      <dgm:spPr/>
      <dgm:t>
        <a:bodyPr/>
        <a:lstStyle/>
        <a:p>
          <a:endParaRPr lang="en-US"/>
        </a:p>
      </dgm:t>
    </dgm:pt>
    <dgm:pt modelId="{4732EA0C-6F16-1C4C-80F2-0765A621DA66}" type="sibTrans" cxnId="{8271FF1F-F524-9D41-8482-EF72BDF49089}">
      <dgm:prSet/>
      <dgm:spPr/>
      <dgm:t>
        <a:bodyPr/>
        <a:lstStyle/>
        <a:p>
          <a:endParaRPr lang="en-US"/>
        </a:p>
      </dgm:t>
    </dgm:pt>
    <dgm:pt modelId="{119426E6-D061-0A49-A56A-8D936A21820B}">
      <dgm:prSet phldrT="[Text]"/>
      <dgm:spPr/>
      <dgm:t>
        <a:bodyPr/>
        <a:lstStyle/>
        <a:p>
          <a:r>
            <a:rPr lang="en-US" dirty="0"/>
            <a:t>Modification</a:t>
          </a:r>
        </a:p>
      </dgm:t>
    </dgm:pt>
    <dgm:pt modelId="{F0B6C81A-DA66-734A-89EA-906197DA2F86}" type="parTrans" cxnId="{4FE5143C-C231-CC49-B86D-AF45E7024E75}">
      <dgm:prSet/>
      <dgm:spPr/>
      <dgm:t>
        <a:bodyPr/>
        <a:lstStyle/>
        <a:p>
          <a:endParaRPr lang="en-US"/>
        </a:p>
      </dgm:t>
    </dgm:pt>
    <dgm:pt modelId="{0023C93C-F40D-CD49-B496-348E639274EC}" type="sibTrans" cxnId="{4FE5143C-C231-CC49-B86D-AF45E7024E75}">
      <dgm:prSet/>
      <dgm:spPr/>
      <dgm:t>
        <a:bodyPr/>
        <a:lstStyle/>
        <a:p>
          <a:endParaRPr lang="en-US"/>
        </a:p>
      </dgm:t>
    </dgm:pt>
    <dgm:pt modelId="{1DC23C4A-358B-AD42-B5C6-4D76BFC299E5}">
      <dgm:prSet phldrT="[Text]"/>
      <dgm:spPr/>
      <dgm:t>
        <a:bodyPr/>
        <a:lstStyle/>
        <a:p>
          <a:r>
            <a:rPr lang="en-US" dirty="0"/>
            <a:t>Science</a:t>
          </a:r>
        </a:p>
      </dgm:t>
    </dgm:pt>
    <dgm:pt modelId="{E8880205-6860-624A-ACC4-5117D4C92836}" type="parTrans" cxnId="{B15CB167-81CF-514F-934D-C13B2F98E56B}">
      <dgm:prSet/>
      <dgm:spPr/>
      <dgm:t>
        <a:bodyPr/>
        <a:lstStyle/>
        <a:p>
          <a:endParaRPr lang="en-US"/>
        </a:p>
      </dgm:t>
    </dgm:pt>
    <dgm:pt modelId="{572BB5F6-2381-9A42-9D17-A13E2270B43F}" type="sibTrans" cxnId="{B15CB167-81CF-514F-934D-C13B2F98E56B}">
      <dgm:prSet/>
      <dgm:spPr/>
      <dgm:t>
        <a:bodyPr/>
        <a:lstStyle/>
        <a:p>
          <a:endParaRPr lang="en-US"/>
        </a:p>
      </dgm:t>
    </dgm:pt>
    <dgm:pt modelId="{BC0A5273-A05E-B44D-B810-AA81FC55DFDF}">
      <dgm:prSet phldrT="[Text]"/>
      <dgm:spPr/>
      <dgm:t>
        <a:bodyPr/>
        <a:lstStyle/>
        <a:p>
          <a:r>
            <a:rPr lang="en-US" dirty="0"/>
            <a:t>Build on your work</a:t>
          </a:r>
        </a:p>
      </dgm:t>
    </dgm:pt>
    <dgm:pt modelId="{6DC06760-80B6-BC4B-B5B3-4B869E062885}" type="parTrans" cxnId="{4C38B03D-6FD4-E648-8319-6663CE037C27}">
      <dgm:prSet/>
      <dgm:spPr/>
      <dgm:t>
        <a:bodyPr/>
        <a:lstStyle/>
        <a:p>
          <a:endParaRPr lang="en-US"/>
        </a:p>
      </dgm:t>
    </dgm:pt>
    <dgm:pt modelId="{FFD2515D-26E1-214B-9932-9CED10087A9D}" type="sibTrans" cxnId="{4C38B03D-6FD4-E648-8319-6663CE037C27}">
      <dgm:prSet/>
      <dgm:spPr/>
      <dgm:t>
        <a:bodyPr/>
        <a:lstStyle/>
        <a:p>
          <a:endParaRPr lang="en-US"/>
        </a:p>
      </dgm:t>
    </dgm:pt>
    <dgm:pt modelId="{04997517-CAFD-A44A-B011-9E3705915798}">
      <dgm:prSet phldrT="[Text]"/>
      <dgm:spPr/>
      <dgm:t>
        <a:bodyPr/>
        <a:lstStyle/>
        <a:p>
          <a:r>
            <a:rPr lang="en-US" dirty="0"/>
            <a:t>Easy follow-up</a:t>
          </a:r>
        </a:p>
      </dgm:t>
    </dgm:pt>
    <dgm:pt modelId="{C79ACF11-6374-9745-90FC-6F5B016ED77E}" type="parTrans" cxnId="{8103DF27-347F-7045-B7C6-E41ABFF1C9D2}">
      <dgm:prSet/>
      <dgm:spPr/>
      <dgm:t>
        <a:bodyPr/>
        <a:lstStyle/>
        <a:p>
          <a:endParaRPr lang="en-US"/>
        </a:p>
      </dgm:t>
    </dgm:pt>
    <dgm:pt modelId="{E23CE3BB-6B5F-7F42-AFD6-6BE614D4311E}" type="sibTrans" cxnId="{8103DF27-347F-7045-B7C6-E41ABFF1C9D2}">
      <dgm:prSet/>
      <dgm:spPr/>
      <dgm:t>
        <a:bodyPr/>
        <a:lstStyle/>
        <a:p>
          <a:endParaRPr lang="en-US"/>
        </a:p>
      </dgm:t>
    </dgm:pt>
    <dgm:pt modelId="{841E1067-2C9B-0546-8722-1711B0B928C3}">
      <dgm:prSet phldrT="[Text]"/>
      <dgm:spPr/>
      <dgm:t>
        <a:bodyPr/>
        <a:lstStyle/>
        <a:p>
          <a:r>
            <a:rPr lang="en-US" dirty="0"/>
            <a:t>Consumers</a:t>
          </a:r>
        </a:p>
      </dgm:t>
    </dgm:pt>
    <dgm:pt modelId="{DEF9797A-E879-694D-8D35-D29660C3A7BC}" type="parTrans" cxnId="{863317BD-19CA-AF45-BCFA-0ECC2EE477DD}">
      <dgm:prSet/>
      <dgm:spPr/>
      <dgm:t>
        <a:bodyPr/>
        <a:lstStyle/>
        <a:p>
          <a:endParaRPr lang="en-US"/>
        </a:p>
      </dgm:t>
    </dgm:pt>
    <dgm:pt modelId="{69DFBC8E-77D8-E942-B10E-27320A4E0F8D}" type="sibTrans" cxnId="{863317BD-19CA-AF45-BCFA-0ECC2EE477DD}">
      <dgm:prSet/>
      <dgm:spPr/>
      <dgm:t>
        <a:bodyPr/>
        <a:lstStyle/>
        <a:p>
          <a:endParaRPr lang="en-US"/>
        </a:p>
      </dgm:t>
    </dgm:pt>
    <dgm:pt modelId="{9B9996DD-2342-F048-A782-7644CDFD43F6}">
      <dgm:prSet phldrT="[Text]"/>
      <dgm:spPr/>
      <dgm:t>
        <a:bodyPr/>
        <a:lstStyle/>
        <a:p>
          <a:r>
            <a:rPr lang="en-US" dirty="0"/>
            <a:t>Learn from your work</a:t>
          </a:r>
        </a:p>
      </dgm:t>
    </dgm:pt>
    <dgm:pt modelId="{91DB738F-9535-A54A-8609-BB9E932AAA54}" type="parTrans" cxnId="{FA3BAEAE-3086-8147-93D0-84C91112360C}">
      <dgm:prSet/>
      <dgm:spPr/>
      <dgm:t>
        <a:bodyPr/>
        <a:lstStyle/>
        <a:p>
          <a:endParaRPr lang="en-US"/>
        </a:p>
      </dgm:t>
    </dgm:pt>
    <dgm:pt modelId="{78910BC4-C68D-934D-92E2-A815F1344388}" type="sibTrans" cxnId="{FA3BAEAE-3086-8147-93D0-84C91112360C}">
      <dgm:prSet/>
      <dgm:spPr/>
      <dgm:t>
        <a:bodyPr/>
        <a:lstStyle/>
        <a:p>
          <a:endParaRPr lang="en-US"/>
        </a:p>
      </dgm:t>
    </dgm:pt>
    <dgm:pt modelId="{0416519F-FC8B-AD4C-B15C-BA933D867891}">
      <dgm:prSet phldrT="[Text]"/>
      <dgm:spPr/>
      <dgm:t>
        <a:bodyPr/>
        <a:lstStyle/>
        <a:p>
          <a:r>
            <a:rPr lang="en-US" dirty="0"/>
            <a:t>Builds trust</a:t>
          </a:r>
        </a:p>
      </dgm:t>
    </dgm:pt>
    <dgm:pt modelId="{80471665-62A0-204A-976F-EDCF006377B0}" type="parTrans" cxnId="{FE46ECFF-744B-3B47-B4EE-3CD49B3F740D}">
      <dgm:prSet/>
      <dgm:spPr/>
      <dgm:t>
        <a:bodyPr/>
        <a:lstStyle/>
        <a:p>
          <a:endParaRPr lang="en-US"/>
        </a:p>
      </dgm:t>
    </dgm:pt>
    <dgm:pt modelId="{FEB7484B-E8B8-6B40-82E2-76DE57232B7E}" type="sibTrans" cxnId="{FE46ECFF-744B-3B47-B4EE-3CD49B3F740D}">
      <dgm:prSet/>
      <dgm:spPr/>
      <dgm:t>
        <a:bodyPr/>
        <a:lstStyle/>
        <a:p>
          <a:endParaRPr lang="en-US"/>
        </a:p>
      </dgm:t>
    </dgm:pt>
    <dgm:pt modelId="{34F22871-BA52-D440-88FB-DC4EF7C9AFEA}">
      <dgm:prSet phldrT="[Text]"/>
      <dgm:spPr/>
      <dgm:t>
        <a:bodyPr/>
        <a:lstStyle/>
        <a:p>
          <a:r>
            <a:rPr lang="en-US" dirty="0"/>
            <a:t>Reconfiguration</a:t>
          </a:r>
        </a:p>
      </dgm:t>
    </dgm:pt>
    <dgm:pt modelId="{561E3CF0-F93F-CA47-9909-5F0FE315DC2B}" type="parTrans" cxnId="{C4449596-A748-514B-AA1A-E029304F7B35}">
      <dgm:prSet/>
      <dgm:spPr/>
    </dgm:pt>
    <dgm:pt modelId="{1CAB793F-FD67-324F-ACCE-E9B20AE96006}" type="sibTrans" cxnId="{C4449596-A748-514B-AA1A-E029304F7B35}">
      <dgm:prSet/>
      <dgm:spPr/>
    </dgm:pt>
    <dgm:pt modelId="{44854E98-47A8-BA45-AFC3-4BA2CE8FB0FE}">
      <dgm:prSet phldrT="[Text]"/>
      <dgm:spPr/>
      <dgm:t>
        <a:bodyPr/>
        <a:lstStyle/>
        <a:p>
          <a:r>
            <a:rPr lang="en-US" dirty="0"/>
            <a:t>Citation</a:t>
          </a:r>
        </a:p>
      </dgm:t>
    </dgm:pt>
    <dgm:pt modelId="{0124F6BE-2855-FC49-B915-5FC4C4B06431}" type="parTrans" cxnId="{7AE8B55A-EBE3-A54E-B888-CCE66B5E1C59}">
      <dgm:prSet/>
      <dgm:spPr/>
    </dgm:pt>
    <dgm:pt modelId="{F2D95FEA-C6A4-4643-81BA-F35A1901854E}" type="sibTrans" cxnId="{7AE8B55A-EBE3-A54E-B888-CCE66B5E1C59}">
      <dgm:prSet/>
      <dgm:spPr/>
    </dgm:pt>
    <dgm:pt modelId="{F87F90BB-EA8D-0D4F-A269-6FCC71A2E967}">
      <dgm:prSet phldrT="[Text]"/>
      <dgm:spPr/>
      <dgm:t>
        <a:bodyPr/>
        <a:lstStyle/>
        <a:p>
          <a:r>
            <a:rPr lang="en-US" dirty="0"/>
            <a:t>Verification</a:t>
          </a:r>
        </a:p>
      </dgm:t>
    </dgm:pt>
    <dgm:pt modelId="{CD4E26FB-D06D-1042-902D-9385065F51BB}" type="parTrans" cxnId="{1A187DA3-ACBB-E244-9993-8ED4FCF80D27}">
      <dgm:prSet/>
      <dgm:spPr/>
    </dgm:pt>
    <dgm:pt modelId="{B00CF626-3EFD-6B4F-9525-04B426F8EB2C}" type="sibTrans" cxnId="{1A187DA3-ACBB-E244-9993-8ED4FCF80D27}">
      <dgm:prSet/>
      <dgm:spPr/>
    </dgm:pt>
    <dgm:pt modelId="{E7BB8964-6EFD-2B49-A1B4-A9E5CA33B09B}">
      <dgm:prSet phldrT="[Text]"/>
      <dgm:spPr/>
      <dgm:t>
        <a:bodyPr/>
        <a:lstStyle/>
        <a:p>
          <a:r>
            <a:rPr lang="en-US" dirty="0"/>
            <a:t>Consistency of results</a:t>
          </a:r>
        </a:p>
      </dgm:t>
    </dgm:pt>
    <dgm:pt modelId="{712206B3-A421-084A-9A3D-D3E336BB387A}" type="parTrans" cxnId="{DBE55BDC-9E4E-4748-BBAF-292A989F30DA}">
      <dgm:prSet/>
      <dgm:spPr/>
    </dgm:pt>
    <dgm:pt modelId="{4927053E-6F9E-3D4A-AECE-953BA5EB1840}" type="sibTrans" cxnId="{DBE55BDC-9E4E-4748-BBAF-292A989F30DA}">
      <dgm:prSet/>
      <dgm:spPr/>
    </dgm:pt>
    <dgm:pt modelId="{C57C8AB8-6FBA-F946-9670-597F5BBE5DB8}">
      <dgm:prSet phldrT="[Text]"/>
      <dgm:spPr/>
      <dgm:t>
        <a:bodyPr/>
        <a:lstStyle/>
        <a:p>
          <a:r>
            <a:rPr lang="en-US" dirty="0"/>
            <a:t>Increased consistency</a:t>
          </a:r>
        </a:p>
      </dgm:t>
    </dgm:pt>
    <dgm:pt modelId="{649986ED-BB66-CB43-9770-D455796D3FD8}" type="parTrans" cxnId="{28121D44-1D71-2744-BAA3-394C2E6C2B83}">
      <dgm:prSet/>
      <dgm:spPr/>
    </dgm:pt>
    <dgm:pt modelId="{6A7B0E1C-A0CB-304D-86E7-725605023986}" type="sibTrans" cxnId="{28121D44-1D71-2744-BAA3-394C2E6C2B83}">
      <dgm:prSet/>
      <dgm:spPr/>
    </dgm:pt>
    <dgm:pt modelId="{2BA24FE2-594F-DD4F-926C-BE14B474D136}" type="pres">
      <dgm:prSet presAssocID="{C42E20EA-8F17-944D-9BC1-5610BC4E0ABB}" presName="Name0" presStyleCnt="0">
        <dgm:presLayoutVars>
          <dgm:dir/>
          <dgm:animLvl val="lvl"/>
          <dgm:resizeHandles val="exact"/>
        </dgm:presLayoutVars>
      </dgm:prSet>
      <dgm:spPr/>
    </dgm:pt>
    <dgm:pt modelId="{AC134048-AD6E-194F-BBA6-8204894493AC}" type="pres">
      <dgm:prSet presAssocID="{E208E3F2-684A-1D4E-A3EA-F3596D9E6250}" presName="composite" presStyleCnt="0"/>
      <dgm:spPr/>
    </dgm:pt>
    <dgm:pt modelId="{A415B681-72AD-F346-921C-AA61D43685D7}" type="pres">
      <dgm:prSet presAssocID="{E208E3F2-684A-1D4E-A3EA-F3596D9E6250}" presName="parTx" presStyleLbl="alignNode1" presStyleIdx="0" presStyleCnt="3">
        <dgm:presLayoutVars>
          <dgm:chMax val="0"/>
          <dgm:chPref val="0"/>
          <dgm:bulletEnabled val="1"/>
        </dgm:presLayoutVars>
      </dgm:prSet>
      <dgm:spPr/>
    </dgm:pt>
    <dgm:pt modelId="{1A53CE11-8449-AD49-8F69-E2A0C71668FE}" type="pres">
      <dgm:prSet presAssocID="{E208E3F2-684A-1D4E-A3EA-F3596D9E6250}" presName="desTx" presStyleLbl="alignAccFollowNode1" presStyleIdx="0" presStyleCnt="3">
        <dgm:presLayoutVars>
          <dgm:bulletEnabled val="1"/>
        </dgm:presLayoutVars>
      </dgm:prSet>
      <dgm:spPr/>
    </dgm:pt>
    <dgm:pt modelId="{FFA5A82A-5B7E-B141-937E-ED5725D81E64}" type="pres">
      <dgm:prSet presAssocID="{9AF21A0E-3AAA-9F48-BFFA-4BBF6C310F79}" presName="space" presStyleCnt="0"/>
      <dgm:spPr/>
    </dgm:pt>
    <dgm:pt modelId="{DFB13F5F-3546-B546-B158-0843BC20DAB7}" type="pres">
      <dgm:prSet presAssocID="{1DC23C4A-358B-AD42-B5C6-4D76BFC299E5}" presName="composite" presStyleCnt="0"/>
      <dgm:spPr/>
    </dgm:pt>
    <dgm:pt modelId="{29556DE1-A7A6-2D48-B842-C471B124DA36}" type="pres">
      <dgm:prSet presAssocID="{1DC23C4A-358B-AD42-B5C6-4D76BFC299E5}" presName="parTx" presStyleLbl="alignNode1" presStyleIdx="1" presStyleCnt="3">
        <dgm:presLayoutVars>
          <dgm:chMax val="0"/>
          <dgm:chPref val="0"/>
          <dgm:bulletEnabled val="1"/>
        </dgm:presLayoutVars>
      </dgm:prSet>
      <dgm:spPr/>
    </dgm:pt>
    <dgm:pt modelId="{84564F11-C176-F343-A74E-CFE0EC991455}" type="pres">
      <dgm:prSet presAssocID="{1DC23C4A-358B-AD42-B5C6-4D76BFC299E5}" presName="desTx" presStyleLbl="alignAccFollowNode1" presStyleIdx="1" presStyleCnt="3">
        <dgm:presLayoutVars>
          <dgm:bulletEnabled val="1"/>
        </dgm:presLayoutVars>
      </dgm:prSet>
      <dgm:spPr/>
    </dgm:pt>
    <dgm:pt modelId="{BFFAE80A-E2D5-E04E-88A7-ECF6A9C29BF8}" type="pres">
      <dgm:prSet presAssocID="{572BB5F6-2381-9A42-9D17-A13E2270B43F}" presName="space" presStyleCnt="0"/>
      <dgm:spPr/>
    </dgm:pt>
    <dgm:pt modelId="{6A98C589-344E-2845-9753-BAC8EDB32239}" type="pres">
      <dgm:prSet presAssocID="{841E1067-2C9B-0546-8722-1711B0B928C3}" presName="composite" presStyleCnt="0"/>
      <dgm:spPr/>
    </dgm:pt>
    <dgm:pt modelId="{E51BA973-5132-3A41-8877-38E62FD0EEE1}" type="pres">
      <dgm:prSet presAssocID="{841E1067-2C9B-0546-8722-1711B0B928C3}" presName="parTx" presStyleLbl="alignNode1" presStyleIdx="2" presStyleCnt="3">
        <dgm:presLayoutVars>
          <dgm:chMax val="0"/>
          <dgm:chPref val="0"/>
          <dgm:bulletEnabled val="1"/>
        </dgm:presLayoutVars>
      </dgm:prSet>
      <dgm:spPr/>
    </dgm:pt>
    <dgm:pt modelId="{77E2A5F3-3663-8445-B361-0DA7AD1DF3DC}" type="pres">
      <dgm:prSet presAssocID="{841E1067-2C9B-0546-8722-1711B0B928C3}" presName="desTx" presStyleLbl="alignAccFollowNode1" presStyleIdx="2" presStyleCnt="3">
        <dgm:presLayoutVars>
          <dgm:bulletEnabled val="1"/>
        </dgm:presLayoutVars>
      </dgm:prSet>
      <dgm:spPr/>
    </dgm:pt>
  </dgm:ptLst>
  <dgm:cxnLst>
    <dgm:cxn modelId="{9CF4F30C-CFA0-6F4B-898C-6644B4D261AC}" type="presOf" srcId="{BC0A5273-A05E-B44D-B810-AA81FC55DFDF}" destId="{84564F11-C176-F343-A74E-CFE0EC991455}" srcOrd="0" destOrd="0" presId="urn:microsoft.com/office/officeart/2005/8/layout/hList1"/>
    <dgm:cxn modelId="{D72B210F-C32D-FC4E-AAB1-96DF5279741A}" type="presOf" srcId="{1DC23C4A-358B-AD42-B5C6-4D76BFC299E5}" destId="{29556DE1-A7A6-2D48-B842-C471B124DA36}" srcOrd="0" destOrd="0" presId="urn:microsoft.com/office/officeart/2005/8/layout/hList1"/>
    <dgm:cxn modelId="{BF47DD17-686C-3547-BC65-CFC4DE44B380}" type="presOf" srcId="{F87F90BB-EA8D-0D4F-A269-6FCC71A2E967}" destId="{1A53CE11-8449-AD49-8F69-E2A0C71668FE}" srcOrd="0" destOrd="3" presId="urn:microsoft.com/office/officeart/2005/8/layout/hList1"/>
    <dgm:cxn modelId="{8271FF1F-F524-9D41-8482-EF72BDF49089}" srcId="{E208E3F2-684A-1D4E-A3EA-F3596D9E6250}" destId="{1E1F8FE6-ACD3-8C43-8231-2D0C7D91F561}" srcOrd="0" destOrd="0" parTransId="{A9B1E668-4489-9345-8072-8835A126E42C}" sibTransId="{4732EA0C-6F16-1C4C-80F2-0765A621DA66}"/>
    <dgm:cxn modelId="{65BE6820-877F-8242-A008-442002399F51}" type="presOf" srcId="{44854E98-47A8-BA45-AFC3-4BA2CE8FB0FE}" destId="{1A53CE11-8449-AD49-8F69-E2A0C71668FE}" srcOrd="0" destOrd="4" presId="urn:microsoft.com/office/officeart/2005/8/layout/hList1"/>
    <dgm:cxn modelId="{D05EA124-96FE-024A-BFF9-D3D84E6C10D8}" type="presOf" srcId="{1E1F8FE6-ACD3-8C43-8231-2D0C7D91F561}" destId="{1A53CE11-8449-AD49-8F69-E2A0C71668FE}" srcOrd="0" destOrd="0" presId="urn:microsoft.com/office/officeart/2005/8/layout/hList1"/>
    <dgm:cxn modelId="{8103DF27-347F-7045-B7C6-E41ABFF1C9D2}" srcId="{1DC23C4A-358B-AD42-B5C6-4D76BFC299E5}" destId="{04997517-CAFD-A44A-B011-9E3705915798}" srcOrd="1" destOrd="0" parTransId="{C79ACF11-6374-9745-90FC-6F5B016ED77E}" sibTransId="{E23CE3BB-6B5F-7F42-AFD6-6BE614D4311E}"/>
    <dgm:cxn modelId="{CEFF4433-6014-3241-A0C2-DBD1EF0A63D3}" type="presOf" srcId="{0416519F-FC8B-AD4C-B15C-BA933D867891}" destId="{77E2A5F3-3663-8445-B361-0DA7AD1DF3DC}" srcOrd="0" destOrd="1" presId="urn:microsoft.com/office/officeart/2005/8/layout/hList1"/>
    <dgm:cxn modelId="{4FE5143C-C231-CC49-B86D-AF45E7024E75}" srcId="{E208E3F2-684A-1D4E-A3EA-F3596D9E6250}" destId="{119426E6-D061-0A49-A56A-8D936A21820B}" srcOrd="1" destOrd="0" parTransId="{F0B6C81A-DA66-734A-89EA-906197DA2F86}" sibTransId="{0023C93C-F40D-CD49-B496-348E639274EC}"/>
    <dgm:cxn modelId="{4C38B03D-6FD4-E648-8319-6663CE037C27}" srcId="{1DC23C4A-358B-AD42-B5C6-4D76BFC299E5}" destId="{BC0A5273-A05E-B44D-B810-AA81FC55DFDF}" srcOrd="0" destOrd="0" parTransId="{6DC06760-80B6-BC4B-B5B3-4B869E062885}" sibTransId="{FFD2515D-26E1-214B-9932-9CED10087A9D}"/>
    <dgm:cxn modelId="{28121D44-1D71-2744-BAA3-394C2E6C2B83}" srcId="{1DC23C4A-358B-AD42-B5C6-4D76BFC299E5}" destId="{C57C8AB8-6FBA-F946-9670-597F5BBE5DB8}" srcOrd="2" destOrd="0" parTransId="{649986ED-BB66-CB43-9770-D455796D3FD8}" sibTransId="{6A7B0E1C-A0CB-304D-86E7-725605023986}"/>
    <dgm:cxn modelId="{CD8C6C46-E254-5F49-AA40-A188A8C92DCF}" type="presOf" srcId="{119426E6-D061-0A49-A56A-8D936A21820B}" destId="{1A53CE11-8449-AD49-8F69-E2A0C71668FE}" srcOrd="0" destOrd="1" presId="urn:microsoft.com/office/officeart/2005/8/layout/hList1"/>
    <dgm:cxn modelId="{A94AE04B-CE0D-AF4B-AB94-9F06197ADEA7}" srcId="{C42E20EA-8F17-944D-9BC1-5610BC4E0ABB}" destId="{E208E3F2-684A-1D4E-A3EA-F3596D9E6250}" srcOrd="0" destOrd="0" parTransId="{EBC5C7DC-5338-3A46-9EFC-347C6DBC9F07}" sibTransId="{9AF21A0E-3AAA-9F48-BFFA-4BBF6C310F79}"/>
    <dgm:cxn modelId="{EC8F6C51-BE6E-A048-BCDD-5759569D5061}" type="presOf" srcId="{9B9996DD-2342-F048-A782-7644CDFD43F6}" destId="{77E2A5F3-3663-8445-B361-0DA7AD1DF3DC}" srcOrd="0" destOrd="0" presId="urn:microsoft.com/office/officeart/2005/8/layout/hList1"/>
    <dgm:cxn modelId="{7AE8B55A-EBE3-A54E-B888-CCE66B5E1C59}" srcId="{E208E3F2-684A-1D4E-A3EA-F3596D9E6250}" destId="{44854E98-47A8-BA45-AFC3-4BA2CE8FB0FE}" srcOrd="4" destOrd="0" parTransId="{0124F6BE-2855-FC49-B915-5FC4C4B06431}" sibTransId="{F2D95FEA-C6A4-4643-81BA-F35A1901854E}"/>
    <dgm:cxn modelId="{B15CB167-81CF-514F-934D-C13B2F98E56B}" srcId="{C42E20EA-8F17-944D-9BC1-5610BC4E0ABB}" destId="{1DC23C4A-358B-AD42-B5C6-4D76BFC299E5}" srcOrd="1" destOrd="0" parTransId="{E8880205-6860-624A-ACC4-5117D4C92836}" sibTransId="{572BB5F6-2381-9A42-9D17-A13E2270B43F}"/>
    <dgm:cxn modelId="{8E656975-2BDC-9E48-BCC0-CEAF40F60833}" type="presOf" srcId="{C57C8AB8-6FBA-F946-9670-597F5BBE5DB8}" destId="{84564F11-C176-F343-A74E-CFE0EC991455}" srcOrd="0" destOrd="2" presId="urn:microsoft.com/office/officeart/2005/8/layout/hList1"/>
    <dgm:cxn modelId="{74040981-9910-5240-90D7-E40DF40A03FB}" type="presOf" srcId="{E208E3F2-684A-1D4E-A3EA-F3596D9E6250}" destId="{A415B681-72AD-F346-921C-AA61D43685D7}" srcOrd="0" destOrd="0" presId="urn:microsoft.com/office/officeart/2005/8/layout/hList1"/>
    <dgm:cxn modelId="{71244D88-E79B-8F47-84CC-700F10C61744}" type="presOf" srcId="{C42E20EA-8F17-944D-9BC1-5610BC4E0ABB}" destId="{2BA24FE2-594F-DD4F-926C-BE14B474D136}" srcOrd="0" destOrd="0" presId="urn:microsoft.com/office/officeart/2005/8/layout/hList1"/>
    <dgm:cxn modelId="{C4449596-A748-514B-AA1A-E029304F7B35}" srcId="{E208E3F2-684A-1D4E-A3EA-F3596D9E6250}" destId="{34F22871-BA52-D440-88FB-DC4EF7C9AFEA}" srcOrd="2" destOrd="0" parTransId="{561E3CF0-F93F-CA47-9909-5F0FE315DC2B}" sibTransId="{1CAB793F-FD67-324F-ACCE-E9B20AE96006}"/>
    <dgm:cxn modelId="{533A429F-CD45-B247-ABB4-1D7642727D9A}" type="presOf" srcId="{E7BB8964-6EFD-2B49-A1B4-A9E5CA33B09B}" destId="{77E2A5F3-3663-8445-B361-0DA7AD1DF3DC}" srcOrd="0" destOrd="2" presId="urn:microsoft.com/office/officeart/2005/8/layout/hList1"/>
    <dgm:cxn modelId="{1A187DA3-ACBB-E244-9993-8ED4FCF80D27}" srcId="{E208E3F2-684A-1D4E-A3EA-F3596D9E6250}" destId="{F87F90BB-EA8D-0D4F-A269-6FCC71A2E967}" srcOrd="3" destOrd="0" parTransId="{CD4E26FB-D06D-1042-902D-9385065F51BB}" sibTransId="{B00CF626-3EFD-6B4F-9525-04B426F8EB2C}"/>
    <dgm:cxn modelId="{FA3BAEAE-3086-8147-93D0-84C91112360C}" srcId="{841E1067-2C9B-0546-8722-1711B0B928C3}" destId="{9B9996DD-2342-F048-A782-7644CDFD43F6}" srcOrd="0" destOrd="0" parTransId="{91DB738F-9535-A54A-8609-BB9E932AAA54}" sibTransId="{78910BC4-C68D-934D-92E2-A815F1344388}"/>
    <dgm:cxn modelId="{863317BD-19CA-AF45-BCFA-0ECC2EE477DD}" srcId="{C42E20EA-8F17-944D-9BC1-5610BC4E0ABB}" destId="{841E1067-2C9B-0546-8722-1711B0B928C3}" srcOrd="2" destOrd="0" parTransId="{DEF9797A-E879-694D-8D35-D29660C3A7BC}" sibTransId="{69DFBC8E-77D8-E942-B10E-27320A4E0F8D}"/>
    <dgm:cxn modelId="{715722C9-2EEB-C849-80E6-786AB7CD6940}" type="presOf" srcId="{841E1067-2C9B-0546-8722-1711B0B928C3}" destId="{E51BA973-5132-3A41-8877-38E62FD0EEE1}" srcOrd="0" destOrd="0" presId="urn:microsoft.com/office/officeart/2005/8/layout/hList1"/>
    <dgm:cxn modelId="{801242CF-B8C8-9F41-8F1A-95E823CA08BD}" type="presOf" srcId="{34F22871-BA52-D440-88FB-DC4EF7C9AFEA}" destId="{1A53CE11-8449-AD49-8F69-E2A0C71668FE}" srcOrd="0" destOrd="2" presId="urn:microsoft.com/office/officeart/2005/8/layout/hList1"/>
    <dgm:cxn modelId="{DBE55BDC-9E4E-4748-BBAF-292A989F30DA}" srcId="{841E1067-2C9B-0546-8722-1711B0B928C3}" destId="{E7BB8964-6EFD-2B49-A1B4-A9E5CA33B09B}" srcOrd="2" destOrd="0" parTransId="{712206B3-A421-084A-9A3D-D3E336BB387A}" sibTransId="{4927053E-6F9E-3D4A-AECE-953BA5EB1840}"/>
    <dgm:cxn modelId="{A08454FF-97CB-0042-89F9-DBFD5AF8066E}" type="presOf" srcId="{04997517-CAFD-A44A-B011-9E3705915798}" destId="{84564F11-C176-F343-A74E-CFE0EC991455}" srcOrd="0" destOrd="1" presId="urn:microsoft.com/office/officeart/2005/8/layout/hList1"/>
    <dgm:cxn modelId="{FE46ECFF-744B-3B47-B4EE-3CD49B3F740D}" srcId="{841E1067-2C9B-0546-8722-1711B0B928C3}" destId="{0416519F-FC8B-AD4C-B15C-BA933D867891}" srcOrd="1" destOrd="0" parTransId="{80471665-62A0-204A-976F-EDCF006377B0}" sibTransId="{FEB7484B-E8B8-6B40-82E2-76DE57232B7E}"/>
    <dgm:cxn modelId="{B86DDF3E-ED1E-3540-AD3D-09195A7DB63E}" type="presParOf" srcId="{2BA24FE2-594F-DD4F-926C-BE14B474D136}" destId="{AC134048-AD6E-194F-BBA6-8204894493AC}" srcOrd="0" destOrd="0" presId="urn:microsoft.com/office/officeart/2005/8/layout/hList1"/>
    <dgm:cxn modelId="{B029FDF6-267A-A840-926A-2C6979D09869}" type="presParOf" srcId="{AC134048-AD6E-194F-BBA6-8204894493AC}" destId="{A415B681-72AD-F346-921C-AA61D43685D7}" srcOrd="0" destOrd="0" presId="urn:microsoft.com/office/officeart/2005/8/layout/hList1"/>
    <dgm:cxn modelId="{E7BF4ADB-ECF6-A04D-BF56-FD7E212759D1}" type="presParOf" srcId="{AC134048-AD6E-194F-BBA6-8204894493AC}" destId="{1A53CE11-8449-AD49-8F69-E2A0C71668FE}" srcOrd="1" destOrd="0" presId="urn:microsoft.com/office/officeart/2005/8/layout/hList1"/>
    <dgm:cxn modelId="{EF929DCC-7AC3-B044-986E-39D4717AD010}" type="presParOf" srcId="{2BA24FE2-594F-DD4F-926C-BE14B474D136}" destId="{FFA5A82A-5B7E-B141-937E-ED5725D81E64}" srcOrd="1" destOrd="0" presId="urn:microsoft.com/office/officeart/2005/8/layout/hList1"/>
    <dgm:cxn modelId="{C252132A-6262-524F-BCB4-9C5BA87E8DB0}" type="presParOf" srcId="{2BA24FE2-594F-DD4F-926C-BE14B474D136}" destId="{DFB13F5F-3546-B546-B158-0843BC20DAB7}" srcOrd="2" destOrd="0" presId="urn:microsoft.com/office/officeart/2005/8/layout/hList1"/>
    <dgm:cxn modelId="{77C5C9D5-82DD-AB45-B572-A1C20D28FE59}" type="presParOf" srcId="{DFB13F5F-3546-B546-B158-0843BC20DAB7}" destId="{29556DE1-A7A6-2D48-B842-C471B124DA36}" srcOrd="0" destOrd="0" presId="urn:microsoft.com/office/officeart/2005/8/layout/hList1"/>
    <dgm:cxn modelId="{58124EA1-16B3-2848-8E9E-DD32C3F0BDF1}" type="presParOf" srcId="{DFB13F5F-3546-B546-B158-0843BC20DAB7}" destId="{84564F11-C176-F343-A74E-CFE0EC991455}" srcOrd="1" destOrd="0" presId="urn:microsoft.com/office/officeart/2005/8/layout/hList1"/>
    <dgm:cxn modelId="{9FD32895-1A23-7044-8C3D-6202A15B1DCC}" type="presParOf" srcId="{2BA24FE2-594F-DD4F-926C-BE14B474D136}" destId="{BFFAE80A-E2D5-E04E-88A7-ECF6A9C29BF8}" srcOrd="3" destOrd="0" presId="urn:microsoft.com/office/officeart/2005/8/layout/hList1"/>
    <dgm:cxn modelId="{0CDE231D-E12A-DD4B-BEFF-61D083537B7F}" type="presParOf" srcId="{2BA24FE2-594F-DD4F-926C-BE14B474D136}" destId="{6A98C589-344E-2845-9753-BAC8EDB32239}" srcOrd="4" destOrd="0" presId="urn:microsoft.com/office/officeart/2005/8/layout/hList1"/>
    <dgm:cxn modelId="{1C082492-30B3-4D4D-9561-AD2061BAD907}" type="presParOf" srcId="{6A98C589-344E-2845-9753-BAC8EDB32239}" destId="{E51BA973-5132-3A41-8877-38E62FD0EEE1}" srcOrd="0" destOrd="0" presId="urn:microsoft.com/office/officeart/2005/8/layout/hList1"/>
    <dgm:cxn modelId="{BB691562-9EC2-3D4D-81C4-6610908BCEBB}" type="presParOf" srcId="{6A98C589-344E-2845-9753-BAC8EDB32239}" destId="{77E2A5F3-3663-8445-B361-0DA7AD1DF3DC}"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EBEFF0B-60EE-4208-8F5F-133C3813B21D}"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D44D6C70-72D3-4D1C-8F2A-F6F837EEBC1D}">
      <dgm:prSet/>
      <dgm:spPr/>
      <dgm:t>
        <a:bodyPr/>
        <a:lstStyle/>
        <a:p>
          <a:r>
            <a:rPr lang="en-US"/>
            <a:t>Data Gathering</a:t>
          </a:r>
        </a:p>
      </dgm:t>
    </dgm:pt>
    <dgm:pt modelId="{EBFC132D-2866-46AB-9349-60DC6B9E8832}" type="parTrans" cxnId="{E9CCE209-584A-4028-A90C-725B91F8EBCB}">
      <dgm:prSet/>
      <dgm:spPr/>
      <dgm:t>
        <a:bodyPr/>
        <a:lstStyle/>
        <a:p>
          <a:endParaRPr lang="en-US"/>
        </a:p>
      </dgm:t>
    </dgm:pt>
    <dgm:pt modelId="{79148480-1677-4BCA-8E1C-A2F936A7DA46}" type="sibTrans" cxnId="{E9CCE209-584A-4028-A90C-725B91F8EBCB}">
      <dgm:prSet/>
      <dgm:spPr/>
      <dgm:t>
        <a:bodyPr/>
        <a:lstStyle/>
        <a:p>
          <a:endParaRPr lang="en-US"/>
        </a:p>
      </dgm:t>
    </dgm:pt>
    <dgm:pt modelId="{FF1396C0-6A54-4F7A-84C1-569D831F8ED8}">
      <dgm:prSet/>
      <dgm:spPr/>
      <dgm:t>
        <a:bodyPr/>
        <a:lstStyle/>
        <a:p>
          <a:r>
            <a:rPr lang="en-US"/>
            <a:t>Data Analysis</a:t>
          </a:r>
        </a:p>
      </dgm:t>
    </dgm:pt>
    <dgm:pt modelId="{96117AB0-1571-4C59-9545-F141214BA470}" type="parTrans" cxnId="{767E15F6-C8A5-4C9E-9EAD-4D06161CEA72}">
      <dgm:prSet/>
      <dgm:spPr/>
      <dgm:t>
        <a:bodyPr/>
        <a:lstStyle/>
        <a:p>
          <a:endParaRPr lang="en-US"/>
        </a:p>
      </dgm:t>
    </dgm:pt>
    <dgm:pt modelId="{3A7E7678-74C2-4D87-B55A-3D5B7898B7D8}" type="sibTrans" cxnId="{767E15F6-C8A5-4C9E-9EAD-4D06161CEA72}">
      <dgm:prSet/>
      <dgm:spPr/>
      <dgm:t>
        <a:bodyPr/>
        <a:lstStyle/>
        <a:p>
          <a:endParaRPr lang="en-US"/>
        </a:p>
      </dgm:t>
    </dgm:pt>
    <dgm:pt modelId="{4DCA352D-5D16-4EEF-B6BE-3AE44E96CB68}">
      <dgm:prSet/>
      <dgm:spPr/>
      <dgm:t>
        <a:bodyPr/>
        <a:lstStyle/>
        <a:p>
          <a:r>
            <a:rPr lang="en-US"/>
            <a:t>Presenting results</a:t>
          </a:r>
        </a:p>
      </dgm:t>
    </dgm:pt>
    <dgm:pt modelId="{718354D4-FD0F-4416-A919-96368F5BD591}" type="parTrans" cxnId="{5F5E1A17-7DFD-47CA-A390-7255B3733103}">
      <dgm:prSet/>
      <dgm:spPr/>
      <dgm:t>
        <a:bodyPr/>
        <a:lstStyle/>
        <a:p>
          <a:endParaRPr lang="en-US"/>
        </a:p>
      </dgm:t>
    </dgm:pt>
    <dgm:pt modelId="{45B08C5E-BE60-4ACC-9700-ECED0826BE13}" type="sibTrans" cxnId="{5F5E1A17-7DFD-47CA-A390-7255B3733103}">
      <dgm:prSet/>
      <dgm:spPr/>
      <dgm:t>
        <a:bodyPr/>
        <a:lstStyle/>
        <a:p>
          <a:endParaRPr lang="en-US"/>
        </a:p>
      </dgm:t>
    </dgm:pt>
    <dgm:pt modelId="{0AA250D4-DB4E-5447-8310-ABBC37CCD949}" type="pres">
      <dgm:prSet presAssocID="{DEBEFF0B-60EE-4208-8F5F-133C3813B21D}" presName="linear" presStyleCnt="0">
        <dgm:presLayoutVars>
          <dgm:animLvl val="lvl"/>
          <dgm:resizeHandles val="exact"/>
        </dgm:presLayoutVars>
      </dgm:prSet>
      <dgm:spPr/>
    </dgm:pt>
    <dgm:pt modelId="{9CAEF409-3E38-C842-9ED3-EE07223D3EDB}" type="pres">
      <dgm:prSet presAssocID="{D44D6C70-72D3-4D1C-8F2A-F6F837EEBC1D}" presName="parentText" presStyleLbl="node1" presStyleIdx="0" presStyleCnt="3">
        <dgm:presLayoutVars>
          <dgm:chMax val="0"/>
          <dgm:bulletEnabled val="1"/>
        </dgm:presLayoutVars>
      </dgm:prSet>
      <dgm:spPr/>
    </dgm:pt>
    <dgm:pt modelId="{27D078BD-D4DF-454F-B96D-38CFB9714BC1}" type="pres">
      <dgm:prSet presAssocID="{79148480-1677-4BCA-8E1C-A2F936A7DA46}" presName="spacer" presStyleCnt="0"/>
      <dgm:spPr/>
    </dgm:pt>
    <dgm:pt modelId="{BA0A9F6B-234D-A042-A9A1-BD99ACEFD30F}" type="pres">
      <dgm:prSet presAssocID="{FF1396C0-6A54-4F7A-84C1-569D831F8ED8}" presName="parentText" presStyleLbl="node1" presStyleIdx="1" presStyleCnt="3">
        <dgm:presLayoutVars>
          <dgm:chMax val="0"/>
          <dgm:bulletEnabled val="1"/>
        </dgm:presLayoutVars>
      </dgm:prSet>
      <dgm:spPr/>
    </dgm:pt>
    <dgm:pt modelId="{48A15FF2-3E59-8C46-9BF0-B1C6031DE9B0}" type="pres">
      <dgm:prSet presAssocID="{3A7E7678-74C2-4D87-B55A-3D5B7898B7D8}" presName="spacer" presStyleCnt="0"/>
      <dgm:spPr/>
    </dgm:pt>
    <dgm:pt modelId="{A46F04C1-3CAB-AC43-8D3F-D045AF9782E4}" type="pres">
      <dgm:prSet presAssocID="{4DCA352D-5D16-4EEF-B6BE-3AE44E96CB68}" presName="parentText" presStyleLbl="node1" presStyleIdx="2" presStyleCnt="3">
        <dgm:presLayoutVars>
          <dgm:chMax val="0"/>
          <dgm:bulletEnabled val="1"/>
        </dgm:presLayoutVars>
      </dgm:prSet>
      <dgm:spPr/>
    </dgm:pt>
  </dgm:ptLst>
  <dgm:cxnLst>
    <dgm:cxn modelId="{B44A4304-5418-1F46-AB40-BA27A3F01E87}" type="presOf" srcId="{FF1396C0-6A54-4F7A-84C1-569D831F8ED8}" destId="{BA0A9F6B-234D-A042-A9A1-BD99ACEFD30F}" srcOrd="0" destOrd="0" presId="urn:microsoft.com/office/officeart/2005/8/layout/vList2"/>
    <dgm:cxn modelId="{E9CCE209-584A-4028-A90C-725B91F8EBCB}" srcId="{DEBEFF0B-60EE-4208-8F5F-133C3813B21D}" destId="{D44D6C70-72D3-4D1C-8F2A-F6F837EEBC1D}" srcOrd="0" destOrd="0" parTransId="{EBFC132D-2866-46AB-9349-60DC6B9E8832}" sibTransId="{79148480-1677-4BCA-8E1C-A2F936A7DA46}"/>
    <dgm:cxn modelId="{5F5E1A17-7DFD-47CA-A390-7255B3733103}" srcId="{DEBEFF0B-60EE-4208-8F5F-133C3813B21D}" destId="{4DCA352D-5D16-4EEF-B6BE-3AE44E96CB68}" srcOrd="2" destOrd="0" parTransId="{718354D4-FD0F-4416-A919-96368F5BD591}" sibTransId="{45B08C5E-BE60-4ACC-9700-ECED0826BE13}"/>
    <dgm:cxn modelId="{AD3B3F38-3079-1B40-A23A-38ECFA9B5B3A}" type="presOf" srcId="{D44D6C70-72D3-4D1C-8F2A-F6F837EEBC1D}" destId="{9CAEF409-3E38-C842-9ED3-EE07223D3EDB}" srcOrd="0" destOrd="0" presId="urn:microsoft.com/office/officeart/2005/8/layout/vList2"/>
    <dgm:cxn modelId="{49C80545-F7C1-8649-BD9D-C5D9A06EE10B}" type="presOf" srcId="{DEBEFF0B-60EE-4208-8F5F-133C3813B21D}" destId="{0AA250D4-DB4E-5447-8310-ABBC37CCD949}" srcOrd="0" destOrd="0" presId="urn:microsoft.com/office/officeart/2005/8/layout/vList2"/>
    <dgm:cxn modelId="{81B2E0F1-73DB-4348-9A9D-90D27873D3EC}" type="presOf" srcId="{4DCA352D-5D16-4EEF-B6BE-3AE44E96CB68}" destId="{A46F04C1-3CAB-AC43-8D3F-D045AF9782E4}" srcOrd="0" destOrd="0" presId="urn:microsoft.com/office/officeart/2005/8/layout/vList2"/>
    <dgm:cxn modelId="{767E15F6-C8A5-4C9E-9EAD-4D06161CEA72}" srcId="{DEBEFF0B-60EE-4208-8F5F-133C3813B21D}" destId="{FF1396C0-6A54-4F7A-84C1-569D831F8ED8}" srcOrd="1" destOrd="0" parTransId="{96117AB0-1571-4C59-9545-F141214BA470}" sibTransId="{3A7E7678-74C2-4D87-B55A-3D5B7898B7D8}"/>
    <dgm:cxn modelId="{B0EB18D6-A0E3-AE41-8BCB-C6DEEA1CB494}" type="presParOf" srcId="{0AA250D4-DB4E-5447-8310-ABBC37CCD949}" destId="{9CAEF409-3E38-C842-9ED3-EE07223D3EDB}" srcOrd="0" destOrd="0" presId="urn:microsoft.com/office/officeart/2005/8/layout/vList2"/>
    <dgm:cxn modelId="{89DF9DCD-74F8-954A-89AA-F2F92B93863E}" type="presParOf" srcId="{0AA250D4-DB4E-5447-8310-ABBC37CCD949}" destId="{27D078BD-D4DF-454F-B96D-38CFB9714BC1}" srcOrd="1" destOrd="0" presId="urn:microsoft.com/office/officeart/2005/8/layout/vList2"/>
    <dgm:cxn modelId="{42B5EB78-7032-9748-9C81-2CB2CE1C8927}" type="presParOf" srcId="{0AA250D4-DB4E-5447-8310-ABBC37CCD949}" destId="{BA0A9F6B-234D-A042-A9A1-BD99ACEFD30F}" srcOrd="2" destOrd="0" presId="urn:microsoft.com/office/officeart/2005/8/layout/vList2"/>
    <dgm:cxn modelId="{2A2B5559-1BAE-3548-A050-98E80246FC1C}" type="presParOf" srcId="{0AA250D4-DB4E-5447-8310-ABBC37CCD949}" destId="{48A15FF2-3E59-8C46-9BF0-B1C6031DE9B0}" srcOrd="3" destOrd="0" presId="urn:microsoft.com/office/officeart/2005/8/layout/vList2"/>
    <dgm:cxn modelId="{0AD147A0-412F-2445-9CFA-8E8513703C91}" type="presParOf" srcId="{0AA250D4-DB4E-5447-8310-ABBC37CCD949}" destId="{A46F04C1-3CAB-AC43-8D3F-D045AF9782E4}"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415B681-72AD-F346-921C-AA61D43685D7}">
      <dsp:nvSpPr>
        <dsp:cNvPr id="0" name=""/>
        <dsp:cNvSpPr/>
      </dsp:nvSpPr>
      <dsp:spPr>
        <a:xfrm>
          <a:off x="3286" y="282654"/>
          <a:ext cx="3203971" cy="892800"/>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0472" tIns="125984" rIns="220472" bIns="125984" numCol="1" spcCol="1270" anchor="ctr" anchorCtr="0">
          <a:noAutofit/>
        </a:bodyPr>
        <a:lstStyle/>
        <a:p>
          <a:pPr marL="0" lvl="0" indent="0" algn="ctr" defTabSz="1377950">
            <a:lnSpc>
              <a:spcPct val="90000"/>
            </a:lnSpc>
            <a:spcBef>
              <a:spcPct val="0"/>
            </a:spcBef>
            <a:spcAft>
              <a:spcPct val="35000"/>
            </a:spcAft>
            <a:buNone/>
          </a:pPr>
          <a:r>
            <a:rPr lang="en-US" sz="3100" kern="1200" dirty="0"/>
            <a:t>You</a:t>
          </a:r>
        </a:p>
      </dsp:txBody>
      <dsp:txXfrm>
        <a:off x="3286" y="282654"/>
        <a:ext cx="3203971" cy="892800"/>
      </dsp:txXfrm>
    </dsp:sp>
    <dsp:sp modelId="{1A53CE11-8449-AD49-8F69-E2A0C71668FE}">
      <dsp:nvSpPr>
        <dsp:cNvPr id="0" name=""/>
        <dsp:cNvSpPr/>
      </dsp:nvSpPr>
      <dsp:spPr>
        <a:xfrm>
          <a:off x="3286" y="1175454"/>
          <a:ext cx="3203971" cy="2893230"/>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65354" tIns="165354" rIns="220472" bIns="248031" numCol="1" spcCol="1270" anchor="t" anchorCtr="0">
          <a:noAutofit/>
        </a:bodyPr>
        <a:lstStyle/>
        <a:p>
          <a:pPr marL="285750" lvl="1" indent="-285750" algn="l" defTabSz="1377950">
            <a:lnSpc>
              <a:spcPct val="90000"/>
            </a:lnSpc>
            <a:spcBef>
              <a:spcPct val="0"/>
            </a:spcBef>
            <a:spcAft>
              <a:spcPct val="15000"/>
            </a:spcAft>
            <a:buChar char="•"/>
          </a:pPr>
          <a:r>
            <a:rPr lang="en-US" sz="3100" kern="1200" dirty="0"/>
            <a:t>Memory</a:t>
          </a:r>
        </a:p>
        <a:p>
          <a:pPr marL="285750" lvl="1" indent="-285750" algn="l" defTabSz="1377950">
            <a:lnSpc>
              <a:spcPct val="90000"/>
            </a:lnSpc>
            <a:spcBef>
              <a:spcPct val="0"/>
            </a:spcBef>
            <a:spcAft>
              <a:spcPct val="15000"/>
            </a:spcAft>
            <a:buChar char="•"/>
          </a:pPr>
          <a:r>
            <a:rPr lang="en-US" sz="3100" kern="1200" dirty="0"/>
            <a:t>Modification</a:t>
          </a:r>
        </a:p>
        <a:p>
          <a:pPr marL="285750" lvl="1" indent="-285750" algn="l" defTabSz="1377950">
            <a:lnSpc>
              <a:spcPct val="90000"/>
            </a:lnSpc>
            <a:spcBef>
              <a:spcPct val="0"/>
            </a:spcBef>
            <a:spcAft>
              <a:spcPct val="15000"/>
            </a:spcAft>
            <a:buChar char="•"/>
          </a:pPr>
          <a:r>
            <a:rPr lang="en-US" sz="3100" kern="1200" dirty="0"/>
            <a:t>Reconfiguration</a:t>
          </a:r>
        </a:p>
        <a:p>
          <a:pPr marL="285750" lvl="1" indent="-285750" algn="l" defTabSz="1377950">
            <a:lnSpc>
              <a:spcPct val="90000"/>
            </a:lnSpc>
            <a:spcBef>
              <a:spcPct val="0"/>
            </a:spcBef>
            <a:spcAft>
              <a:spcPct val="15000"/>
            </a:spcAft>
            <a:buChar char="•"/>
          </a:pPr>
          <a:r>
            <a:rPr lang="en-US" sz="3100" kern="1200" dirty="0"/>
            <a:t>Verification</a:t>
          </a:r>
        </a:p>
        <a:p>
          <a:pPr marL="285750" lvl="1" indent="-285750" algn="l" defTabSz="1377950">
            <a:lnSpc>
              <a:spcPct val="90000"/>
            </a:lnSpc>
            <a:spcBef>
              <a:spcPct val="0"/>
            </a:spcBef>
            <a:spcAft>
              <a:spcPct val="15000"/>
            </a:spcAft>
            <a:buChar char="•"/>
          </a:pPr>
          <a:r>
            <a:rPr lang="en-US" sz="3100" kern="1200" dirty="0"/>
            <a:t>Citation</a:t>
          </a:r>
        </a:p>
      </dsp:txBody>
      <dsp:txXfrm>
        <a:off x="3286" y="1175454"/>
        <a:ext cx="3203971" cy="2893230"/>
      </dsp:txXfrm>
    </dsp:sp>
    <dsp:sp modelId="{29556DE1-A7A6-2D48-B842-C471B124DA36}">
      <dsp:nvSpPr>
        <dsp:cNvPr id="0" name=""/>
        <dsp:cNvSpPr/>
      </dsp:nvSpPr>
      <dsp:spPr>
        <a:xfrm>
          <a:off x="3655814" y="282654"/>
          <a:ext cx="3203971" cy="892800"/>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0472" tIns="125984" rIns="220472" bIns="125984" numCol="1" spcCol="1270" anchor="ctr" anchorCtr="0">
          <a:noAutofit/>
        </a:bodyPr>
        <a:lstStyle/>
        <a:p>
          <a:pPr marL="0" lvl="0" indent="0" algn="ctr" defTabSz="1377950">
            <a:lnSpc>
              <a:spcPct val="90000"/>
            </a:lnSpc>
            <a:spcBef>
              <a:spcPct val="0"/>
            </a:spcBef>
            <a:spcAft>
              <a:spcPct val="35000"/>
            </a:spcAft>
            <a:buNone/>
          </a:pPr>
          <a:r>
            <a:rPr lang="en-US" sz="3100" kern="1200" dirty="0"/>
            <a:t>Science</a:t>
          </a:r>
        </a:p>
      </dsp:txBody>
      <dsp:txXfrm>
        <a:off x="3655814" y="282654"/>
        <a:ext cx="3203971" cy="892800"/>
      </dsp:txXfrm>
    </dsp:sp>
    <dsp:sp modelId="{84564F11-C176-F343-A74E-CFE0EC991455}">
      <dsp:nvSpPr>
        <dsp:cNvPr id="0" name=""/>
        <dsp:cNvSpPr/>
      </dsp:nvSpPr>
      <dsp:spPr>
        <a:xfrm>
          <a:off x="3655814" y="1175454"/>
          <a:ext cx="3203971" cy="2893230"/>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65354" tIns="165354" rIns="220472" bIns="248031" numCol="1" spcCol="1270" anchor="t" anchorCtr="0">
          <a:noAutofit/>
        </a:bodyPr>
        <a:lstStyle/>
        <a:p>
          <a:pPr marL="285750" lvl="1" indent="-285750" algn="l" defTabSz="1377950">
            <a:lnSpc>
              <a:spcPct val="90000"/>
            </a:lnSpc>
            <a:spcBef>
              <a:spcPct val="0"/>
            </a:spcBef>
            <a:spcAft>
              <a:spcPct val="15000"/>
            </a:spcAft>
            <a:buChar char="•"/>
          </a:pPr>
          <a:r>
            <a:rPr lang="en-US" sz="3100" kern="1200" dirty="0"/>
            <a:t>Build on your work</a:t>
          </a:r>
        </a:p>
        <a:p>
          <a:pPr marL="285750" lvl="1" indent="-285750" algn="l" defTabSz="1377950">
            <a:lnSpc>
              <a:spcPct val="90000"/>
            </a:lnSpc>
            <a:spcBef>
              <a:spcPct val="0"/>
            </a:spcBef>
            <a:spcAft>
              <a:spcPct val="15000"/>
            </a:spcAft>
            <a:buChar char="•"/>
          </a:pPr>
          <a:r>
            <a:rPr lang="en-US" sz="3100" kern="1200" dirty="0"/>
            <a:t>Easy follow-up</a:t>
          </a:r>
        </a:p>
        <a:p>
          <a:pPr marL="285750" lvl="1" indent="-285750" algn="l" defTabSz="1377950">
            <a:lnSpc>
              <a:spcPct val="90000"/>
            </a:lnSpc>
            <a:spcBef>
              <a:spcPct val="0"/>
            </a:spcBef>
            <a:spcAft>
              <a:spcPct val="15000"/>
            </a:spcAft>
            <a:buChar char="•"/>
          </a:pPr>
          <a:r>
            <a:rPr lang="en-US" sz="3100" kern="1200" dirty="0"/>
            <a:t>Increased consistency</a:t>
          </a:r>
        </a:p>
      </dsp:txBody>
      <dsp:txXfrm>
        <a:off x="3655814" y="1175454"/>
        <a:ext cx="3203971" cy="2893230"/>
      </dsp:txXfrm>
    </dsp:sp>
    <dsp:sp modelId="{E51BA973-5132-3A41-8877-38E62FD0EEE1}">
      <dsp:nvSpPr>
        <dsp:cNvPr id="0" name=""/>
        <dsp:cNvSpPr/>
      </dsp:nvSpPr>
      <dsp:spPr>
        <a:xfrm>
          <a:off x="7308342" y="282654"/>
          <a:ext cx="3203971" cy="892800"/>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0472" tIns="125984" rIns="220472" bIns="125984" numCol="1" spcCol="1270" anchor="ctr" anchorCtr="0">
          <a:noAutofit/>
        </a:bodyPr>
        <a:lstStyle/>
        <a:p>
          <a:pPr marL="0" lvl="0" indent="0" algn="ctr" defTabSz="1377950">
            <a:lnSpc>
              <a:spcPct val="90000"/>
            </a:lnSpc>
            <a:spcBef>
              <a:spcPct val="0"/>
            </a:spcBef>
            <a:spcAft>
              <a:spcPct val="35000"/>
            </a:spcAft>
            <a:buNone/>
          </a:pPr>
          <a:r>
            <a:rPr lang="en-US" sz="3100" kern="1200" dirty="0"/>
            <a:t>Consumers</a:t>
          </a:r>
        </a:p>
      </dsp:txBody>
      <dsp:txXfrm>
        <a:off x="7308342" y="282654"/>
        <a:ext cx="3203971" cy="892800"/>
      </dsp:txXfrm>
    </dsp:sp>
    <dsp:sp modelId="{77E2A5F3-3663-8445-B361-0DA7AD1DF3DC}">
      <dsp:nvSpPr>
        <dsp:cNvPr id="0" name=""/>
        <dsp:cNvSpPr/>
      </dsp:nvSpPr>
      <dsp:spPr>
        <a:xfrm>
          <a:off x="7308342" y="1175454"/>
          <a:ext cx="3203971" cy="2893230"/>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65354" tIns="165354" rIns="220472" bIns="248031" numCol="1" spcCol="1270" anchor="t" anchorCtr="0">
          <a:noAutofit/>
        </a:bodyPr>
        <a:lstStyle/>
        <a:p>
          <a:pPr marL="285750" lvl="1" indent="-285750" algn="l" defTabSz="1377950">
            <a:lnSpc>
              <a:spcPct val="90000"/>
            </a:lnSpc>
            <a:spcBef>
              <a:spcPct val="0"/>
            </a:spcBef>
            <a:spcAft>
              <a:spcPct val="15000"/>
            </a:spcAft>
            <a:buChar char="•"/>
          </a:pPr>
          <a:r>
            <a:rPr lang="en-US" sz="3100" kern="1200" dirty="0"/>
            <a:t>Learn from your work</a:t>
          </a:r>
        </a:p>
        <a:p>
          <a:pPr marL="285750" lvl="1" indent="-285750" algn="l" defTabSz="1377950">
            <a:lnSpc>
              <a:spcPct val="90000"/>
            </a:lnSpc>
            <a:spcBef>
              <a:spcPct val="0"/>
            </a:spcBef>
            <a:spcAft>
              <a:spcPct val="15000"/>
            </a:spcAft>
            <a:buChar char="•"/>
          </a:pPr>
          <a:r>
            <a:rPr lang="en-US" sz="3100" kern="1200" dirty="0"/>
            <a:t>Builds trust</a:t>
          </a:r>
        </a:p>
        <a:p>
          <a:pPr marL="285750" lvl="1" indent="-285750" algn="l" defTabSz="1377950">
            <a:lnSpc>
              <a:spcPct val="90000"/>
            </a:lnSpc>
            <a:spcBef>
              <a:spcPct val="0"/>
            </a:spcBef>
            <a:spcAft>
              <a:spcPct val="15000"/>
            </a:spcAft>
            <a:buChar char="•"/>
          </a:pPr>
          <a:r>
            <a:rPr lang="en-US" sz="3100" kern="1200" dirty="0"/>
            <a:t>Consistency of results</a:t>
          </a:r>
        </a:p>
      </dsp:txBody>
      <dsp:txXfrm>
        <a:off x="7308342" y="1175454"/>
        <a:ext cx="3203971" cy="289323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CAEF409-3E38-C842-9ED3-EE07223D3EDB}">
      <dsp:nvSpPr>
        <dsp:cNvPr id="0" name=""/>
        <dsp:cNvSpPr/>
      </dsp:nvSpPr>
      <dsp:spPr>
        <a:xfrm>
          <a:off x="0" y="38506"/>
          <a:ext cx="10515600" cy="131917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9550" tIns="209550" rIns="209550" bIns="209550" numCol="1" spcCol="1270" anchor="ctr" anchorCtr="0">
          <a:noAutofit/>
        </a:bodyPr>
        <a:lstStyle/>
        <a:p>
          <a:pPr marL="0" lvl="0" indent="0" algn="l" defTabSz="2444750">
            <a:lnSpc>
              <a:spcPct val="90000"/>
            </a:lnSpc>
            <a:spcBef>
              <a:spcPct val="0"/>
            </a:spcBef>
            <a:spcAft>
              <a:spcPct val="35000"/>
            </a:spcAft>
            <a:buNone/>
          </a:pPr>
          <a:r>
            <a:rPr lang="en-US" sz="5500" kern="1200"/>
            <a:t>Data Gathering</a:t>
          </a:r>
        </a:p>
      </dsp:txBody>
      <dsp:txXfrm>
        <a:off x="64397" y="102903"/>
        <a:ext cx="10386806" cy="1190381"/>
      </dsp:txXfrm>
    </dsp:sp>
    <dsp:sp modelId="{BA0A9F6B-234D-A042-A9A1-BD99ACEFD30F}">
      <dsp:nvSpPr>
        <dsp:cNvPr id="0" name=""/>
        <dsp:cNvSpPr/>
      </dsp:nvSpPr>
      <dsp:spPr>
        <a:xfrm>
          <a:off x="0" y="1516081"/>
          <a:ext cx="10515600" cy="131917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9550" tIns="209550" rIns="209550" bIns="209550" numCol="1" spcCol="1270" anchor="ctr" anchorCtr="0">
          <a:noAutofit/>
        </a:bodyPr>
        <a:lstStyle/>
        <a:p>
          <a:pPr marL="0" lvl="0" indent="0" algn="l" defTabSz="2444750">
            <a:lnSpc>
              <a:spcPct val="90000"/>
            </a:lnSpc>
            <a:spcBef>
              <a:spcPct val="0"/>
            </a:spcBef>
            <a:spcAft>
              <a:spcPct val="35000"/>
            </a:spcAft>
            <a:buNone/>
          </a:pPr>
          <a:r>
            <a:rPr lang="en-US" sz="5500" kern="1200"/>
            <a:t>Data Analysis</a:t>
          </a:r>
        </a:p>
      </dsp:txBody>
      <dsp:txXfrm>
        <a:off x="64397" y="1580478"/>
        <a:ext cx="10386806" cy="1190381"/>
      </dsp:txXfrm>
    </dsp:sp>
    <dsp:sp modelId="{A46F04C1-3CAB-AC43-8D3F-D045AF9782E4}">
      <dsp:nvSpPr>
        <dsp:cNvPr id="0" name=""/>
        <dsp:cNvSpPr/>
      </dsp:nvSpPr>
      <dsp:spPr>
        <a:xfrm>
          <a:off x="0" y="2993656"/>
          <a:ext cx="10515600" cy="131917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9550" tIns="209550" rIns="209550" bIns="209550" numCol="1" spcCol="1270" anchor="ctr" anchorCtr="0">
          <a:noAutofit/>
        </a:bodyPr>
        <a:lstStyle/>
        <a:p>
          <a:pPr marL="0" lvl="0" indent="0" algn="l" defTabSz="2444750">
            <a:lnSpc>
              <a:spcPct val="90000"/>
            </a:lnSpc>
            <a:spcBef>
              <a:spcPct val="0"/>
            </a:spcBef>
            <a:spcAft>
              <a:spcPct val="35000"/>
            </a:spcAft>
            <a:buNone/>
          </a:pPr>
          <a:r>
            <a:rPr lang="en-US" sz="5500" kern="1200"/>
            <a:t>Presenting results</a:t>
          </a:r>
        </a:p>
      </dsp:txBody>
      <dsp:txXfrm>
        <a:off x="64397" y="3058053"/>
        <a:ext cx="10386806" cy="1190381"/>
      </dsp:txXfrm>
    </dsp:sp>
  </dsp:spTree>
</dsp:drawing>
</file>

<file path=ppt/diagrams/layout1.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22633F6-4A0A-44D9-AC09-9A68D7C2CFBA}" type="datetimeFigureOut">
              <a:rPr lang="en-US" smtClean="0"/>
              <a:t>6/5/26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B9AAC80-EE02-47E4-A9C3-876D23B25953}" type="slidenum">
              <a:rPr lang="en-US" smtClean="0"/>
              <a:t>‹#›</a:t>
            </a:fld>
            <a:endParaRPr lang="en-US"/>
          </a:p>
        </p:txBody>
      </p:sp>
    </p:spTree>
    <p:extLst>
      <p:ext uri="{BB962C8B-B14F-4D97-AF65-F5344CB8AC3E}">
        <p14:creationId xmlns:p14="http://schemas.microsoft.com/office/powerpoint/2010/main" val="39472220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PlaceHolder 1"/>
          <p:cNvSpPr>
            <a:spLocks noGrp="1" noRot="1" noChangeAspect="1"/>
          </p:cNvSpPr>
          <p:nvPr>
            <p:ph type="sldImg"/>
          </p:nvPr>
        </p:nvSpPr>
        <p:spPr>
          <a:xfrm>
            <a:off x="823913" y="1006475"/>
            <a:ext cx="6124575" cy="3446463"/>
          </a:xfrm>
          <a:prstGeom prst="rect">
            <a:avLst/>
          </a:prstGeom>
        </p:spPr>
      </p:sp>
      <p:sp>
        <p:nvSpPr>
          <p:cNvPr id="49" name="PlaceHolder 2"/>
          <p:cNvSpPr>
            <a:spLocks noGrp="1"/>
          </p:cNvSpPr>
          <p:nvPr>
            <p:ph type="body"/>
          </p:nvPr>
        </p:nvSpPr>
        <p:spPr>
          <a:xfrm>
            <a:off x="1185120" y="4787640"/>
            <a:ext cx="5407560" cy="5950080"/>
          </a:xfrm>
          <a:prstGeom prst="rect">
            <a:avLst/>
          </a:prstGeom>
        </p:spPr>
        <p:txBody>
          <a:bodyPr lIns="0" tIns="0" rIns="0" bIns="0"/>
          <a:lstStyle/>
          <a:p>
            <a:r>
              <a:rPr lang="en-US" sz="2000" b="0" strike="noStrike" spc="-1" dirty="0">
                <a:latin typeface="Arial"/>
              </a:rPr>
              <a:t>A 10‐point checklist to guide researchers toward greater reproducibility in their research. Researchers should give careful thought before, during, and after analysis to ensure reproducibility of their work.</a:t>
            </a:r>
          </a:p>
          <a:p>
            <a:r>
              <a:rPr lang="en-US" sz="2000" b="0" strike="noStrike" spc="-1" dirty="0">
                <a:latin typeface="Arial"/>
              </a:rPr>
              <a:t>IF THIS IMAGE HAS BEEN PROVIDED BY OR IS OWNED BY A THIRD PARTY, AS INDICATED IN THE CAPTION LINE, THEN FURTHER PERMISSION MAY BE NEEDED BEFORE ANY FURTHER USE. PLEASE CONTACT WILEY'S PERMISSIONS DEPARTMENT ON PERMISSIONS@WILEY.COM OR USE THE RIGHTSLINK SERVICE BY CLICKING ON THE 'REQUEST PERMISSIONS' LINK ACCOMPANYING THIS ARTICLE. WILEY OR AUTHOR OWNED IMAGES MAY BE USED FOR NON-COMMERCIAL PURPOSES, SUBJECT TO PROPER CITATION OF THE ARTICLE, AUTHOR, AND PUBLISHER. </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766AD4-AF7A-0D8D-A16B-596E23FB567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3AD111C-5F85-5E44-B8A3-6DB336D9FF2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AB639AC-5979-DEAA-E03A-BF9A16B2B586}"/>
              </a:ext>
            </a:extLst>
          </p:cNvPr>
          <p:cNvSpPr>
            <a:spLocks noGrp="1"/>
          </p:cNvSpPr>
          <p:nvPr>
            <p:ph type="dt" sz="half" idx="10"/>
          </p:nvPr>
        </p:nvSpPr>
        <p:spPr/>
        <p:txBody>
          <a:bodyPr/>
          <a:lstStyle/>
          <a:p>
            <a:fld id="{20D6E051-96AE-49E8-97FE-2A788E7595F9}" type="datetimeFigureOut">
              <a:rPr lang="en-US" smtClean="0"/>
              <a:t>6/5/26</a:t>
            </a:fld>
            <a:endParaRPr lang="en-US"/>
          </a:p>
        </p:txBody>
      </p:sp>
      <p:sp>
        <p:nvSpPr>
          <p:cNvPr id="5" name="Footer Placeholder 4">
            <a:extLst>
              <a:ext uri="{FF2B5EF4-FFF2-40B4-BE49-F238E27FC236}">
                <a16:creationId xmlns:a16="http://schemas.microsoft.com/office/drawing/2014/main" id="{9208BC3A-97D7-3882-7616-0B390B43015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4C8F822-EC7C-FC55-CD34-0E441B3A2F42}"/>
              </a:ext>
            </a:extLst>
          </p:cNvPr>
          <p:cNvSpPr>
            <a:spLocks noGrp="1"/>
          </p:cNvSpPr>
          <p:nvPr>
            <p:ph type="sldNum" sz="quarter" idx="12"/>
          </p:nvPr>
        </p:nvSpPr>
        <p:spPr/>
        <p:txBody>
          <a:bodyPr/>
          <a:lstStyle/>
          <a:p>
            <a:fld id="{7ACA5435-6333-47B3-863D-D49C87EBF0F3}" type="slidenum">
              <a:rPr lang="en-US" smtClean="0"/>
              <a:t>‹#›</a:t>
            </a:fld>
            <a:endParaRPr lang="en-US"/>
          </a:p>
        </p:txBody>
      </p:sp>
    </p:spTree>
    <p:extLst>
      <p:ext uri="{BB962C8B-B14F-4D97-AF65-F5344CB8AC3E}">
        <p14:creationId xmlns:p14="http://schemas.microsoft.com/office/powerpoint/2010/main" val="22895783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834A44-24C0-C5EF-2DF3-DB0ACB93CBB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1D466E9-FB5C-36A1-8E8D-0C0E5341979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0CAE36F-EA03-84AB-9DB4-DC7F2B377F59}"/>
              </a:ext>
            </a:extLst>
          </p:cNvPr>
          <p:cNvSpPr>
            <a:spLocks noGrp="1"/>
          </p:cNvSpPr>
          <p:nvPr>
            <p:ph type="dt" sz="half" idx="10"/>
          </p:nvPr>
        </p:nvSpPr>
        <p:spPr/>
        <p:txBody>
          <a:bodyPr/>
          <a:lstStyle/>
          <a:p>
            <a:fld id="{20D6E051-96AE-49E8-97FE-2A788E7595F9}" type="datetimeFigureOut">
              <a:rPr lang="en-US" smtClean="0"/>
              <a:t>6/5/26</a:t>
            </a:fld>
            <a:endParaRPr lang="en-US"/>
          </a:p>
        </p:txBody>
      </p:sp>
      <p:sp>
        <p:nvSpPr>
          <p:cNvPr id="5" name="Footer Placeholder 4">
            <a:extLst>
              <a:ext uri="{FF2B5EF4-FFF2-40B4-BE49-F238E27FC236}">
                <a16:creationId xmlns:a16="http://schemas.microsoft.com/office/drawing/2014/main" id="{D8CB0AFC-E3FD-BEA8-0AC8-4C0CFE0F6A2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2C2C235-56E4-2AFF-124C-7AF918CEF6EC}"/>
              </a:ext>
            </a:extLst>
          </p:cNvPr>
          <p:cNvSpPr>
            <a:spLocks noGrp="1"/>
          </p:cNvSpPr>
          <p:nvPr>
            <p:ph type="sldNum" sz="quarter" idx="12"/>
          </p:nvPr>
        </p:nvSpPr>
        <p:spPr/>
        <p:txBody>
          <a:bodyPr/>
          <a:lstStyle/>
          <a:p>
            <a:fld id="{7ACA5435-6333-47B3-863D-D49C87EBF0F3}" type="slidenum">
              <a:rPr lang="en-US" smtClean="0"/>
              <a:t>‹#›</a:t>
            </a:fld>
            <a:endParaRPr lang="en-US"/>
          </a:p>
        </p:txBody>
      </p:sp>
    </p:spTree>
    <p:extLst>
      <p:ext uri="{BB962C8B-B14F-4D97-AF65-F5344CB8AC3E}">
        <p14:creationId xmlns:p14="http://schemas.microsoft.com/office/powerpoint/2010/main" val="24924998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77D2BC-34CE-60C9-169F-3541D87498A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B1ADF78-B0DC-D27B-A122-AD159BCB49B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8999656-51C9-A197-4AE0-BD2214177629}"/>
              </a:ext>
            </a:extLst>
          </p:cNvPr>
          <p:cNvSpPr>
            <a:spLocks noGrp="1"/>
          </p:cNvSpPr>
          <p:nvPr>
            <p:ph type="dt" sz="half" idx="10"/>
          </p:nvPr>
        </p:nvSpPr>
        <p:spPr/>
        <p:txBody>
          <a:bodyPr/>
          <a:lstStyle/>
          <a:p>
            <a:fld id="{20D6E051-96AE-49E8-97FE-2A788E7595F9}" type="datetimeFigureOut">
              <a:rPr lang="en-US" smtClean="0"/>
              <a:t>6/5/26</a:t>
            </a:fld>
            <a:endParaRPr lang="en-US"/>
          </a:p>
        </p:txBody>
      </p:sp>
      <p:sp>
        <p:nvSpPr>
          <p:cNvPr id="5" name="Footer Placeholder 4">
            <a:extLst>
              <a:ext uri="{FF2B5EF4-FFF2-40B4-BE49-F238E27FC236}">
                <a16:creationId xmlns:a16="http://schemas.microsoft.com/office/drawing/2014/main" id="{E85A9F27-A9CD-094F-0745-544C0EE0887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9BFEC14-4574-4149-E62A-AF9BA40F2224}"/>
              </a:ext>
            </a:extLst>
          </p:cNvPr>
          <p:cNvSpPr>
            <a:spLocks noGrp="1"/>
          </p:cNvSpPr>
          <p:nvPr>
            <p:ph type="sldNum" sz="quarter" idx="12"/>
          </p:nvPr>
        </p:nvSpPr>
        <p:spPr/>
        <p:txBody>
          <a:bodyPr/>
          <a:lstStyle/>
          <a:p>
            <a:fld id="{7ACA5435-6333-47B3-863D-D49C87EBF0F3}" type="slidenum">
              <a:rPr lang="en-US" smtClean="0"/>
              <a:t>‹#›</a:t>
            </a:fld>
            <a:endParaRPr lang="en-US"/>
          </a:p>
        </p:txBody>
      </p:sp>
    </p:spTree>
    <p:extLst>
      <p:ext uri="{BB962C8B-B14F-4D97-AF65-F5344CB8AC3E}">
        <p14:creationId xmlns:p14="http://schemas.microsoft.com/office/powerpoint/2010/main" val="411245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FC0952-B28C-2CDD-5FF3-FEBD66577DA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5A3852C-A94A-44F1-E60D-9A6DBED0558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DEB4D5F-78E6-E028-7018-42C6B56BCDD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FFDC21B-9215-9537-DDCA-B66AD5F4120D}"/>
              </a:ext>
            </a:extLst>
          </p:cNvPr>
          <p:cNvSpPr>
            <a:spLocks noGrp="1"/>
          </p:cNvSpPr>
          <p:nvPr>
            <p:ph type="dt" sz="half" idx="10"/>
          </p:nvPr>
        </p:nvSpPr>
        <p:spPr/>
        <p:txBody>
          <a:bodyPr/>
          <a:lstStyle/>
          <a:p>
            <a:fld id="{20D6E051-96AE-49E8-97FE-2A788E7595F9}" type="datetimeFigureOut">
              <a:rPr lang="en-US" smtClean="0"/>
              <a:t>6/5/26</a:t>
            </a:fld>
            <a:endParaRPr lang="en-US"/>
          </a:p>
        </p:txBody>
      </p:sp>
      <p:sp>
        <p:nvSpPr>
          <p:cNvPr id="6" name="Footer Placeholder 5">
            <a:extLst>
              <a:ext uri="{FF2B5EF4-FFF2-40B4-BE49-F238E27FC236}">
                <a16:creationId xmlns:a16="http://schemas.microsoft.com/office/drawing/2014/main" id="{5ED002C8-F3CE-B2E9-D341-222A253C6E4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FE4683E-98BC-D72D-59D5-07971EFC1BCB}"/>
              </a:ext>
            </a:extLst>
          </p:cNvPr>
          <p:cNvSpPr>
            <a:spLocks noGrp="1"/>
          </p:cNvSpPr>
          <p:nvPr>
            <p:ph type="sldNum" sz="quarter" idx="12"/>
          </p:nvPr>
        </p:nvSpPr>
        <p:spPr/>
        <p:txBody>
          <a:bodyPr/>
          <a:lstStyle/>
          <a:p>
            <a:fld id="{7ACA5435-6333-47B3-863D-D49C87EBF0F3}" type="slidenum">
              <a:rPr lang="en-US" smtClean="0"/>
              <a:t>‹#›</a:t>
            </a:fld>
            <a:endParaRPr lang="en-US"/>
          </a:p>
        </p:txBody>
      </p:sp>
    </p:spTree>
    <p:extLst>
      <p:ext uri="{BB962C8B-B14F-4D97-AF65-F5344CB8AC3E}">
        <p14:creationId xmlns:p14="http://schemas.microsoft.com/office/powerpoint/2010/main" val="37083207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C7D74C-1DBC-2B8D-BD86-AC1983DB8FC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60CF6FF-0F28-393B-EAB0-8E0A83176F9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588C982-F0D7-D6CE-7605-6D66694E585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9319831-A4D8-1B65-485B-EB343E9D3CF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0C0C818-87C7-DC76-796F-D80EC4C02EA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C65C156-A3D1-9B37-946C-BDBD0B537661}"/>
              </a:ext>
            </a:extLst>
          </p:cNvPr>
          <p:cNvSpPr>
            <a:spLocks noGrp="1"/>
          </p:cNvSpPr>
          <p:nvPr>
            <p:ph type="dt" sz="half" idx="10"/>
          </p:nvPr>
        </p:nvSpPr>
        <p:spPr/>
        <p:txBody>
          <a:bodyPr/>
          <a:lstStyle/>
          <a:p>
            <a:fld id="{20D6E051-96AE-49E8-97FE-2A788E7595F9}" type="datetimeFigureOut">
              <a:rPr lang="en-US" smtClean="0"/>
              <a:t>6/5/26</a:t>
            </a:fld>
            <a:endParaRPr lang="en-US"/>
          </a:p>
        </p:txBody>
      </p:sp>
      <p:sp>
        <p:nvSpPr>
          <p:cNvPr id="8" name="Footer Placeholder 7">
            <a:extLst>
              <a:ext uri="{FF2B5EF4-FFF2-40B4-BE49-F238E27FC236}">
                <a16:creationId xmlns:a16="http://schemas.microsoft.com/office/drawing/2014/main" id="{8FBDE413-EFE6-9FF6-036A-14DCBEB61DC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988E6A2-E4AB-5AC8-2073-D068CE39C7C5}"/>
              </a:ext>
            </a:extLst>
          </p:cNvPr>
          <p:cNvSpPr>
            <a:spLocks noGrp="1"/>
          </p:cNvSpPr>
          <p:nvPr>
            <p:ph type="sldNum" sz="quarter" idx="12"/>
          </p:nvPr>
        </p:nvSpPr>
        <p:spPr/>
        <p:txBody>
          <a:bodyPr/>
          <a:lstStyle/>
          <a:p>
            <a:fld id="{7ACA5435-6333-47B3-863D-D49C87EBF0F3}" type="slidenum">
              <a:rPr lang="en-US" smtClean="0"/>
              <a:t>‹#›</a:t>
            </a:fld>
            <a:endParaRPr lang="en-US"/>
          </a:p>
        </p:txBody>
      </p:sp>
    </p:spTree>
    <p:extLst>
      <p:ext uri="{BB962C8B-B14F-4D97-AF65-F5344CB8AC3E}">
        <p14:creationId xmlns:p14="http://schemas.microsoft.com/office/powerpoint/2010/main" val="30549765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C5EC11-6DFE-07AE-CFFB-68AA6684D2D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EB20418-F4B7-F7DF-48B3-24E1A55E75D0}"/>
              </a:ext>
            </a:extLst>
          </p:cNvPr>
          <p:cNvSpPr>
            <a:spLocks noGrp="1"/>
          </p:cNvSpPr>
          <p:nvPr>
            <p:ph type="dt" sz="half" idx="10"/>
          </p:nvPr>
        </p:nvSpPr>
        <p:spPr/>
        <p:txBody>
          <a:bodyPr/>
          <a:lstStyle/>
          <a:p>
            <a:fld id="{20D6E051-96AE-49E8-97FE-2A788E7595F9}" type="datetimeFigureOut">
              <a:rPr lang="en-US" smtClean="0"/>
              <a:t>6/5/26</a:t>
            </a:fld>
            <a:endParaRPr lang="en-US"/>
          </a:p>
        </p:txBody>
      </p:sp>
      <p:sp>
        <p:nvSpPr>
          <p:cNvPr id="4" name="Footer Placeholder 3">
            <a:extLst>
              <a:ext uri="{FF2B5EF4-FFF2-40B4-BE49-F238E27FC236}">
                <a16:creationId xmlns:a16="http://schemas.microsoft.com/office/drawing/2014/main" id="{E17DA720-AB08-5FE1-4BCD-B0890EAC09A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83F6B21-78BF-7AFE-2A66-D29DD323AB97}"/>
              </a:ext>
            </a:extLst>
          </p:cNvPr>
          <p:cNvSpPr>
            <a:spLocks noGrp="1"/>
          </p:cNvSpPr>
          <p:nvPr>
            <p:ph type="sldNum" sz="quarter" idx="12"/>
          </p:nvPr>
        </p:nvSpPr>
        <p:spPr/>
        <p:txBody>
          <a:bodyPr/>
          <a:lstStyle/>
          <a:p>
            <a:fld id="{7ACA5435-6333-47B3-863D-D49C87EBF0F3}" type="slidenum">
              <a:rPr lang="en-US" smtClean="0"/>
              <a:t>‹#›</a:t>
            </a:fld>
            <a:endParaRPr lang="en-US"/>
          </a:p>
        </p:txBody>
      </p:sp>
    </p:spTree>
    <p:extLst>
      <p:ext uri="{BB962C8B-B14F-4D97-AF65-F5344CB8AC3E}">
        <p14:creationId xmlns:p14="http://schemas.microsoft.com/office/powerpoint/2010/main" val="25510487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78A106B-9FCB-9AFC-7912-86BB133AEB4D}"/>
              </a:ext>
            </a:extLst>
          </p:cNvPr>
          <p:cNvSpPr>
            <a:spLocks noGrp="1"/>
          </p:cNvSpPr>
          <p:nvPr>
            <p:ph type="dt" sz="half" idx="10"/>
          </p:nvPr>
        </p:nvSpPr>
        <p:spPr/>
        <p:txBody>
          <a:bodyPr/>
          <a:lstStyle/>
          <a:p>
            <a:fld id="{20D6E051-96AE-49E8-97FE-2A788E7595F9}" type="datetimeFigureOut">
              <a:rPr lang="en-US" smtClean="0"/>
              <a:t>6/5/26</a:t>
            </a:fld>
            <a:endParaRPr lang="en-US"/>
          </a:p>
        </p:txBody>
      </p:sp>
      <p:sp>
        <p:nvSpPr>
          <p:cNvPr id="3" name="Footer Placeholder 2">
            <a:extLst>
              <a:ext uri="{FF2B5EF4-FFF2-40B4-BE49-F238E27FC236}">
                <a16:creationId xmlns:a16="http://schemas.microsoft.com/office/drawing/2014/main" id="{EC0C6EF8-8A16-A371-152C-B53F02D2465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D6F9AD6-2712-0865-1459-3B1481726820}"/>
              </a:ext>
            </a:extLst>
          </p:cNvPr>
          <p:cNvSpPr>
            <a:spLocks noGrp="1"/>
          </p:cNvSpPr>
          <p:nvPr>
            <p:ph type="sldNum" sz="quarter" idx="12"/>
          </p:nvPr>
        </p:nvSpPr>
        <p:spPr/>
        <p:txBody>
          <a:bodyPr/>
          <a:lstStyle/>
          <a:p>
            <a:fld id="{7ACA5435-6333-47B3-863D-D49C87EBF0F3}" type="slidenum">
              <a:rPr lang="en-US" smtClean="0"/>
              <a:t>‹#›</a:t>
            </a:fld>
            <a:endParaRPr lang="en-US"/>
          </a:p>
        </p:txBody>
      </p:sp>
    </p:spTree>
    <p:extLst>
      <p:ext uri="{BB962C8B-B14F-4D97-AF65-F5344CB8AC3E}">
        <p14:creationId xmlns:p14="http://schemas.microsoft.com/office/powerpoint/2010/main" val="14936018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BA02EE-ACED-6C49-B223-6CFEC29714D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5E355A2-C04F-1CD0-39AD-E3FD3FC11A6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B2C83FB-EBD0-0863-F91C-1AAB331C3E3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79DC817-D32C-36EE-8B80-A21E5F3CE90D}"/>
              </a:ext>
            </a:extLst>
          </p:cNvPr>
          <p:cNvSpPr>
            <a:spLocks noGrp="1"/>
          </p:cNvSpPr>
          <p:nvPr>
            <p:ph type="dt" sz="half" idx="10"/>
          </p:nvPr>
        </p:nvSpPr>
        <p:spPr/>
        <p:txBody>
          <a:bodyPr/>
          <a:lstStyle/>
          <a:p>
            <a:fld id="{20D6E051-96AE-49E8-97FE-2A788E7595F9}" type="datetimeFigureOut">
              <a:rPr lang="en-US" smtClean="0"/>
              <a:t>6/5/26</a:t>
            </a:fld>
            <a:endParaRPr lang="en-US"/>
          </a:p>
        </p:txBody>
      </p:sp>
      <p:sp>
        <p:nvSpPr>
          <p:cNvPr id="6" name="Footer Placeholder 5">
            <a:extLst>
              <a:ext uri="{FF2B5EF4-FFF2-40B4-BE49-F238E27FC236}">
                <a16:creationId xmlns:a16="http://schemas.microsoft.com/office/drawing/2014/main" id="{7DD50674-DD00-C74E-91E2-98DBA0AC48B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6E64525-9F6C-B605-6868-A46D53B483F0}"/>
              </a:ext>
            </a:extLst>
          </p:cNvPr>
          <p:cNvSpPr>
            <a:spLocks noGrp="1"/>
          </p:cNvSpPr>
          <p:nvPr>
            <p:ph type="sldNum" sz="quarter" idx="12"/>
          </p:nvPr>
        </p:nvSpPr>
        <p:spPr/>
        <p:txBody>
          <a:bodyPr/>
          <a:lstStyle/>
          <a:p>
            <a:fld id="{7ACA5435-6333-47B3-863D-D49C87EBF0F3}" type="slidenum">
              <a:rPr lang="en-US" smtClean="0"/>
              <a:t>‹#›</a:t>
            </a:fld>
            <a:endParaRPr lang="en-US"/>
          </a:p>
        </p:txBody>
      </p:sp>
    </p:spTree>
    <p:extLst>
      <p:ext uri="{BB962C8B-B14F-4D97-AF65-F5344CB8AC3E}">
        <p14:creationId xmlns:p14="http://schemas.microsoft.com/office/powerpoint/2010/main" val="5571554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4F75E0-3CFE-3CA2-3A9A-2A2EAB30C28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F6014FC-C196-3229-9D85-6F7A264B625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8737AE7-3FBF-9D2E-F304-3120654DFCA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D549688-D1A1-AB90-76D9-9AEC1D71D1DB}"/>
              </a:ext>
            </a:extLst>
          </p:cNvPr>
          <p:cNvSpPr>
            <a:spLocks noGrp="1"/>
          </p:cNvSpPr>
          <p:nvPr>
            <p:ph type="dt" sz="half" idx="10"/>
          </p:nvPr>
        </p:nvSpPr>
        <p:spPr/>
        <p:txBody>
          <a:bodyPr/>
          <a:lstStyle/>
          <a:p>
            <a:fld id="{20D6E051-96AE-49E8-97FE-2A788E7595F9}" type="datetimeFigureOut">
              <a:rPr lang="en-US" smtClean="0"/>
              <a:t>6/5/26</a:t>
            </a:fld>
            <a:endParaRPr lang="en-US"/>
          </a:p>
        </p:txBody>
      </p:sp>
      <p:sp>
        <p:nvSpPr>
          <p:cNvPr id="6" name="Footer Placeholder 5">
            <a:extLst>
              <a:ext uri="{FF2B5EF4-FFF2-40B4-BE49-F238E27FC236}">
                <a16:creationId xmlns:a16="http://schemas.microsoft.com/office/drawing/2014/main" id="{6CA12545-D6D2-3F23-E476-85C72C8D27E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070B977-61A2-6139-BFF8-45B954C8ACDB}"/>
              </a:ext>
            </a:extLst>
          </p:cNvPr>
          <p:cNvSpPr>
            <a:spLocks noGrp="1"/>
          </p:cNvSpPr>
          <p:nvPr>
            <p:ph type="sldNum" sz="quarter" idx="12"/>
          </p:nvPr>
        </p:nvSpPr>
        <p:spPr/>
        <p:txBody>
          <a:bodyPr/>
          <a:lstStyle/>
          <a:p>
            <a:fld id="{7ACA5435-6333-47B3-863D-D49C87EBF0F3}" type="slidenum">
              <a:rPr lang="en-US" smtClean="0"/>
              <a:t>‹#›</a:t>
            </a:fld>
            <a:endParaRPr lang="en-US"/>
          </a:p>
        </p:txBody>
      </p:sp>
    </p:spTree>
    <p:extLst>
      <p:ext uri="{BB962C8B-B14F-4D97-AF65-F5344CB8AC3E}">
        <p14:creationId xmlns:p14="http://schemas.microsoft.com/office/powerpoint/2010/main" val="10923702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B23265-8F5B-FA82-E38E-8193B2C47AE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83F2F4B-6F21-7D0E-516D-C869D5FDA6A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B2789C7-F2C4-7E91-16C2-8F0697417993}"/>
              </a:ext>
            </a:extLst>
          </p:cNvPr>
          <p:cNvSpPr>
            <a:spLocks noGrp="1"/>
          </p:cNvSpPr>
          <p:nvPr>
            <p:ph type="dt" sz="half" idx="10"/>
          </p:nvPr>
        </p:nvSpPr>
        <p:spPr/>
        <p:txBody>
          <a:bodyPr/>
          <a:lstStyle/>
          <a:p>
            <a:fld id="{20D6E051-96AE-49E8-97FE-2A788E7595F9}" type="datetimeFigureOut">
              <a:rPr lang="en-US" smtClean="0"/>
              <a:t>6/5/26</a:t>
            </a:fld>
            <a:endParaRPr lang="en-US"/>
          </a:p>
        </p:txBody>
      </p:sp>
      <p:sp>
        <p:nvSpPr>
          <p:cNvPr id="5" name="Footer Placeholder 4">
            <a:extLst>
              <a:ext uri="{FF2B5EF4-FFF2-40B4-BE49-F238E27FC236}">
                <a16:creationId xmlns:a16="http://schemas.microsoft.com/office/drawing/2014/main" id="{889E7AF8-9D41-29C3-0395-905F6CC9207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D9073BE-70C6-D86D-1C45-4BF97FFC5494}"/>
              </a:ext>
            </a:extLst>
          </p:cNvPr>
          <p:cNvSpPr>
            <a:spLocks noGrp="1"/>
          </p:cNvSpPr>
          <p:nvPr>
            <p:ph type="sldNum" sz="quarter" idx="12"/>
          </p:nvPr>
        </p:nvSpPr>
        <p:spPr/>
        <p:txBody>
          <a:bodyPr/>
          <a:lstStyle/>
          <a:p>
            <a:fld id="{7ACA5435-6333-47B3-863D-D49C87EBF0F3}" type="slidenum">
              <a:rPr lang="en-US" smtClean="0"/>
              <a:t>‹#›</a:t>
            </a:fld>
            <a:endParaRPr lang="en-US"/>
          </a:p>
        </p:txBody>
      </p:sp>
    </p:spTree>
    <p:extLst>
      <p:ext uri="{BB962C8B-B14F-4D97-AF65-F5344CB8AC3E}">
        <p14:creationId xmlns:p14="http://schemas.microsoft.com/office/powerpoint/2010/main" val="13660875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B6E4263-4395-E3E8-0011-2A54A7E04F4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EA61113-6D7E-83AD-C077-6EA0C152D40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0B3607B-B661-E150-D668-F585F7ECF2EE}"/>
              </a:ext>
            </a:extLst>
          </p:cNvPr>
          <p:cNvSpPr>
            <a:spLocks noGrp="1"/>
          </p:cNvSpPr>
          <p:nvPr>
            <p:ph type="dt" sz="half" idx="10"/>
          </p:nvPr>
        </p:nvSpPr>
        <p:spPr/>
        <p:txBody>
          <a:bodyPr/>
          <a:lstStyle/>
          <a:p>
            <a:fld id="{20D6E051-96AE-49E8-97FE-2A788E7595F9}" type="datetimeFigureOut">
              <a:rPr lang="en-US" smtClean="0"/>
              <a:t>6/5/26</a:t>
            </a:fld>
            <a:endParaRPr lang="en-US"/>
          </a:p>
        </p:txBody>
      </p:sp>
      <p:sp>
        <p:nvSpPr>
          <p:cNvPr id="5" name="Footer Placeholder 4">
            <a:extLst>
              <a:ext uri="{FF2B5EF4-FFF2-40B4-BE49-F238E27FC236}">
                <a16:creationId xmlns:a16="http://schemas.microsoft.com/office/drawing/2014/main" id="{990752A4-E5A1-C6C9-01D8-6C7E5A0856D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0406C21-70B4-3C83-358E-5925F1AD325E}"/>
              </a:ext>
            </a:extLst>
          </p:cNvPr>
          <p:cNvSpPr>
            <a:spLocks noGrp="1"/>
          </p:cNvSpPr>
          <p:nvPr>
            <p:ph type="sldNum" sz="quarter" idx="12"/>
          </p:nvPr>
        </p:nvSpPr>
        <p:spPr/>
        <p:txBody>
          <a:bodyPr/>
          <a:lstStyle/>
          <a:p>
            <a:fld id="{7ACA5435-6333-47B3-863D-D49C87EBF0F3}" type="slidenum">
              <a:rPr lang="en-US" smtClean="0"/>
              <a:t>‹#›</a:t>
            </a:fld>
            <a:endParaRPr lang="en-US"/>
          </a:p>
        </p:txBody>
      </p:sp>
    </p:spTree>
    <p:extLst>
      <p:ext uri="{BB962C8B-B14F-4D97-AF65-F5344CB8AC3E}">
        <p14:creationId xmlns:p14="http://schemas.microsoft.com/office/powerpoint/2010/main" val="67668286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1_Title Slide">
    <p:spTree>
      <p:nvGrpSpPr>
        <p:cNvPr id="1" name=""/>
        <p:cNvGrpSpPr/>
        <p:nvPr/>
      </p:nvGrpSpPr>
      <p:grpSpPr>
        <a:xfrm>
          <a:off x="0" y="0"/>
          <a:ext cx="0" cy="0"/>
          <a:chOff x="0" y="0"/>
          <a:chExt cx="0" cy="0"/>
        </a:xfrm>
      </p:grpSpPr>
      <p:sp>
        <p:nvSpPr>
          <p:cNvPr id="2" name="PlaceHolder 1"/>
          <p:cNvSpPr>
            <a:spLocks noGrp="1"/>
          </p:cNvSpPr>
          <p:nvPr>
            <p:ph type="title"/>
          </p:nvPr>
        </p:nvSpPr>
        <p:spPr>
          <a:xfrm>
            <a:off x="609600" y="273600"/>
            <a:ext cx="10972320" cy="1144800"/>
          </a:xfrm>
          <a:prstGeom prst="rect">
            <a:avLst/>
          </a:prstGeom>
        </p:spPr>
        <p:txBody>
          <a:bodyPr lIns="0" tIns="0" rIns="0" bIns="0" anchor="ctr"/>
          <a:lstStyle/>
          <a:p>
            <a:pPr algn="ctr"/>
            <a:endParaRPr lang="en-US" sz="4400" b="0" strike="noStrike" spc="-1">
              <a:latin typeface="Arial"/>
            </a:endParaRPr>
          </a:p>
        </p:txBody>
      </p:sp>
      <p:sp>
        <p:nvSpPr>
          <p:cNvPr id="3" name="PlaceHolder 2"/>
          <p:cNvSpPr>
            <a:spLocks noGrp="1"/>
          </p:cNvSpPr>
          <p:nvPr>
            <p:ph type="subTitle"/>
          </p:nvPr>
        </p:nvSpPr>
        <p:spPr>
          <a:xfrm>
            <a:off x="609600" y="1604520"/>
            <a:ext cx="10972320" cy="3977280"/>
          </a:xfrm>
          <a:prstGeom prst="rect">
            <a:avLst/>
          </a:prstGeom>
        </p:spPr>
        <p:txBody>
          <a:bodyPr lIns="0" tIns="0" rIns="0" bIns="0" anchor="ctr"/>
          <a:lstStyle/>
          <a:p>
            <a:pPr algn="ctr"/>
            <a:endParaRPr lang="en-US" sz="3200" b="0" strike="noStrike" spc="-1">
              <a:latin typeface="Arial"/>
            </a:endParaRPr>
          </a:p>
        </p:txBody>
      </p:sp>
    </p:spTree>
    <p:extLst>
      <p:ext uri="{BB962C8B-B14F-4D97-AF65-F5344CB8AC3E}">
        <p14:creationId xmlns:p14="http://schemas.microsoft.com/office/powerpoint/2010/main" val="260535095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cSld name="Title, Content">
    <p:spTree>
      <p:nvGrpSpPr>
        <p:cNvPr id="1" name=""/>
        <p:cNvGrpSpPr/>
        <p:nvPr/>
      </p:nvGrpSpPr>
      <p:grpSpPr>
        <a:xfrm>
          <a:off x="0" y="0"/>
          <a:ext cx="0" cy="0"/>
          <a:chOff x="0" y="0"/>
          <a:chExt cx="0" cy="0"/>
        </a:xfrm>
      </p:grpSpPr>
      <p:sp>
        <p:nvSpPr>
          <p:cNvPr id="7" name="PlaceHolder 1"/>
          <p:cNvSpPr>
            <a:spLocks noGrp="1"/>
          </p:cNvSpPr>
          <p:nvPr>
            <p:ph type="title"/>
          </p:nvPr>
        </p:nvSpPr>
        <p:spPr>
          <a:xfrm>
            <a:off x="609563" y="273353"/>
            <a:ext cx="10971684" cy="1145009"/>
          </a:xfrm>
          <a:prstGeom prst="rect">
            <a:avLst/>
          </a:prstGeom>
        </p:spPr>
        <p:txBody>
          <a:bodyPr lIns="0" tIns="0" rIns="0" bIns="0" anchor="ctr"/>
          <a:lstStyle/>
          <a:p>
            <a:pPr algn="ctr"/>
            <a:endParaRPr lang="en-US" sz="3991" b="0" strike="noStrike" spc="-1">
              <a:latin typeface="Arial"/>
            </a:endParaRPr>
          </a:p>
        </p:txBody>
      </p:sp>
      <p:sp>
        <p:nvSpPr>
          <p:cNvPr id="8" name="PlaceHolder 2"/>
          <p:cNvSpPr>
            <a:spLocks noGrp="1"/>
          </p:cNvSpPr>
          <p:nvPr>
            <p:ph type="body"/>
          </p:nvPr>
        </p:nvSpPr>
        <p:spPr>
          <a:xfrm>
            <a:off x="609563" y="1604841"/>
            <a:ext cx="10971684" cy="3977484"/>
          </a:xfrm>
          <a:prstGeom prst="rect">
            <a:avLst/>
          </a:prstGeom>
        </p:spPr>
        <p:txBody>
          <a:bodyPr lIns="0" tIns="0" rIns="0" bIns="0">
            <a:normAutofit/>
          </a:bodyPr>
          <a:lstStyle/>
          <a:p>
            <a:endParaRPr lang="en-US" sz="2903" b="0" strike="noStrike" spc="-1">
              <a:latin typeface="Arial"/>
            </a:endParaRPr>
          </a:p>
        </p:txBody>
      </p:sp>
    </p:spTree>
    <p:extLst>
      <p:ext uri="{BB962C8B-B14F-4D97-AF65-F5344CB8AC3E}">
        <p14:creationId xmlns:p14="http://schemas.microsoft.com/office/powerpoint/2010/main" val="39132643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8D22DD7-D581-6B1D-0686-7EE336906BB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3B82172-241D-A893-FE0E-30C602CA15F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F02F63C-4DD7-2533-7944-A82BF753750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0D6E051-96AE-49E8-97FE-2A788E7595F9}" type="datetimeFigureOut">
              <a:rPr lang="en-US" smtClean="0"/>
              <a:t>6/5/26</a:t>
            </a:fld>
            <a:endParaRPr lang="en-US"/>
          </a:p>
        </p:txBody>
      </p:sp>
      <p:sp>
        <p:nvSpPr>
          <p:cNvPr id="5" name="Footer Placeholder 4">
            <a:extLst>
              <a:ext uri="{FF2B5EF4-FFF2-40B4-BE49-F238E27FC236}">
                <a16:creationId xmlns:a16="http://schemas.microsoft.com/office/drawing/2014/main" id="{76D819A6-9237-A132-95F9-B285B3A4C3A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1B07529F-7AD6-8F2E-B24F-8E135AA3659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ACA5435-6333-47B3-863D-D49C87EBF0F3}" type="slidenum">
              <a:rPr lang="en-US" smtClean="0"/>
              <a:t>‹#›</a:t>
            </a:fld>
            <a:endParaRPr lang="en-US"/>
          </a:p>
        </p:txBody>
      </p:sp>
    </p:spTree>
    <p:extLst>
      <p:ext uri="{BB962C8B-B14F-4D97-AF65-F5344CB8AC3E}">
        <p14:creationId xmlns:p14="http://schemas.microsoft.com/office/powerpoint/2010/main" val="301335720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hyperlink" Target="https://www.tandfonline.com/doi/pdf/10.1080/01621459.2016.1240079"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s://www.pnas.org/doi/10.1073/pnas.2524747123" TargetMode="External"/><Relationship Id="rId2" Type="http://schemas.openxmlformats.org/officeDocument/2006/relationships/hyperlink" Target="https://pmc.ncbi.nlm.nih.gov/articles/PMC5976261/"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hyperlink" Target="https://esajournals.onlinelibrary.wiley.com/doi/full/10.1002/bes2.1801#:~:text=Research%20is%20reproducible%20when%20others,2020)." TargetMode="External"/><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2.jpe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hyperlink" Target="https://fivethirtyeight.com/features/statisticians-found-one-thing-they-can-agree-on-its-time-to-stop-misusing-p-values/" TargetMode="External"/><Relationship Id="rId2" Type="http://schemas.openxmlformats.org/officeDocument/2006/relationships/hyperlink" Target="https://link.springer.com/article/10.3758/s13423-016-1128-0" TargetMode="External"/><Relationship Id="rId1" Type="http://schemas.openxmlformats.org/officeDocument/2006/relationships/slideLayout" Target="../slideLayouts/slideLayout2.xml"/><Relationship Id="rId4" Type="http://schemas.openxmlformats.org/officeDocument/2006/relationships/hyperlink" Target="https://www.nature.com/articles/s41586-020-2314-9" TargetMode="External"/></Relationships>
</file>

<file path=ppt/slides/_rels/slide20.xml.rels><?xml version="1.0" encoding="UTF-8" standalone="yes"?>
<Relationships xmlns="http://schemas.openxmlformats.org/package/2006/relationships"><Relationship Id="rId2" Type="http://schemas.openxmlformats.org/officeDocument/2006/relationships/hyperlink" Target="https://fivethirtyeight.com/features/science-isnt-broken/#part2" TargetMode="Externa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hyperlink" Target="https://civilstat.com/2018/10/mengs-big-data-paradox-and-an-extreme-example/" TargetMode="External"/><Relationship Id="rId2" Type="http://schemas.openxmlformats.org/officeDocument/2006/relationships/hyperlink" Target="https://projecteuclid.org/journals/annals-of-applied-statistics/volume-12/issue-2/Statistical-paradises-and-paradoxes-in-big-data-I--Law/10.1214/18-AOAS1161SF.full" TargetMode="External"/><Relationship Id="rId1" Type="http://schemas.openxmlformats.org/officeDocument/2006/relationships/slideLayout" Target="../slideLayouts/slideLayout13.xml"/><Relationship Id="rId5" Type="http://schemas.openxmlformats.org/officeDocument/2006/relationships/image" Target="../media/image5.png"/><Relationship Id="rId4" Type="http://schemas.openxmlformats.org/officeDocument/2006/relationships/image" Target="../media/image4.png"/></Relationships>
</file>

<file path=ppt/slides/_rels/slide2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6.png"/><Relationship Id="rId1" Type="http://schemas.openxmlformats.org/officeDocument/2006/relationships/slideLayout" Target="../slideLayouts/slideLayout6.xml"/><Relationship Id="rId4" Type="http://schemas.openxmlformats.org/officeDocument/2006/relationships/image" Target="../media/image7.png"/></Relationships>
</file>

<file path=ppt/slides/_rels/slide24.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9.jpeg"/><Relationship Id="rId1" Type="http://schemas.openxmlformats.org/officeDocument/2006/relationships/slideLayout" Target="../slideLayouts/slideLayout1.xml"/><Relationship Id="rId5" Type="http://schemas.openxmlformats.org/officeDocument/2006/relationships/image" Target="../media/image13.png"/><Relationship Id="rId4" Type="http://schemas.openxmlformats.org/officeDocument/2006/relationships/image" Target="../media/image12.png"/></Relationships>
</file>

<file path=ppt/slides/_rels/slide26.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0.png"/><Relationship Id="rId7" Type="http://schemas.openxmlformats.org/officeDocument/2006/relationships/image" Target="../media/image19.png"/><Relationship Id="rId2" Type="http://schemas.openxmlformats.org/officeDocument/2006/relationships/image" Target="../media/image14.png"/><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7.png"/><Relationship Id="rId4" Type="http://schemas.openxmlformats.org/officeDocument/2006/relationships/image" Target="../media/image16.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hyperlink" Target="https://vdsbook.com/" TargetMode="External"/><Relationship Id="rId2" Type="http://schemas.openxmlformats.org/officeDocument/2006/relationships/hyperlink" Target="https://www.pnas.org/doi/10.1073/pnas.1901326117" TargetMode="Externa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89ED1AA-8684-4D37-B208-8777E1A778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Graphic 33">
            <a:extLst>
              <a:ext uri="{FF2B5EF4-FFF2-40B4-BE49-F238E27FC236}">
                <a16:creationId xmlns:a16="http://schemas.microsoft.com/office/drawing/2014/main" id="{4180E01B-B1F4-437C-807D-1C930718EE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10784" y="0"/>
            <a:ext cx="9570431" cy="6858000"/>
          </a:xfrm>
          <a:custGeom>
            <a:avLst/>
            <a:gdLst>
              <a:gd name="connsiteX0" fmla="*/ 7178288 w 7187261"/>
              <a:gd name="connsiteY0" fmla="*/ 2604802 h 5150263"/>
              <a:gd name="connsiteX1" fmla="*/ 7169335 w 7187261"/>
              <a:gd name="connsiteY1" fmla="*/ 2328577 h 5150263"/>
              <a:gd name="connsiteX2" fmla="*/ 7060845 w 7187261"/>
              <a:gd name="connsiteY2" fmla="*/ 1661160 h 5150263"/>
              <a:gd name="connsiteX3" fmla="*/ 6212263 w 7187261"/>
              <a:gd name="connsiteY3" fmla="*/ 243840 h 5150263"/>
              <a:gd name="connsiteX4" fmla="*/ 5953564 w 7187261"/>
              <a:gd name="connsiteY4" fmla="*/ 0 h 5150263"/>
              <a:gd name="connsiteX5" fmla="*/ 1408615 w 7187261"/>
              <a:gd name="connsiteY5" fmla="*/ 0 h 5150263"/>
              <a:gd name="connsiteX6" fmla="*/ 805111 w 7187261"/>
              <a:gd name="connsiteY6" fmla="*/ 676275 h 5150263"/>
              <a:gd name="connsiteX7" fmla="*/ 104928 w 7187261"/>
              <a:gd name="connsiteY7" fmla="*/ 2183035 h 5150263"/>
              <a:gd name="connsiteX8" fmla="*/ 51588 w 7187261"/>
              <a:gd name="connsiteY8" fmla="*/ 2400014 h 5150263"/>
              <a:gd name="connsiteX9" fmla="*/ 41301 w 7187261"/>
              <a:gd name="connsiteY9" fmla="*/ 2424208 h 5150263"/>
              <a:gd name="connsiteX10" fmla="*/ 119692 w 7187261"/>
              <a:gd name="connsiteY10" fmla="*/ 1834801 h 5150263"/>
              <a:gd name="connsiteX11" fmla="*/ 870071 w 7187261"/>
              <a:gd name="connsiteY11" fmla="*/ 462248 h 5150263"/>
              <a:gd name="connsiteX12" fmla="*/ 1389279 w 7187261"/>
              <a:gd name="connsiteY12" fmla="*/ 476 h 5150263"/>
              <a:gd name="connsiteX13" fmla="*/ 1320223 w 7187261"/>
              <a:gd name="connsiteY13" fmla="*/ 476 h 5150263"/>
              <a:gd name="connsiteX14" fmla="*/ 423158 w 7187261"/>
              <a:gd name="connsiteY14" fmla="*/ 989743 h 5150263"/>
              <a:gd name="connsiteX15" fmla="*/ 25585 w 7187261"/>
              <a:gd name="connsiteY15" fmla="*/ 2113693 h 5150263"/>
              <a:gd name="connsiteX16" fmla="*/ 2344 w 7187261"/>
              <a:gd name="connsiteY16" fmla="*/ 2725865 h 5150263"/>
              <a:gd name="connsiteX17" fmla="*/ 447256 w 7187261"/>
              <a:gd name="connsiteY17" fmla="*/ 4210717 h 5150263"/>
              <a:gd name="connsiteX18" fmla="*/ 1138962 w 7187261"/>
              <a:gd name="connsiteY18" fmla="*/ 4988910 h 5150263"/>
              <a:gd name="connsiteX19" fmla="*/ 1348512 w 7187261"/>
              <a:gd name="connsiteY19" fmla="*/ 5146834 h 5150263"/>
              <a:gd name="connsiteX20" fmla="*/ 1422712 w 7187261"/>
              <a:gd name="connsiteY20" fmla="*/ 5146834 h 5150263"/>
              <a:gd name="connsiteX21" fmla="*/ 480594 w 7187261"/>
              <a:gd name="connsiteY21" fmla="*/ 4187952 h 5150263"/>
              <a:gd name="connsiteX22" fmla="*/ 398679 w 7187261"/>
              <a:gd name="connsiteY22" fmla="*/ 4046125 h 5150263"/>
              <a:gd name="connsiteX23" fmla="*/ 411823 w 7187261"/>
              <a:gd name="connsiteY23" fmla="*/ 4053078 h 5150263"/>
              <a:gd name="connsiteX24" fmla="*/ 1439380 w 7187261"/>
              <a:gd name="connsiteY24" fmla="*/ 5147405 h 5150263"/>
              <a:gd name="connsiteX25" fmla="*/ 5710010 w 7187261"/>
              <a:gd name="connsiteY25" fmla="*/ 5150263 h 5150263"/>
              <a:gd name="connsiteX26" fmla="*/ 5999665 w 7187261"/>
              <a:gd name="connsiteY26" fmla="*/ 4910900 h 5150263"/>
              <a:gd name="connsiteX27" fmla="*/ 6954165 w 7187261"/>
              <a:gd name="connsiteY27" fmla="*/ 3545777 h 5150263"/>
              <a:gd name="connsiteX28" fmla="*/ 7137712 w 7187261"/>
              <a:gd name="connsiteY28" fmla="*/ 2799207 h 5150263"/>
              <a:gd name="connsiteX29" fmla="*/ 7142951 w 7187261"/>
              <a:gd name="connsiteY29" fmla="*/ 2754535 h 5150263"/>
              <a:gd name="connsiteX30" fmla="*/ 7149428 w 7187261"/>
              <a:gd name="connsiteY30" fmla="*/ 2774823 h 5150263"/>
              <a:gd name="connsiteX31" fmla="*/ 7066465 w 7187261"/>
              <a:gd name="connsiteY31" fmla="*/ 3465672 h 5150263"/>
              <a:gd name="connsiteX32" fmla="*/ 6452578 w 7187261"/>
              <a:gd name="connsiteY32" fmla="*/ 4552760 h 5150263"/>
              <a:gd name="connsiteX33" fmla="*/ 5752110 w 7187261"/>
              <a:gd name="connsiteY33" fmla="*/ 5150263 h 5150263"/>
              <a:gd name="connsiteX34" fmla="*/ 5827643 w 7187261"/>
              <a:gd name="connsiteY34" fmla="*/ 5150263 h 5150263"/>
              <a:gd name="connsiteX35" fmla="*/ 6642793 w 7187261"/>
              <a:gd name="connsiteY35" fmla="*/ 4389406 h 5150263"/>
              <a:gd name="connsiteX36" fmla="*/ 7102469 w 7187261"/>
              <a:gd name="connsiteY36" fmla="*/ 3490817 h 5150263"/>
              <a:gd name="connsiteX37" fmla="*/ 7187242 w 7187261"/>
              <a:gd name="connsiteY37" fmla="*/ 2990183 h 5150263"/>
              <a:gd name="connsiteX38" fmla="*/ 7178288 w 7187261"/>
              <a:gd name="connsiteY38" fmla="*/ 2604802 h 5150263"/>
              <a:gd name="connsiteX39" fmla="*/ 6342565 w 7187261"/>
              <a:gd name="connsiteY39" fmla="*/ 441389 h 5150263"/>
              <a:gd name="connsiteX40" fmla="*/ 7126567 w 7187261"/>
              <a:gd name="connsiteY40" fmla="*/ 2355056 h 5150263"/>
              <a:gd name="connsiteX41" fmla="*/ 6342565 w 7187261"/>
              <a:gd name="connsiteY41" fmla="*/ 441389 h 51502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7187261" h="5150263">
                <a:moveTo>
                  <a:pt x="7178288" y="2604802"/>
                </a:moveTo>
                <a:cubicBezTo>
                  <a:pt x="7168763" y="2513076"/>
                  <a:pt x="7174478" y="2420684"/>
                  <a:pt x="7169335" y="2328577"/>
                </a:cubicBezTo>
                <a:cubicBezTo>
                  <a:pt x="7156952" y="2102882"/>
                  <a:pt x="7120586" y="1879149"/>
                  <a:pt x="7060845" y="1661160"/>
                </a:cubicBezTo>
                <a:cubicBezTo>
                  <a:pt x="6910588" y="1121007"/>
                  <a:pt x="6617428" y="631374"/>
                  <a:pt x="6212263" y="243840"/>
                </a:cubicBezTo>
                <a:cubicBezTo>
                  <a:pt x="6126538" y="162496"/>
                  <a:pt x="6040813" y="80201"/>
                  <a:pt x="5953564" y="0"/>
                </a:cubicBezTo>
                <a:lnTo>
                  <a:pt x="1408615" y="0"/>
                </a:lnTo>
                <a:cubicBezTo>
                  <a:pt x="1180967" y="200316"/>
                  <a:pt x="978332" y="427387"/>
                  <a:pt x="805111" y="676275"/>
                </a:cubicBezTo>
                <a:cubicBezTo>
                  <a:pt x="481261" y="1136523"/>
                  <a:pt x="252089" y="1640872"/>
                  <a:pt x="104928" y="2183035"/>
                </a:cubicBezTo>
                <a:cubicBezTo>
                  <a:pt x="85878" y="2254853"/>
                  <a:pt x="69495" y="2327720"/>
                  <a:pt x="51588" y="2400014"/>
                </a:cubicBezTo>
                <a:cubicBezTo>
                  <a:pt x="49683" y="2407634"/>
                  <a:pt x="51588" y="2416969"/>
                  <a:pt x="41301" y="2424208"/>
                </a:cubicBezTo>
                <a:cubicBezTo>
                  <a:pt x="45900" y="2225469"/>
                  <a:pt x="72186" y="2027834"/>
                  <a:pt x="119692" y="1834801"/>
                </a:cubicBezTo>
                <a:cubicBezTo>
                  <a:pt x="247993" y="1310926"/>
                  <a:pt x="506121" y="857726"/>
                  <a:pt x="870071" y="462248"/>
                </a:cubicBezTo>
                <a:cubicBezTo>
                  <a:pt x="1027729" y="291823"/>
                  <a:pt x="1201617" y="137169"/>
                  <a:pt x="1389279" y="476"/>
                </a:cubicBezTo>
                <a:lnTo>
                  <a:pt x="1320223" y="476"/>
                </a:lnTo>
                <a:cubicBezTo>
                  <a:pt x="960844" y="274320"/>
                  <a:pt x="656330" y="599123"/>
                  <a:pt x="423158" y="989743"/>
                </a:cubicBezTo>
                <a:cubicBezTo>
                  <a:pt x="215608" y="1337596"/>
                  <a:pt x="80258" y="1711357"/>
                  <a:pt x="25585" y="2113693"/>
                </a:cubicBezTo>
                <a:cubicBezTo>
                  <a:pt x="-2705" y="2316480"/>
                  <a:pt x="-2228" y="2521077"/>
                  <a:pt x="2344" y="2725865"/>
                </a:cubicBezTo>
                <a:cubicBezTo>
                  <a:pt x="14155" y="3261932"/>
                  <a:pt x="170650" y="3754565"/>
                  <a:pt x="447256" y="4210717"/>
                </a:cubicBezTo>
                <a:cubicBezTo>
                  <a:pt x="629851" y="4511612"/>
                  <a:pt x="866356" y="4767167"/>
                  <a:pt x="1138962" y="4988910"/>
                </a:cubicBezTo>
                <a:cubicBezTo>
                  <a:pt x="1207161" y="5044345"/>
                  <a:pt x="1277008" y="5096990"/>
                  <a:pt x="1348512" y="5146834"/>
                </a:cubicBezTo>
                <a:lnTo>
                  <a:pt x="1422712" y="5146834"/>
                </a:lnTo>
                <a:cubicBezTo>
                  <a:pt x="1043426" y="4892802"/>
                  <a:pt x="724720" y="4577334"/>
                  <a:pt x="480594" y="4187952"/>
                </a:cubicBezTo>
                <a:cubicBezTo>
                  <a:pt x="452019" y="4141851"/>
                  <a:pt x="423444" y="4095179"/>
                  <a:pt x="398679" y="4046125"/>
                </a:cubicBezTo>
                <a:cubicBezTo>
                  <a:pt x="407442" y="4043267"/>
                  <a:pt x="409156" y="4048982"/>
                  <a:pt x="411823" y="4053078"/>
                </a:cubicBezTo>
                <a:cubicBezTo>
                  <a:pt x="683572" y="4484656"/>
                  <a:pt x="1033139" y="4842701"/>
                  <a:pt x="1439380" y="5147405"/>
                </a:cubicBezTo>
                <a:lnTo>
                  <a:pt x="5710010" y="5150263"/>
                </a:lnTo>
                <a:cubicBezTo>
                  <a:pt x="5810594" y="5075482"/>
                  <a:pt x="5907272" y="4995587"/>
                  <a:pt x="5999665" y="4910900"/>
                </a:cubicBezTo>
                <a:cubicBezTo>
                  <a:pt x="6418765" y="4526661"/>
                  <a:pt x="6746901" y="4078129"/>
                  <a:pt x="6954165" y="3545777"/>
                </a:cubicBezTo>
                <a:cubicBezTo>
                  <a:pt x="7048234" y="3306175"/>
                  <a:pt x="7109956" y="3055115"/>
                  <a:pt x="7137712" y="2799207"/>
                </a:cubicBezTo>
                <a:cubicBezTo>
                  <a:pt x="7139236" y="2784920"/>
                  <a:pt x="7141046" y="2770632"/>
                  <a:pt x="7142951" y="2754535"/>
                </a:cubicBezTo>
                <a:cubicBezTo>
                  <a:pt x="7151714" y="2760440"/>
                  <a:pt x="7149237" y="2768441"/>
                  <a:pt x="7149428" y="2774823"/>
                </a:cubicBezTo>
                <a:cubicBezTo>
                  <a:pt x="7156743" y="3007967"/>
                  <a:pt x="7128777" y="3240881"/>
                  <a:pt x="7066465" y="3465672"/>
                </a:cubicBezTo>
                <a:cubicBezTo>
                  <a:pt x="6952165" y="3878580"/>
                  <a:pt x="6737948" y="4235863"/>
                  <a:pt x="6452578" y="4552760"/>
                </a:cubicBezTo>
                <a:cubicBezTo>
                  <a:pt x="6244553" y="4783836"/>
                  <a:pt x="6008809" y="4980242"/>
                  <a:pt x="5752110" y="5150263"/>
                </a:cubicBezTo>
                <a:lnTo>
                  <a:pt x="5827643" y="5150263"/>
                </a:lnTo>
                <a:cubicBezTo>
                  <a:pt x="6136539" y="4938904"/>
                  <a:pt x="6412192" y="4689348"/>
                  <a:pt x="6642793" y="4389406"/>
                </a:cubicBezTo>
                <a:cubicBezTo>
                  <a:pt x="6851295" y="4118324"/>
                  <a:pt x="7009125" y="3820859"/>
                  <a:pt x="7102469" y="3490817"/>
                </a:cubicBezTo>
                <a:cubicBezTo>
                  <a:pt x="7148646" y="3327473"/>
                  <a:pt x="7177069" y="3159624"/>
                  <a:pt x="7187242" y="2990183"/>
                </a:cubicBezTo>
                <a:cubicBezTo>
                  <a:pt x="7187623" y="2984087"/>
                  <a:pt x="7182384" y="2642330"/>
                  <a:pt x="7178288" y="2604802"/>
                </a:cubicBezTo>
                <a:close/>
                <a:moveTo>
                  <a:pt x="6342565" y="441389"/>
                </a:moveTo>
                <a:cubicBezTo>
                  <a:pt x="6829797" y="986533"/>
                  <a:pt x="7091135" y="1624422"/>
                  <a:pt x="7126567" y="2355056"/>
                </a:cubicBezTo>
                <a:cubicBezTo>
                  <a:pt x="7001123" y="1661827"/>
                  <a:pt x="6756426" y="1017365"/>
                  <a:pt x="6342565" y="441389"/>
                </a:cubicBezTo>
                <a:close/>
              </a:path>
            </a:pathLst>
          </a:custGeom>
          <a:solidFill>
            <a:schemeClr val="accent2"/>
          </a:solidFill>
          <a:ln w="9525" cap="flat">
            <a:noFill/>
            <a:prstDash val="solid"/>
            <a:miter/>
          </a:ln>
        </p:spPr>
        <p:txBody>
          <a:bodyPr rtlCol="0" anchor="ctr"/>
          <a:lstStyle/>
          <a:p>
            <a:endParaRPr lang="en-US"/>
          </a:p>
        </p:txBody>
      </p:sp>
      <p:sp>
        <p:nvSpPr>
          <p:cNvPr id="2" name="Title 1"/>
          <p:cNvSpPr>
            <a:spLocks noGrp="1"/>
          </p:cNvSpPr>
          <p:nvPr>
            <p:ph type="ctrTitle"/>
          </p:nvPr>
        </p:nvSpPr>
        <p:spPr>
          <a:xfrm>
            <a:off x="2558716" y="955309"/>
            <a:ext cx="7074568" cy="2898975"/>
          </a:xfrm>
        </p:spPr>
        <p:txBody>
          <a:bodyPr>
            <a:normAutofit/>
          </a:bodyPr>
          <a:lstStyle/>
          <a:p>
            <a:r>
              <a:rPr lang="en-US" sz="6600">
                <a:solidFill>
                  <a:srgbClr val="FFFFFF"/>
                </a:solidFill>
              </a:rPr>
              <a:t>What is Reproducibility and Why do we care?</a:t>
            </a:r>
          </a:p>
        </p:txBody>
      </p:sp>
      <p:sp>
        <p:nvSpPr>
          <p:cNvPr id="3" name="Subtitle 2"/>
          <p:cNvSpPr>
            <a:spLocks noGrp="1"/>
          </p:cNvSpPr>
          <p:nvPr>
            <p:ph type="subTitle" idx="1"/>
          </p:nvPr>
        </p:nvSpPr>
        <p:spPr>
          <a:xfrm>
            <a:off x="2634916" y="4533813"/>
            <a:ext cx="6930189" cy="938463"/>
          </a:xfrm>
        </p:spPr>
        <p:txBody>
          <a:bodyPr>
            <a:normAutofit/>
          </a:bodyPr>
          <a:lstStyle/>
          <a:p>
            <a:r>
              <a:rPr lang="en-US" b="1" dirty="0">
                <a:solidFill>
                  <a:srgbClr val="FFFFFF"/>
                </a:solidFill>
              </a:rPr>
              <a:t>Data Science for Social Good REU</a:t>
            </a:r>
          </a:p>
          <a:p>
            <a:r>
              <a:rPr lang="en-US" b="1" dirty="0">
                <a:solidFill>
                  <a:srgbClr val="FFFFFF"/>
                </a:solidFill>
              </a:rPr>
              <a:t>6/05/2026</a:t>
            </a:r>
          </a:p>
        </p:txBody>
      </p:sp>
      <p:sp>
        <p:nvSpPr>
          <p:cNvPr id="12" name="sketch line">
            <a:extLst>
              <a:ext uri="{FF2B5EF4-FFF2-40B4-BE49-F238E27FC236}">
                <a16:creationId xmlns:a16="http://schemas.microsoft.com/office/drawing/2014/main" id="{41F77738-2AF0-4750-A0C7-F97C2C1759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74206" y="4173498"/>
            <a:ext cx="4243589" cy="18288"/>
          </a:xfrm>
          <a:custGeom>
            <a:avLst/>
            <a:gdLst>
              <a:gd name="csX0" fmla="*/ 0 w 4243589"/>
              <a:gd name="csY0" fmla="*/ 0 h 18288"/>
              <a:gd name="csX1" fmla="*/ 563791 w 4243589"/>
              <a:gd name="csY1" fmla="*/ 0 h 18288"/>
              <a:gd name="csX2" fmla="*/ 1042710 w 4243589"/>
              <a:gd name="csY2" fmla="*/ 0 h 18288"/>
              <a:gd name="csX3" fmla="*/ 1564066 w 4243589"/>
              <a:gd name="csY3" fmla="*/ 0 h 18288"/>
              <a:gd name="csX4" fmla="*/ 2212729 w 4243589"/>
              <a:gd name="csY4" fmla="*/ 0 h 18288"/>
              <a:gd name="csX5" fmla="*/ 2776520 w 4243589"/>
              <a:gd name="csY5" fmla="*/ 0 h 18288"/>
              <a:gd name="csX6" fmla="*/ 3297875 w 4243589"/>
              <a:gd name="csY6" fmla="*/ 0 h 18288"/>
              <a:gd name="csX7" fmla="*/ 4243589 w 4243589"/>
              <a:gd name="csY7" fmla="*/ 0 h 18288"/>
              <a:gd name="csX8" fmla="*/ 4243589 w 4243589"/>
              <a:gd name="csY8" fmla="*/ 18288 h 18288"/>
              <a:gd name="csX9" fmla="*/ 3637362 w 4243589"/>
              <a:gd name="csY9" fmla="*/ 18288 h 18288"/>
              <a:gd name="csX10" fmla="*/ 3116007 w 4243589"/>
              <a:gd name="csY10" fmla="*/ 18288 h 18288"/>
              <a:gd name="csX11" fmla="*/ 2424908 w 4243589"/>
              <a:gd name="csY11" fmla="*/ 18288 h 18288"/>
              <a:gd name="csX12" fmla="*/ 1861117 w 4243589"/>
              <a:gd name="csY12" fmla="*/ 18288 h 18288"/>
              <a:gd name="csX13" fmla="*/ 1382198 w 4243589"/>
              <a:gd name="csY13" fmla="*/ 18288 h 18288"/>
              <a:gd name="csX14" fmla="*/ 733535 w 4243589"/>
              <a:gd name="csY14" fmla="*/ 18288 h 18288"/>
              <a:gd name="csX15" fmla="*/ 0 w 4243589"/>
              <a:gd name="csY15" fmla="*/ 18288 h 18288"/>
              <a:gd name="csX16" fmla="*/ 0 w 4243589"/>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243589" h="18288"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3987" y="7429"/>
                  <a:pt x="4243569" y="10822"/>
                  <a:pt x="4243589" y="18288"/>
                </a:cubicBezTo>
                <a:cubicBezTo>
                  <a:pt x="4112949" y="-2855"/>
                  <a:pt x="3928037" y="1831"/>
                  <a:pt x="3637362" y="18288"/>
                </a:cubicBezTo>
                <a:cubicBezTo>
                  <a:pt x="3346687" y="34745"/>
                  <a:pt x="3254446" y="26669"/>
                  <a:pt x="3116007" y="18288"/>
                </a:cubicBezTo>
                <a:cubicBezTo>
                  <a:pt x="2977569" y="9907"/>
                  <a:pt x="2620228" y="28873"/>
                  <a:pt x="2424908" y="18288"/>
                </a:cubicBezTo>
                <a:cubicBezTo>
                  <a:pt x="2229588" y="7703"/>
                  <a:pt x="2088287" y="-3854"/>
                  <a:pt x="1861117" y="18288"/>
                </a:cubicBezTo>
                <a:cubicBezTo>
                  <a:pt x="1633947" y="40430"/>
                  <a:pt x="1502447" y="-871"/>
                  <a:pt x="1382198" y="18288"/>
                </a:cubicBezTo>
                <a:cubicBezTo>
                  <a:pt x="1261949" y="37447"/>
                  <a:pt x="1045440" y="28353"/>
                  <a:pt x="733535" y="18288"/>
                </a:cubicBezTo>
                <a:cubicBezTo>
                  <a:pt x="421630" y="8223"/>
                  <a:pt x="341257" y="-18359"/>
                  <a:pt x="0" y="18288"/>
                </a:cubicBezTo>
                <a:cubicBezTo>
                  <a:pt x="-591" y="13205"/>
                  <a:pt x="-663" y="6329"/>
                  <a:pt x="0" y="0"/>
                </a:cubicBezTo>
                <a:close/>
              </a:path>
              <a:path w="4243589" h="18288"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2703" y="5429"/>
                  <a:pt x="4244410" y="14046"/>
                  <a:pt x="4243589" y="18288"/>
                </a:cubicBezTo>
                <a:cubicBezTo>
                  <a:pt x="4130424" y="-1240"/>
                  <a:pt x="3932803" y="42249"/>
                  <a:pt x="3722234" y="18288"/>
                </a:cubicBezTo>
                <a:cubicBezTo>
                  <a:pt x="3511665" y="-5673"/>
                  <a:pt x="3269903" y="45994"/>
                  <a:pt x="3116007" y="18288"/>
                </a:cubicBezTo>
                <a:cubicBezTo>
                  <a:pt x="2962111" y="-9418"/>
                  <a:pt x="2744280" y="23224"/>
                  <a:pt x="2509780" y="18288"/>
                </a:cubicBezTo>
                <a:cubicBezTo>
                  <a:pt x="2275280" y="13352"/>
                  <a:pt x="2066059" y="43664"/>
                  <a:pt x="1945989" y="18288"/>
                </a:cubicBezTo>
                <a:cubicBezTo>
                  <a:pt x="1825919" y="-7088"/>
                  <a:pt x="1407329" y="12616"/>
                  <a:pt x="1254890" y="18288"/>
                </a:cubicBezTo>
                <a:cubicBezTo>
                  <a:pt x="1102451" y="23960"/>
                  <a:pt x="837950" y="31673"/>
                  <a:pt x="563791" y="18288"/>
                </a:cubicBezTo>
                <a:cubicBezTo>
                  <a:pt x="289632" y="4903"/>
                  <a:pt x="132768" y="7105"/>
                  <a:pt x="0" y="18288"/>
                </a:cubicBezTo>
                <a:cubicBezTo>
                  <a:pt x="668" y="13665"/>
                  <a:pt x="578" y="5675"/>
                  <a:pt x="0" y="0"/>
                </a:cubicBezTo>
                <a:close/>
              </a:path>
            </a:pathLst>
          </a:custGeom>
          <a:solidFill>
            <a:srgbClr val="FFFFFF"/>
          </a:solidFill>
          <a:ln w="41275" cap="rnd">
            <a:solidFill>
              <a:srgbClr val="FFFFFF"/>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956888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6AECE6E-0EDE-EDD4-7EC0-887911C82750}"/>
              </a:ext>
            </a:extLst>
          </p:cNvPr>
          <p:cNvSpPr>
            <a:spLocks noGrp="1"/>
          </p:cNvSpPr>
          <p:nvPr>
            <p:ph type="ctrTitle"/>
          </p:nvPr>
        </p:nvSpPr>
        <p:spPr/>
        <p:txBody>
          <a:bodyPr/>
          <a:lstStyle/>
          <a:p>
            <a:r>
              <a:rPr lang="en-US" dirty="0"/>
              <a:t>What is Research?</a:t>
            </a:r>
          </a:p>
        </p:txBody>
      </p:sp>
      <p:sp>
        <p:nvSpPr>
          <p:cNvPr id="5" name="Subtitle 4">
            <a:extLst>
              <a:ext uri="{FF2B5EF4-FFF2-40B4-BE49-F238E27FC236}">
                <a16:creationId xmlns:a16="http://schemas.microsoft.com/office/drawing/2014/main" id="{9977EBDD-1F48-EAA0-C64C-B104412A0981}"/>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15714116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02D05CB-BE4A-4ED8-A986-40D99EDCF7AF}"/>
              </a:ext>
            </a:extLst>
          </p:cNvPr>
          <p:cNvSpPr>
            <a:spLocks noGrp="1"/>
          </p:cNvSpPr>
          <p:nvPr>
            <p:ph type="ctrTitle"/>
          </p:nvPr>
        </p:nvSpPr>
        <p:spPr/>
        <p:txBody>
          <a:bodyPr>
            <a:normAutofit fontScale="90000"/>
          </a:bodyPr>
          <a:lstStyle/>
          <a:p>
            <a:r>
              <a:rPr lang="en-US" dirty="0"/>
              <a:t>How do we know whether something no one has done before is correct?</a:t>
            </a:r>
          </a:p>
        </p:txBody>
      </p:sp>
      <p:sp>
        <p:nvSpPr>
          <p:cNvPr id="5" name="Subtitle 4">
            <a:extLst>
              <a:ext uri="{FF2B5EF4-FFF2-40B4-BE49-F238E27FC236}">
                <a16:creationId xmlns:a16="http://schemas.microsoft.com/office/drawing/2014/main" id="{B389E3D5-E4A5-F45A-43AF-13C89189F365}"/>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24164980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Content Placeholder 4" descr="A diagram of a process&#10;&#10;Description automatically generated">
            <a:extLst>
              <a:ext uri="{FF2B5EF4-FFF2-40B4-BE49-F238E27FC236}">
                <a16:creationId xmlns:a16="http://schemas.microsoft.com/office/drawing/2014/main" id="{04AC1AD3-AD1D-BE7F-2ADC-FC0A0B0D121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614082" y="643466"/>
            <a:ext cx="6963836" cy="5571067"/>
          </a:xfrm>
          <a:prstGeom prst="rect">
            <a:avLst/>
          </a:prstGeom>
        </p:spPr>
      </p:pic>
      <p:sp>
        <p:nvSpPr>
          <p:cNvPr id="7" name="TextBox 6">
            <a:extLst>
              <a:ext uri="{FF2B5EF4-FFF2-40B4-BE49-F238E27FC236}">
                <a16:creationId xmlns:a16="http://schemas.microsoft.com/office/drawing/2014/main" id="{79890DF2-94EB-FBCF-B009-6B8F96280F2B}"/>
              </a:ext>
            </a:extLst>
          </p:cNvPr>
          <p:cNvSpPr txBox="1"/>
          <p:nvPr/>
        </p:nvSpPr>
        <p:spPr>
          <a:xfrm>
            <a:off x="283028" y="6324992"/>
            <a:ext cx="6096000" cy="369332"/>
          </a:xfrm>
          <a:prstGeom prst="rect">
            <a:avLst/>
          </a:prstGeom>
          <a:noFill/>
        </p:spPr>
        <p:txBody>
          <a:bodyPr wrap="square">
            <a:spAutoFit/>
          </a:bodyPr>
          <a:lstStyle/>
          <a:p>
            <a:r>
              <a:rPr lang="en-US" dirty="0"/>
              <a:t>https://</a:t>
            </a:r>
            <a:r>
              <a:rPr lang="en-US" dirty="0" err="1"/>
              <a:t>theory.labster.com</a:t>
            </a:r>
            <a:r>
              <a:rPr lang="en-US" dirty="0"/>
              <a:t>/</a:t>
            </a:r>
            <a:r>
              <a:rPr lang="en-US" dirty="0" err="1"/>
              <a:t>scientific_method</a:t>
            </a:r>
            <a:r>
              <a:rPr lang="en-US" dirty="0"/>
              <a:t>/</a:t>
            </a:r>
          </a:p>
        </p:txBody>
      </p:sp>
      <p:grpSp>
        <p:nvGrpSpPr>
          <p:cNvPr id="16" name="Group 15">
            <a:extLst>
              <a:ext uri="{FF2B5EF4-FFF2-40B4-BE49-F238E27FC236}">
                <a16:creationId xmlns:a16="http://schemas.microsoft.com/office/drawing/2014/main" id="{F39A5AB0-6B06-5F39-9DB1-B1C4EEF03DBF}"/>
              </a:ext>
            </a:extLst>
          </p:cNvPr>
          <p:cNvGrpSpPr/>
          <p:nvPr/>
        </p:nvGrpSpPr>
        <p:grpSpPr>
          <a:xfrm>
            <a:off x="7217229" y="2852057"/>
            <a:ext cx="4659086" cy="2111829"/>
            <a:chOff x="7217229" y="2852057"/>
            <a:chExt cx="4659086" cy="2111829"/>
          </a:xfrm>
        </p:grpSpPr>
        <p:sp>
          <p:nvSpPr>
            <p:cNvPr id="8" name="TextBox 7">
              <a:extLst>
                <a:ext uri="{FF2B5EF4-FFF2-40B4-BE49-F238E27FC236}">
                  <a16:creationId xmlns:a16="http://schemas.microsoft.com/office/drawing/2014/main" id="{8A7C3D8F-4AF6-D27E-84CE-CBC6E90214E7}"/>
                </a:ext>
              </a:extLst>
            </p:cNvPr>
            <p:cNvSpPr txBox="1"/>
            <p:nvPr/>
          </p:nvSpPr>
          <p:spPr>
            <a:xfrm>
              <a:off x="10014858" y="3755572"/>
              <a:ext cx="1861457" cy="70788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pPr algn="ctr"/>
              <a:r>
                <a:rPr lang="en-US" sz="4000" dirty="0"/>
                <a:t>Iterate</a:t>
              </a:r>
            </a:p>
          </p:txBody>
        </p:sp>
        <p:cxnSp>
          <p:nvCxnSpPr>
            <p:cNvPr id="12" name="Straight Arrow Connector 11">
              <a:extLst>
                <a:ext uri="{FF2B5EF4-FFF2-40B4-BE49-F238E27FC236}">
                  <a16:creationId xmlns:a16="http://schemas.microsoft.com/office/drawing/2014/main" id="{A9D643C1-1F93-C15C-B06C-5B4C2781A043}"/>
                </a:ext>
              </a:extLst>
            </p:cNvPr>
            <p:cNvCxnSpPr/>
            <p:nvPr/>
          </p:nvCxnSpPr>
          <p:spPr>
            <a:xfrm flipH="1" flipV="1">
              <a:off x="7217229" y="2852057"/>
              <a:ext cx="2797629" cy="1099457"/>
            </a:xfrm>
            <a:prstGeom prst="straightConnector1">
              <a:avLst/>
            </a:prstGeom>
            <a:ln w="38100">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E57F8859-829D-683B-EFCF-6BD13194B155}"/>
                </a:ext>
              </a:extLst>
            </p:cNvPr>
            <p:cNvCxnSpPr>
              <a:cxnSpLocks/>
              <a:stCxn id="8" idx="1"/>
            </p:cNvCxnSpPr>
            <p:nvPr/>
          </p:nvCxnSpPr>
          <p:spPr>
            <a:xfrm flipH="1">
              <a:off x="7217229" y="4109515"/>
              <a:ext cx="2797629" cy="854371"/>
            </a:xfrm>
            <a:prstGeom prst="straightConnector1">
              <a:avLst/>
            </a:prstGeom>
            <a:ln w="38100">
              <a:prstDash val="dash"/>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5680670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Replication “crisis”</a:t>
            </a:r>
            <a:br>
              <a:rPr lang="en-US" dirty="0"/>
            </a:br>
            <a:r>
              <a:rPr lang="en-US" sz="3100" dirty="0"/>
              <a:t>Increasing rates of non-replicability in scientific studies</a:t>
            </a:r>
          </a:p>
        </p:txBody>
      </p:sp>
      <p:sp>
        <p:nvSpPr>
          <p:cNvPr id="3" name="Content Placeholder 2"/>
          <p:cNvSpPr>
            <a:spLocks noGrp="1"/>
          </p:cNvSpPr>
          <p:nvPr>
            <p:ph idx="1"/>
          </p:nvPr>
        </p:nvSpPr>
        <p:spPr/>
        <p:txBody>
          <a:bodyPr>
            <a:normAutofit/>
          </a:bodyPr>
          <a:lstStyle/>
          <a:p>
            <a:pPr>
              <a:lnSpc>
                <a:spcPct val="110000"/>
              </a:lnSpc>
            </a:pPr>
            <a:r>
              <a:rPr lang="en-US" dirty="0">
                <a:solidFill>
                  <a:srgbClr val="1C1D1E"/>
                </a:solidFill>
                <a:latin typeface="Open Sans" panose="020B0606030504020204" pitchFamily="34" charset="0"/>
              </a:rPr>
              <a:t>The crisis is especially prevalent in </a:t>
            </a:r>
            <a:r>
              <a:rPr lang="en-US" dirty="0">
                <a:solidFill>
                  <a:srgbClr val="1C1D1E"/>
                </a:solidFill>
                <a:latin typeface="Open Sans" panose="020B0606030504020204" pitchFamily="34" charset="0"/>
                <a:hlinkClick r:id="rId2"/>
              </a:rPr>
              <a:t>social sciences </a:t>
            </a:r>
            <a:endParaRPr lang="en-US" dirty="0">
              <a:solidFill>
                <a:srgbClr val="1C1D1E"/>
              </a:solidFill>
              <a:latin typeface="Open Sans" panose="020B0606030504020204" pitchFamily="34" charset="0"/>
            </a:endParaRPr>
          </a:p>
          <a:p>
            <a:pPr>
              <a:lnSpc>
                <a:spcPct val="110000"/>
              </a:lnSpc>
            </a:pPr>
            <a:r>
              <a:rPr lang="en-US" b="0" i="0" dirty="0">
                <a:solidFill>
                  <a:srgbClr val="1C1D1E"/>
                </a:solidFill>
                <a:effectLst/>
                <a:latin typeface="Open Sans" panose="020B0606030504020204" pitchFamily="34" charset="0"/>
              </a:rPr>
              <a:t>Replication means to reproduce the findings of a study with </a:t>
            </a:r>
            <a:r>
              <a:rPr lang="en-US" b="0" i="1" dirty="0">
                <a:solidFill>
                  <a:schemeClr val="accent6">
                    <a:lumMod val="75000"/>
                  </a:schemeClr>
                </a:solidFill>
                <a:effectLst/>
                <a:latin typeface="Open Sans" panose="020B0606030504020204" pitchFamily="34" charset="0"/>
              </a:rPr>
              <a:t>new data</a:t>
            </a:r>
            <a:r>
              <a:rPr lang="en-US" b="0" i="0" dirty="0">
                <a:solidFill>
                  <a:srgbClr val="1C1D1E"/>
                </a:solidFill>
                <a:effectLst/>
                <a:latin typeface="Open Sans" panose="020B0606030504020204" pitchFamily="34" charset="0"/>
              </a:rPr>
              <a:t>.</a:t>
            </a:r>
          </a:p>
          <a:p>
            <a:pPr>
              <a:lnSpc>
                <a:spcPct val="110000"/>
              </a:lnSpc>
            </a:pPr>
            <a:r>
              <a:rPr lang="en-US" dirty="0">
                <a:solidFill>
                  <a:srgbClr val="1C1D1E"/>
                </a:solidFill>
                <a:latin typeface="Open Sans" panose="020B0606030504020204" pitchFamily="34" charset="0"/>
              </a:rPr>
              <a:t>Replication is a fundamental tenet of science, including social science.</a:t>
            </a:r>
          </a:p>
          <a:p>
            <a:pPr>
              <a:lnSpc>
                <a:spcPct val="110000"/>
              </a:lnSpc>
            </a:pPr>
            <a:r>
              <a:rPr lang="en-US" b="0" i="0" dirty="0">
                <a:solidFill>
                  <a:srgbClr val="1C1D1E"/>
                </a:solidFill>
                <a:effectLst/>
                <a:latin typeface="Open Sans" panose="020B0606030504020204" pitchFamily="34" charset="0"/>
              </a:rPr>
              <a:t>Replicating studies with new independent data is </a:t>
            </a:r>
            <a:r>
              <a:rPr lang="en-US" i="1" dirty="0">
                <a:solidFill>
                  <a:schemeClr val="accent6">
                    <a:lumMod val="75000"/>
                  </a:schemeClr>
                </a:solidFill>
                <a:latin typeface="Open Sans" panose="020B0606030504020204" pitchFamily="34" charset="0"/>
              </a:rPr>
              <a:t>expensive</a:t>
            </a:r>
            <a:r>
              <a:rPr lang="en-US" b="0" i="0" dirty="0">
                <a:solidFill>
                  <a:srgbClr val="1C1D1E"/>
                </a:solidFill>
                <a:effectLst/>
                <a:latin typeface="Open Sans" panose="020B0606030504020204" pitchFamily="34" charset="0"/>
              </a:rPr>
              <a:t>, rarely published in </a:t>
            </a:r>
            <a:r>
              <a:rPr lang="en-US" i="1" dirty="0">
                <a:solidFill>
                  <a:schemeClr val="accent6">
                    <a:lumMod val="75000"/>
                  </a:schemeClr>
                </a:solidFill>
                <a:latin typeface="Open Sans" panose="020B0606030504020204" pitchFamily="34" charset="0"/>
              </a:rPr>
              <a:t>high-impact journals</a:t>
            </a:r>
          </a:p>
          <a:p>
            <a:pPr lvl="1">
              <a:lnSpc>
                <a:spcPct val="110000"/>
              </a:lnSpc>
            </a:pPr>
            <a:endParaRPr lang="en-US" sz="1200" dirty="0"/>
          </a:p>
        </p:txBody>
      </p:sp>
    </p:spTree>
    <p:extLst>
      <p:ext uri="{BB962C8B-B14F-4D97-AF65-F5344CB8AC3E}">
        <p14:creationId xmlns:p14="http://schemas.microsoft.com/office/powerpoint/2010/main" val="9079825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C79741-50B7-3117-0689-7DB7517990C4}"/>
              </a:ext>
            </a:extLst>
          </p:cNvPr>
          <p:cNvSpPr>
            <a:spLocks noGrp="1"/>
          </p:cNvSpPr>
          <p:nvPr>
            <p:ph type="title"/>
          </p:nvPr>
        </p:nvSpPr>
        <p:spPr/>
        <p:txBody>
          <a:bodyPr/>
          <a:lstStyle/>
          <a:p>
            <a:r>
              <a:rPr lang="en-US" dirty="0"/>
              <a:t>Studies on Reproducibility</a:t>
            </a:r>
          </a:p>
        </p:txBody>
      </p:sp>
      <p:sp>
        <p:nvSpPr>
          <p:cNvPr id="3" name="Content Placeholder 2">
            <a:extLst>
              <a:ext uri="{FF2B5EF4-FFF2-40B4-BE49-F238E27FC236}">
                <a16:creationId xmlns:a16="http://schemas.microsoft.com/office/drawing/2014/main" id="{1400A238-861B-EE7F-722D-BC6B4E98AE43}"/>
              </a:ext>
            </a:extLst>
          </p:cNvPr>
          <p:cNvSpPr>
            <a:spLocks noGrp="1"/>
          </p:cNvSpPr>
          <p:nvPr>
            <p:ph idx="1"/>
          </p:nvPr>
        </p:nvSpPr>
        <p:spPr/>
        <p:txBody>
          <a:bodyPr>
            <a:normAutofit fontScale="25000" lnSpcReduction="20000"/>
          </a:bodyPr>
          <a:lstStyle/>
          <a:p>
            <a:pPr>
              <a:lnSpc>
                <a:spcPct val="120000"/>
              </a:lnSpc>
              <a:spcBef>
                <a:spcPts val="0"/>
              </a:spcBef>
            </a:pPr>
            <a:r>
              <a:rPr lang="en-US" sz="4400" dirty="0"/>
              <a:t>Johnson VE, Payne RD, Wang T, Asher A, Mandal S. </a:t>
            </a:r>
            <a:r>
              <a:rPr lang="en-US" sz="4400" dirty="0">
                <a:hlinkClick r:id="rId2"/>
              </a:rPr>
              <a:t>On the Reproducibility of Psychological Science</a:t>
            </a:r>
            <a:r>
              <a:rPr lang="en-US" sz="4400" dirty="0"/>
              <a:t>. J Am Stat Assoc. 2017; 112(517): 1-10. </a:t>
            </a:r>
            <a:r>
              <a:rPr lang="en-US" sz="4400" dirty="0" err="1"/>
              <a:t>doi</a:t>
            </a:r>
            <a:r>
              <a:rPr lang="en-US" sz="4400" dirty="0"/>
              <a:t>: 10.1080/01621459.2016.1240079. </a:t>
            </a:r>
          </a:p>
          <a:p>
            <a:pPr>
              <a:lnSpc>
                <a:spcPct val="120000"/>
              </a:lnSpc>
              <a:spcBef>
                <a:spcPts val="0"/>
              </a:spcBef>
            </a:pPr>
            <a:endParaRPr lang="en-US" sz="4400" dirty="0"/>
          </a:p>
          <a:p>
            <a:pPr>
              <a:lnSpc>
                <a:spcPct val="120000"/>
              </a:lnSpc>
              <a:spcBef>
                <a:spcPts val="0"/>
              </a:spcBef>
            </a:pPr>
            <a:r>
              <a:rPr lang="en-US" sz="4400" dirty="0"/>
              <a:t>A. Brodeur, D. Valenta, A. </a:t>
            </a:r>
            <a:r>
              <a:rPr lang="en-US" sz="4400" dirty="0" err="1"/>
              <a:t>Marcoci</a:t>
            </a:r>
            <a:r>
              <a:rPr lang="en-US" sz="4400" dirty="0"/>
              <a:t>, J.P. Aparicio, D. Mikola, B. </a:t>
            </a:r>
            <a:r>
              <a:rPr lang="en-US" sz="4400" dirty="0" err="1"/>
              <a:t>Barbarioli</a:t>
            </a:r>
            <a:r>
              <a:rPr lang="en-US" sz="4400" dirty="0"/>
              <a:t>, R. Alexander, L. Deer, T. Stafford, L. </a:t>
            </a:r>
            <a:r>
              <a:rPr lang="en-US" sz="4400" dirty="0" err="1"/>
              <a:t>Vilhuber</a:t>
            </a:r>
            <a:r>
              <a:rPr lang="en-US" sz="4400" dirty="0"/>
              <a:t>, G. Bensch, F. Motoki, M. Abdelhady, Y. </a:t>
            </a:r>
            <a:r>
              <a:rPr lang="en-US" sz="4400" dirty="0" err="1"/>
              <a:t>Abdelmoula</a:t>
            </a:r>
            <a:r>
              <a:rPr lang="en-US" sz="4400" dirty="0"/>
              <a:t>, G.A. Baki, T. Aguirre, S. Aiyer, S. Akhtar, F. Akhtar, M.R. </a:t>
            </a:r>
            <a:r>
              <a:rPr lang="en-US" sz="4400" dirty="0" err="1"/>
              <a:t>Albada</a:t>
            </a:r>
            <a:r>
              <a:rPr lang="en-US" sz="4400" dirty="0"/>
              <a:t>, M. Altman, D. </a:t>
            </a:r>
            <a:r>
              <a:rPr lang="en-US" sz="4400" dirty="0" err="1"/>
              <a:t>Angenendt</a:t>
            </a:r>
            <a:r>
              <a:rPr lang="en-US" sz="4400" dirty="0"/>
              <a:t>, Z. </a:t>
            </a:r>
            <a:r>
              <a:rPr lang="en-US" sz="4400" dirty="0" err="1"/>
              <a:t>Arjmandi</a:t>
            </a:r>
            <a:r>
              <a:rPr lang="en-US" sz="4400" dirty="0"/>
              <a:t> Lari, J.A. De León Tejada, D.R. Arana, I. </a:t>
            </a:r>
            <a:r>
              <a:rPr lang="en-US" sz="4400" dirty="0" err="1"/>
              <a:t>Asanov</a:t>
            </a:r>
            <a:r>
              <a:rPr lang="en-US" sz="4400" dirty="0"/>
              <a:t>, A. Noha, R. Ashong, T. Auer, F.J. Bahamonde-Birke, B.J. Baker, S.M. Bartram, D. Bao, L. </a:t>
            </a:r>
            <a:r>
              <a:rPr lang="en-US" sz="4400" dirty="0" err="1"/>
              <a:t>Batinovic</a:t>
            </a:r>
            <a:r>
              <a:rPr lang="en-US" sz="4400" dirty="0"/>
              <a:t>, T. </a:t>
            </a:r>
            <a:r>
              <a:rPr lang="en-US" sz="4400" dirty="0" err="1"/>
              <a:t>Batistoni</a:t>
            </a:r>
            <a:r>
              <a:rPr lang="en-US" sz="4400" dirty="0"/>
              <a:t>, M. </a:t>
            </a:r>
            <a:r>
              <a:rPr lang="en-US" sz="4400" dirty="0" err="1"/>
              <a:t>Beeder</a:t>
            </a:r>
            <a:r>
              <a:rPr lang="en-US" sz="4400" dirty="0"/>
              <a:t>, L. Beland, C. Gero Bienz, C.B. </a:t>
            </a:r>
            <a:r>
              <a:rPr lang="en-US" sz="4400" dirty="0" err="1"/>
              <a:t>Aryanto</a:t>
            </a:r>
            <a:r>
              <a:rPr lang="en-US" sz="4400" dirty="0"/>
              <a:t>, C. </a:t>
            </a:r>
            <a:r>
              <a:rPr lang="en-US" sz="4400" dirty="0" err="1"/>
              <a:t>Bolibaugh</a:t>
            </a:r>
            <a:r>
              <a:rPr lang="en-US" sz="4400" dirty="0"/>
              <a:t>, C. Bonander, R. Bravo, E. Bronnikov, S. Bruns, N. </a:t>
            </a:r>
            <a:r>
              <a:rPr lang="en-US" sz="4400" dirty="0" err="1"/>
              <a:t>Buliskeria</a:t>
            </a:r>
            <a:r>
              <a:rPr lang="en-US" sz="4400" dirty="0"/>
              <a:t>, S. Caicedo-Silva, A. Calef, J. Sebastian </a:t>
            </a:r>
            <a:r>
              <a:rPr lang="en-US" sz="4400" dirty="0" err="1"/>
              <a:t>Cano</a:t>
            </a:r>
            <a:r>
              <a:rPr lang="en-US" sz="4400" dirty="0"/>
              <a:t> Arias, G. A. Castillo Alvarez, S. Caulker, S. </a:t>
            </a:r>
            <a:r>
              <a:rPr lang="en-US" sz="4400" dirty="0" err="1"/>
              <a:t>Cepenas</a:t>
            </a:r>
            <a:r>
              <a:rPr lang="en-US" sz="4400" dirty="0"/>
              <a:t>, A. </a:t>
            </a:r>
            <a:r>
              <a:rPr lang="en-US" sz="4400" dirty="0" err="1"/>
              <a:t>Chatton</a:t>
            </a:r>
            <a:r>
              <a:rPr lang="en-US" sz="4400" dirty="0"/>
              <a:t>, Z. Chen, N. Chioma </a:t>
            </a:r>
            <a:r>
              <a:rPr lang="en-US" sz="4400" dirty="0" err="1"/>
              <a:t>Ewurum</a:t>
            </a:r>
            <a:r>
              <a:rPr lang="en-US" sz="4400" dirty="0"/>
              <a:t>, A. </a:t>
            </a:r>
            <a:r>
              <a:rPr lang="en-US" sz="4400" dirty="0" err="1"/>
              <a:t>Ciocîrlan</a:t>
            </a:r>
            <a:r>
              <a:rPr lang="en-US" sz="4400" dirty="0"/>
              <a:t>, F.J. </a:t>
            </a:r>
            <a:r>
              <a:rPr lang="en-US" sz="4400" dirty="0" err="1"/>
              <a:t>Clouth</a:t>
            </a:r>
            <a:r>
              <a:rPr lang="en-US" sz="4400" dirty="0"/>
              <a:t>, J. Collins, N. Cook, C. Cornejo, J. Craveiro, J. </a:t>
            </a:r>
            <a:r>
              <a:rPr lang="en-US" sz="4400" dirty="0" err="1"/>
              <a:t>Créchet</a:t>
            </a:r>
            <a:r>
              <a:rPr lang="en-US" sz="4400" dirty="0"/>
              <a:t>, J. Cui, N. Chalil </a:t>
            </a:r>
            <a:r>
              <a:rPr lang="en-US" sz="4400" dirty="0" err="1"/>
              <a:t>Vayalabron</a:t>
            </a:r>
            <a:r>
              <a:rPr lang="en-US" sz="4400" dirty="0"/>
              <a:t>, C. </a:t>
            </a:r>
            <a:r>
              <a:rPr lang="en-US" sz="4400" dirty="0" err="1"/>
              <a:t>Czymara</a:t>
            </a:r>
            <a:r>
              <a:rPr lang="en-US" sz="4400" dirty="0"/>
              <a:t>, C.D. Bermúdez Jaramillo, H. Datta, L. </a:t>
            </a:r>
            <a:r>
              <a:rPr lang="en-US" sz="4400" dirty="0" err="1"/>
              <a:t>Denoo</a:t>
            </a:r>
            <a:r>
              <a:rPr lang="en-US" sz="4400" dirty="0"/>
              <a:t>, A. Dhaliwal, N. Dhameja, E. Djemai, E. </a:t>
            </a:r>
            <a:r>
              <a:rPr lang="en-US" sz="4400" dirty="0" err="1"/>
              <a:t>Dujeancourt</a:t>
            </a:r>
            <a:r>
              <a:rPr lang="en-US" sz="4400" dirty="0"/>
              <a:t>, U. Dündar, T. Duprey, Y. Eissa, Y. El Fassi, I. El Fassi, K. Ellis, A. </a:t>
            </a:r>
            <a:r>
              <a:rPr lang="en-US" sz="4400" dirty="0" err="1"/>
              <a:t>Elminejad</a:t>
            </a:r>
            <a:r>
              <a:rPr lang="en-US" sz="4400" dirty="0"/>
              <a:t>, M. Elsherif, A. </a:t>
            </a:r>
            <a:r>
              <a:rPr lang="en-US" sz="4400" dirty="0" err="1"/>
              <a:t>Emirmahmutoglu</a:t>
            </a:r>
            <a:r>
              <a:rPr lang="en-US" sz="4400" dirty="0"/>
              <a:t>, G. </a:t>
            </a:r>
            <a:r>
              <a:rPr lang="en-US" sz="4400" dirty="0" err="1"/>
              <a:t>Etingin</a:t>
            </a:r>
            <a:r>
              <a:rPr lang="en-US" sz="4400" dirty="0"/>
              <a:t>-Frati, E. Eze, J.F. </a:t>
            </a:r>
            <a:r>
              <a:rPr lang="en-US" sz="4400" dirty="0" err="1"/>
              <a:t>Dollbaum</a:t>
            </a:r>
            <a:r>
              <a:rPr lang="en-US" sz="4400" dirty="0"/>
              <a:t>, J. Feld, A. Felipe Rengifo Jaramillo, G. Fenig, V. Fernandes, L. Fiala, L. Fink, M. </a:t>
            </a:r>
            <a:r>
              <a:rPr lang="en-US" sz="4400" dirty="0" err="1"/>
              <a:t>Firouzjaeiangalougah</a:t>
            </a:r>
            <a:r>
              <a:rPr lang="en-US" sz="4400" dirty="0"/>
              <a:t>, S. Fish, J. Fitzgerald, R. Forshaw, A. Fortier-Chouinard, L. </a:t>
            </a:r>
            <a:r>
              <a:rPr lang="en-US" sz="4400" dirty="0" err="1"/>
              <a:t>Fréget</a:t>
            </a:r>
            <a:r>
              <a:rPr lang="en-US" sz="4400" dirty="0"/>
              <a:t>, J. Frese, J. Gabani, S. Gallegos, M.C. </a:t>
            </a:r>
            <a:r>
              <a:rPr lang="en-US" sz="4400" dirty="0" err="1"/>
              <a:t>Gamill</a:t>
            </a:r>
            <a:r>
              <a:rPr lang="en-US" sz="4400" dirty="0"/>
              <a:t>, A. Gáspár, R. </a:t>
            </a:r>
            <a:r>
              <a:rPr lang="en-US" sz="4400" dirty="0" err="1"/>
              <a:t>Gauriot</a:t>
            </a:r>
            <a:r>
              <a:rPr lang="en-US" sz="4400" dirty="0"/>
              <a:t>, E. Gavrilova, D. Geraldes, G.G. Cantone, G. Gibson, D. </a:t>
            </a:r>
            <a:r>
              <a:rPr lang="en-US" sz="4400" dirty="0" err="1"/>
              <a:t>Goldschmitt</a:t>
            </a:r>
            <a:r>
              <a:rPr lang="en-US" sz="4400" dirty="0"/>
              <a:t>, A. Gourdon-</a:t>
            </a:r>
            <a:r>
              <a:rPr lang="en-US" sz="4400" dirty="0" err="1"/>
              <a:t>Kanhukamwe</a:t>
            </a:r>
            <a:r>
              <a:rPr lang="en-US" sz="4400" dirty="0"/>
              <a:t>, A. Gregor de Varda, I. Grigoryeva, A. Gugushvili, A.H.A. Fletcher, F. Habermann, M. Hablicsek, J. Haddad, J.D. Hall, O. Hammar, M. Hassouneh, C.I. Hausladen, S.C.F. Hendrikse, M. Hepplewhite, A.T.Y. Ho, S. Hogan-Hennessy, E. Howley, G. Huang, H. </a:t>
            </a:r>
            <a:r>
              <a:rPr lang="en-US" sz="4400" dirty="0" err="1"/>
              <a:t>Hulstaert</a:t>
            </a:r>
            <a:r>
              <a:rPr lang="en-US" sz="4400" dirty="0"/>
              <a:t>, Z.G. </a:t>
            </a:r>
            <a:r>
              <a:rPr lang="en-US" sz="4400" dirty="0" err="1"/>
              <a:t>Ilchovska</a:t>
            </a:r>
            <a:r>
              <a:rPr lang="en-US" sz="4400" dirty="0"/>
              <a:t>, P. Jaimes Santamaria, N. Jakobsson, J. Jansson, E. Jarosz, H. </a:t>
            </a:r>
            <a:r>
              <a:rPr lang="en-US" sz="4400" dirty="0" err="1"/>
              <a:t>Jebeli</a:t>
            </a:r>
            <a:r>
              <a:rPr lang="en-US" sz="4400" dirty="0"/>
              <a:t>, Y. Jiang, H. Junaid, R. </a:t>
            </a:r>
            <a:r>
              <a:rPr lang="en-US" sz="4400" dirty="0" err="1"/>
              <a:t>Kalluraya</a:t>
            </a:r>
            <a:r>
              <a:rPr lang="en-US" sz="4400" dirty="0"/>
              <a:t>, S. Karim, E. Kelly, E. Kimel, S. </a:t>
            </a:r>
            <a:r>
              <a:rPr lang="en-US" sz="4400" dirty="0" err="1"/>
              <a:t>Kingsuwankul</a:t>
            </a:r>
            <a:r>
              <a:rPr lang="en-US" sz="4400" dirty="0"/>
              <a:t>, V. </a:t>
            </a:r>
            <a:r>
              <a:rPr lang="en-US" sz="4400" dirty="0" err="1"/>
              <a:t>Klotzbücher</a:t>
            </a:r>
            <a:r>
              <a:rPr lang="en-US" sz="4400" dirty="0"/>
              <a:t>, D. </a:t>
            </a:r>
            <a:r>
              <a:rPr lang="en-US" sz="4400" dirty="0" err="1"/>
              <a:t>Krähmer</a:t>
            </a:r>
            <a:r>
              <a:rPr lang="en-US" sz="4400" dirty="0"/>
              <a:t>, P. </a:t>
            </a:r>
            <a:r>
              <a:rPr lang="en-US" sz="4400" dirty="0" err="1"/>
              <a:t>Krūminas</a:t>
            </a:r>
            <a:r>
              <a:rPr lang="en-US" sz="4400" dirty="0"/>
              <a:t>, N. Kruus, E. </a:t>
            </a:r>
            <a:r>
              <a:rPr lang="en-US" sz="4400" dirty="0" err="1"/>
              <a:t>Kujansuu</a:t>
            </a:r>
            <a:r>
              <a:rPr lang="en-US" sz="4400" dirty="0"/>
              <a:t>, C.F. Kurz, S. Küster, B. Lee-Whiting, F. Lewandowski, T. Li, R. Li, D. Liu, J. Liu, H. Lo, K. Loter, F. Macedo Dias, C.R. Madan, N. </a:t>
            </a:r>
            <a:r>
              <a:rPr lang="en-US" sz="4400" dirty="0" err="1"/>
              <a:t>Mäder</a:t>
            </a:r>
            <a:r>
              <a:rPr lang="en-US" sz="4400" dirty="0"/>
              <a:t>, M. Mandas, C. Mantilla, J. Marcus, D. Marino Fages, X. Martin, R. McWay, D. Medina-Gaspar, S. Meng, L. Meng, S. Merz, A.P. Miller, T. Mirabel, D.D. Mishra, S. Mishra, B.W. Moges, M. </a:t>
            </a:r>
            <a:r>
              <a:rPr lang="en-US" sz="4400" dirty="0" err="1"/>
              <a:t>Mohandes</a:t>
            </a:r>
            <a:r>
              <a:rPr lang="en-US" sz="4400" dirty="0"/>
              <a:t> </a:t>
            </a:r>
            <a:r>
              <a:rPr lang="en-US" sz="4400" dirty="0" err="1"/>
              <a:t>Mojarrad</a:t>
            </a:r>
            <a:r>
              <a:rPr lang="en-US" sz="4400" dirty="0"/>
              <a:t>, M. Mohnen, L. Morin, L. </a:t>
            </a:r>
            <a:r>
              <a:rPr lang="en-US" sz="4400" dirty="0" err="1"/>
              <a:t>Muehlenbachs</a:t>
            </a:r>
            <a:r>
              <a:rPr lang="en-US" sz="4400" dirty="0"/>
              <a:t>, G. Mullin, A. </a:t>
            </a:r>
            <a:r>
              <a:rPr lang="en-US" sz="4400" dirty="0" err="1"/>
              <a:t>Musulan</a:t>
            </a:r>
            <a:r>
              <a:rPr lang="en-US" sz="4400" dirty="0"/>
              <a:t>, S. </a:t>
            </a:r>
            <a:r>
              <a:rPr lang="en-US" sz="4400" dirty="0" err="1"/>
              <a:t>Muzzì</a:t>
            </a:r>
            <a:r>
              <a:rPr lang="en-US" sz="4400" dirty="0"/>
              <a:t>, J.A.C. Myers, F. Neubauer, T. Nguyen, A. Niazi, A. Nordstrom, B. Nowak, D. </a:t>
            </a:r>
            <a:r>
              <a:rPr lang="en-US" sz="4400" dirty="0" err="1"/>
              <a:t>O’Habib</a:t>
            </a:r>
            <a:r>
              <a:rPr lang="en-US" sz="4400" dirty="0"/>
              <a:t>, T. </a:t>
            </a:r>
            <a:r>
              <a:rPr lang="en-US" sz="4400" dirty="0" err="1"/>
              <a:t>Ölkers</a:t>
            </a:r>
            <a:r>
              <a:rPr lang="en-US" sz="4400" dirty="0"/>
              <a:t>, J. Ong, V. Orozco Castiblanco, </a:t>
            </a:r>
            <a:r>
              <a:rPr lang="en-US" sz="4400" dirty="0" err="1"/>
              <a:t>Ö</a:t>
            </a:r>
            <a:r>
              <a:rPr lang="en-US" sz="4400" dirty="0"/>
              <a:t>. </a:t>
            </a:r>
            <a:r>
              <a:rPr lang="en-US" sz="4400" dirty="0" err="1"/>
              <a:t>Özak</a:t>
            </a:r>
            <a:r>
              <a:rPr lang="en-US" sz="4400" dirty="0"/>
              <a:t>, A.I. </a:t>
            </a:r>
            <a:r>
              <a:rPr lang="en-US" sz="4400" dirty="0" err="1"/>
              <a:t>Ozkes</a:t>
            </a:r>
            <a:r>
              <a:rPr lang="en-US" sz="4400" dirty="0"/>
              <a:t>, M. </a:t>
            </a:r>
            <a:r>
              <a:rPr lang="en-US" sz="4400" dirty="0" err="1"/>
              <a:t>Paaso</a:t>
            </a:r>
            <a:r>
              <a:rPr lang="en-US" sz="4400" dirty="0"/>
              <a:t>, S. Pandey, V. Papazoglou, R. </a:t>
            </a:r>
            <a:r>
              <a:rPr lang="en-US" sz="4400" dirty="0" err="1"/>
              <a:t>Penheiro</a:t>
            </a:r>
            <a:r>
              <a:rPr lang="en-US" sz="4400" dirty="0"/>
              <a:t>, L. Pham, U. </a:t>
            </a:r>
            <a:r>
              <a:rPr lang="en-US" sz="4400" dirty="0" err="1"/>
              <a:t>Phieler</a:t>
            </a:r>
            <a:r>
              <a:rPr lang="en-US" sz="4400" dirty="0"/>
              <a:t>, P. Pütz, Q. Qi, J. Qiu, M.T. Rein, D.A. Reinstein, J. Repo, N. Rudolf, S. Saha, O. Saka, C. Saponaro, G. Sator, M. </a:t>
            </a:r>
            <a:r>
              <a:rPr lang="en-US" sz="4400" dirty="0" err="1"/>
              <a:t>Schoenmakers</a:t>
            </a:r>
            <a:r>
              <a:rPr lang="en-US" sz="4400" dirty="0"/>
              <a:t>, R. Seri, M. Shah, P. Sibille, C. </a:t>
            </a:r>
            <a:r>
              <a:rPr lang="en-US" sz="4400" dirty="0" err="1"/>
              <a:t>Siemroth</a:t>
            </a:r>
            <a:r>
              <a:rPr lang="en-US" sz="4400" dirty="0"/>
              <a:t>, V. </a:t>
            </a:r>
            <a:r>
              <a:rPr lang="en-US" sz="4400" dirty="0" err="1"/>
              <a:t>Skavysh</a:t>
            </a:r>
            <a:r>
              <a:rPr lang="en-US" sz="4400" dirty="0"/>
              <a:t>, B. Slater, W. Song, S. </a:t>
            </a:r>
            <a:r>
              <a:rPr lang="en-US" sz="4400" dirty="0" err="1"/>
              <a:t>Staubli</a:t>
            </a:r>
            <a:r>
              <a:rPr lang="en-US" sz="4400" dirty="0"/>
              <a:t>, T. Steindl, N.S. Waongo, P. Stott, S. Strobel, R. </a:t>
            </a:r>
            <a:r>
              <a:rPr lang="en-US" sz="4400" dirty="0" err="1"/>
              <a:t>Sudhaharan</a:t>
            </a:r>
            <a:r>
              <a:rPr lang="en-US" sz="4400" dirty="0"/>
              <a:t>, P. Sun, S.D. Swain, O. Talavera, H.M. </a:t>
            </a:r>
            <a:r>
              <a:rPr lang="en-US" sz="4400" dirty="0" err="1"/>
              <a:t>Tantiangco</a:t>
            </a:r>
            <a:r>
              <a:rPr lang="en-US" sz="4400" dirty="0"/>
              <a:t>, G. Tarasenko, B. </a:t>
            </a:r>
            <a:r>
              <a:rPr lang="en-US" sz="4400" dirty="0" err="1"/>
              <a:t>Tarlinton</a:t>
            </a:r>
            <a:r>
              <a:rPr lang="en-US" sz="4400" dirty="0"/>
              <a:t>, M. Tarraf, K. Teoh, R. Thériault, B. Thompson, T. Tian, W. Tian, E. Tolani, N. Borgen, S. </a:t>
            </a:r>
            <a:r>
              <a:rPr lang="en-US" sz="4400" dirty="0" err="1"/>
              <a:t>Topstad</a:t>
            </a:r>
            <a:r>
              <a:rPr lang="en-US" sz="4400" dirty="0"/>
              <a:t> Borgen, J. Torralba, C. Velez-Ospina, M.W. Mak, L. Wallrich, Z. Wang, L. Ward, M.D. Webb, D. Webb, B.S. Weber, C. Weber, W. Weng, C. </a:t>
            </a:r>
            <a:r>
              <a:rPr lang="en-US" sz="4400" dirty="0" err="1"/>
              <a:t>Westheide</a:t>
            </a:r>
            <a:r>
              <a:rPr lang="en-US" sz="4400" dirty="0"/>
              <a:t>, T. Wilkinson, K. Wong, M. </a:t>
            </a:r>
            <a:r>
              <a:rPr lang="en-US" sz="4400" dirty="0" err="1"/>
              <a:t>Wroński</a:t>
            </a:r>
            <a:r>
              <a:rPr lang="en-US" sz="4400" dirty="0"/>
              <a:t>, Z. Wu, Q. Wu, V.Y. Wu, B. Xiao, F. Xu, C. Xu, P. Yadav, Y. Yang Chou, L. Yap, M. Yazbeck, B. Yao, Z. </a:t>
            </a:r>
            <a:r>
              <a:rPr lang="en-US" sz="4400" dirty="0" err="1"/>
              <a:t>Zagrodzka</a:t>
            </a:r>
            <a:r>
              <a:rPr lang="en-US" sz="4400" dirty="0"/>
              <a:t>, T. Zahra, M. Zaneva, X. Zhang, Z. Zhao, H. Zhong, A. </a:t>
            </a:r>
            <a:r>
              <a:rPr lang="en-US" sz="4400" dirty="0" err="1"/>
              <a:t>Zirgulis</a:t>
            </a:r>
            <a:r>
              <a:rPr lang="en-US" sz="4400" dirty="0"/>
              <a:t>, J. Zou, F. </a:t>
            </a:r>
            <a:r>
              <a:rPr lang="en-US" sz="4400" dirty="0" err="1"/>
              <a:t>Zoutman</a:t>
            </a:r>
            <a:r>
              <a:rPr lang="en-US" sz="4400" dirty="0"/>
              <a:t>, &amp; C. </a:t>
            </a:r>
            <a:r>
              <a:rPr lang="en-US" sz="4400" dirty="0" err="1"/>
              <a:t>Zozoungbo</a:t>
            </a:r>
            <a:r>
              <a:rPr lang="en-US" sz="4400" dirty="0"/>
              <a:t>, </a:t>
            </a:r>
            <a:r>
              <a:rPr lang="en-US" sz="4400" dirty="0">
                <a:hlinkClick r:id="rId3"/>
              </a:rPr>
              <a:t>AI-assisted teams outperform AI-led teams but not human-only teams in assessing research reproducibility in quantitative social science</a:t>
            </a:r>
            <a:r>
              <a:rPr lang="en-US" sz="4400" dirty="0"/>
              <a:t>, Proc. Natl. Acad. Sci. U.S.A. 123 (22) e2524747123, https://</a:t>
            </a:r>
            <a:r>
              <a:rPr lang="en-US" sz="4400" dirty="0" err="1"/>
              <a:t>doi.org</a:t>
            </a:r>
            <a:r>
              <a:rPr lang="en-US" sz="4400" dirty="0"/>
              <a:t>/10.1073/pnas.2524747123 (2026).</a:t>
            </a:r>
          </a:p>
          <a:p>
            <a:pPr>
              <a:lnSpc>
                <a:spcPct val="110000"/>
              </a:lnSpc>
              <a:spcBef>
                <a:spcPts val="0"/>
              </a:spcBef>
              <a:spcAft>
                <a:spcPts val="600"/>
              </a:spcAft>
            </a:pPr>
            <a:endParaRPr lang="en-US" dirty="0"/>
          </a:p>
          <a:p>
            <a:endParaRPr lang="en-US" dirty="0"/>
          </a:p>
        </p:txBody>
      </p:sp>
    </p:spTree>
    <p:extLst>
      <p:ext uri="{BB962C8B-B14F-4D97-AF65-F5344CB8AC3E}">
        <p14:creationId xmlns:p14="http://schemas.microsoft.com/office/powerpoint/2010/main" val="4913152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0A4C38-4919-60DD-9719-12F0BA1D9C87}"/>
              </a:ext>
            </a:extLst>
          </p:cNvPr>
          <p:cNvSpPr>
            <a:spLocks noGrp="1"/>
          </p:cNvSpPr>
          <p:nvPr>
            <p:ph type="title"/>
          </p:nvPr>
        </p:nvSpPr>
        <p:spPr/>
        <p:txBody>
          <a:bodyPr/>
          <a:lstStyle/>
          <a:p>
            <a:r>
              <a:rPr lang="en-US" dirty="0"/>
              <a:t>Why is that happening?</a:t>
            </a:r>
          </a:p>
        </p:txBody>
      </p:sp>
      <p:sp>
        <p:nvSpPr>
          <p:cNvPr id="3" name="Content Placeholder 2">
            <a:extLst>
              <a:ext uri="{FF2B5EF4-FFF2-40B4-BE49-F238E27FC236}">
                <a16:creationId xmlns:a16="http://schemas.microsoft.com/office/drawing/2014/main" id="{8D575607-774D-0AA2-28BC-12C5A64AD8D0}"/>
              </a:ext>
            </a:extLst>
          </p:cNvPr>
          <p:cNvSpPr>
            <a:spLocks noGrp="1"/>
          </p:cNvSpPr>
          <p:nvPr>
            <p:ph idx="1"/>
          </p:nvPr>
        </p:nvSpPr>
        <p:spPr>
          <a:xfrm>
            <a:off x="838200" y="1825625"/>
            <a:ext cx="10515600" cy="3230870"/>
          </a:xfrm>
        </p:spPr>
        <p:txBody>
          <a:bodyPr>
            <a:normAutofit/>
          </a:bodyPr>
          <a:lstStyle/>
          <a:p>
            <a:pPr>
              <a:lnSpc>
                <a:spcPct val="110000"/>
              </a:lnSpc>
            </a:pPr>
            <a:r>
              <a:rPr lang="en-US" sz="2400" dirty="0">
                <a:solidFill>
                  <a:srgbClr val="1C1D1E"/>
                </a:solidFill>
                <a:latin typeface="Open Sans" panose="020B0606030504020204" pitchFamily="34" charset="0"/>
              </a:rPr>
              <a:t>Fraud</a:t>
            </a:r>
          </a:p>
          <a:p>
            <a:pPr>
              <a:lnSpc>
                <a:spcPct val="110000"/>
              </a:lnSpc>
            </a:pPr>
            <a:r>
              <a:rPr lang="en-US" sz="2400" dirty="0">
                <a:solidFill>
                  <a:srgbClr val="1C1D1E"/>
                </a:solidFill>
                <a:latin typeface="Open Sans" panose="020B0606030504020204" pitchFamily="34" charset="0"/>
              </a:rPr>
              <a:t>Poorly conducted science </a:t>
            </a:r>
          </a:p>
          <a:p>
            <a:pPr>
              <a:lnSpc>
                <a:spcPct val="110000"/>
              </a:lnSpc>
            </a:pPr>
            <a:r>
              <a:rPr lang="en-US" sz="2400" dirty="0">
                <a:solidFill>
                  <a:srgbClr val="1C1D1E"/>
                </a:solidFill>
                <a:latin typeface="Open Sans" panose="020B0606030504020204" pitchFamily="34" charset="0"/>
              </a:rPr>
              <a:t>Mistakes </a:t>
            </a:r>
          </a:p>
          <a:p>
            <a:pPr>
              <a:lnSpc>
                <a:spcPct val="110000"/>
              </a:lnSpc>
            </a:pPr>
            <a:r>
              <a:rPr lang="en-US" sz="2400" dirty="0">
                <a:solidFill>
                  <a:srgbClr val="1C1D1E"/>
                </a:solidFill>
                <a:latin typeface="Open Sans" panose="020B0606030504020204" pitchFamily="34" charset="0"/>
              </a:rPr>
              <a:t>Poor description of methods  </a:t>
            </a:r>
          </a:p>
          <a:p>
            <a:pPr>
              <a:lnSpc>
                <a:spcPct val="110000"/>
              </a:lnSpc>
            </a:pPr>
            <a:r>
              <a:rPr lang="en-US" sz="2400" dirty="0">
                <a:solidFill>
                  <a:srgbClr val="1C1D1E"/>
                </a:solidFill>
                <a:latin typeface="Open Sans" panose="020B0606030504020204" pitchFamily="34" charset="0"/>
              </a:rPr>
              <a:t>No documentation of decisions that seemed unimportant</a:t>
            </a:r>
          </a:p>
          <a:p>
            <a:pPr>
              <a:lnSpc>
                <a:spcPct val="110000"/>
              </a:lnSpc>
            </a:pPr>
            <a:endParaRPr lang="en-US" sz="2400" dirty="0">
              <a:solidFill>
                <a:srgbClr val="1C1D1E"/>
              </a:solidFill>
              <a:latin typeface="Open Sans" panose="020B0606030504020204" pitchFamily="34" charset="0"/>
            </a:endParaRPr>
          </a:p>
          <a:p>
            <a:pPr>
              <a:lnSpc>
                <a:spcPct val="110000"/>
              </a:lnSpc>
            </a:pPr>
            <a:endParaRPr lang="en-US" sz="2400" dirty="0">
              <a:solidFill>
                <a:srgbClr val="1C1D1E"/>
              </a:solidFill>
              <a:latin typeface="Open Sans" panose="020B0606030504020204" pitchFamily="34" charset="0"/>
            </a:endParaRPr>
          </a:p>
        </p:txBody>
      </p:sp>
      <p:sp>
        <p:nvSpPr>
          <p:cNvPr id="5" name="TextBox 4">
            <a:extLst>
              <a:ext uri="{FF2B5EF4-FFF2-40B4-BE49-F238E27FC236}">
                <a16:creationId xmlns:a16="http://schemas.microsoft.com/office/drawing/2014/main" id="{B583B921-4D48-0C37-4AF2-2781DCEF8DB3}"/>
              </a:ext>
            </a:extLst>
          </p:cNvPr>
          <p:cNvSpPr txBox="1"/>
          <p:nvPr/>
        </p:nvSpPr>
        <p:spPr>
          <a:xfrm>
            <a:off x="2698955" y="1825625"/>
            <a:ext cx="2502865" cy="369332"/>
          </a:xfrm>
          <a:prstGeom prst="rect">
            <a:avLst/>
          </a:prstGeom>
          <a:noFill/>
        </p:spPr>
        <p:txBody>
          <a:bodyPr wrap="none" rtlCol="0">
            <a:spAutoFit/>
          </a:bodyPr>
          <a:lstStyle/>
          <a:p>
            <a:r>
              <a:rPr lang="en-US" dirty="0">
                <a:solidFill>
                  <a:srgbClr val="FF0000"/>
                </a:solidFill>
              </a:rPr>
              <a:t>It does happen, but rare </a:t>
            </a:r>
          </a:p>
        </p:txBody>
      </p:sp>
      <p:sp>
        <p:nvSpPr>
          <p:cNvPr id="6" name="TextBox 5">
            <a:extLst>
              <a:ext uri="{FF2B5EF4-FFF2-40B4-BE49-F238E27FC236}">
                <a16:creationId xmlns:a16="http://schemas.microsoft.com/office/drawing/2014/main" id="{4FCF981C-E346-2BC7-87E3-238D82412C9E}"/>
              </a:ext>
            </a:extLst>
          </p:cNvPr>
          <p:cNvSpPr txBox="1"/>
          <p:nvPr/>
        </p:nvSpPr>
        <p:spPr>
          <a:xfrm>
            <a:off x="5043948" y="2194957"/>
            <a:ext cx="6365140" cy="646331"/>
          </a:xfrm>
          <a:prstGeom prst="rect">
            <a:avLst/>
          </a:prstGeom>
          <a:noFill/>
        </p:spPr>
        <p:txBody>
          <a:bodyPr wrap="none" rtlCol="0">
            <a:spAutoFit/>
          </a:bodyPr>
          <a:lstStyle/>
          <a:p>
            <a:r>
              <a:rPr lang="en-US" dirty="0">
                <a:solidFill>
                  <a:srgbClr val="FF0000"/>
                </a:solidFill>
              </a:rPr>
              <a:t>Includes non-representative samples, not properly accounting for </a:t>
            </a:r>
          </a:p>
          <a:p>
            <a:r>
              <a:rPr lang="en-US" dirty="0">
                <a:solidFill>
                  <a:srgbClr val="FF0000"/>
                </a:solidFill>
              </a:rPr>
              <a:t>variability in units of analysis, p-hacking</a:t>
            </a:r>
          </a:p>
        </p:txBody>
      </p:sp>
      <p:sp>
        <p:nvSpPr>
          <p:cNvPr id="7" name="TextBox 6">
            <a:extLst>
              <a:ext uri="{FF2B5EF4-FFF2-40B4-BE49-F238E27FC236}">
                <a16:creationId xmlns:a16="http://schemas.microsoft.com/office/drawing/2014/main" id="{F6D32E8B-6BE6-EEEB-1FF3-349B97F2A801}"/>
              </a:ext>
            </a:extLst>
          </p:cNvPr>
          <p:cNvSpPr txBox="1"/>
          <p:nvPr/>
        </p:nvSpPr>
        <p:spPr>
          <a:xfrm>
            <a:off x="3318388" y="2976225"/>
            <a:ext cx="2381358" cy="369332"/>
          </a:xfrm>
          <a:prstGeom prst="rect">
            <a:avLst/>
          </a:prstGeom>
          <a:noFill/>
        </p:spPr>
        <p:txBody>
          <a:bodyPr wrap="none" rtlCol="0">
            <a:spAutoFit/>
          </a:bodyPr>
          <a:lstStyle/>
          <a:p>
            <a:r>
              <a:rPr lang="en-US" dirty="0">
                <a:solidFill>
                  <a:srgbClr val="FF0000"/>
                </a:solidFill>
              </a:rPr>
              <a:t>Humans make mistakes</a:t>
            </a:r>
          </a:p>
        </p:txBody>
      </p:sp>
      <p:sp>
        <p:nvSpPr>
          <p:cNvPr id="8" name="TextBox 7">
            <a:extLst>
              <a:ext uri="{FF2B5EF4-FFF2-40B4-BE49-F238E27FC236}">
                <a16:creationId xmlns:a16="http://schemas.microsoft.com/office/drawing/2014/main" id="{F66EBD6B-ADB3-8A02-84DD-290EB854D79A}"/>
              </a:ext>
            </a:extLst>
          </p:cNvPr>
          <p:cNvSpPr txBox="1"/>
          <p:nvPr/>
        </p:nvSpPr>
        <p:spPr>
          <a:xfrm>
            <a:off x="5368413" y="3437890"/>
            <a:ext cx="3681072" cy="369332"/>
          </a:xfrm>
          <a:prstGeom prst="rect">
            <a:avLst/>
          </a:prstGeom>
          <a:noFill/>
        </p:spPr>
        <p:txBody>
          <a:bodyPr wrap="none" rtlCol="0">
            <a:spAutoFit/>
          </a:bodyPr>
          <a:lstStyle/>
          <a:p>
            <a:r>
              <a:rPr lang="en-US" dirty="0">
                <a:solidFill>
                  <a:srgbClr val="FF0000"/>
                </a:solidFill>
              </a:rPr>
              <a:t>Until recently, not much focus on this</a:t>
            </a:r>
          </a:p>
        </p:txBody>
      </p:sp>
      <p:sp>
        <p:nvSpPr>
          <p:cNvPr id="9" name="TextBox 8">
            <a:extLst>
              <a:ext uri="{FF2B5EF4-FFF2-40B4-BE49-F238E27FC236}">
                <a16:creationId xmlns:a16="http://schemas.microsoft.com/office/drawing/2014/main" id="{616805E2-2B91-371E-2B9A-4F80231F803F}"/>
              </a:ext>
            </a:extLst>
          </p:cNvPr>
          <p:cNvSpPr txBox="1"/>
          <p:nvPr/>
        </p:nvSpPr>
        <p:spPr>
          <a:xfrm>
            <a:off x="9571703" y="4023048"/>
            <a:ext cx="1577611" cy="369332"/>
          </a:xfrm>
          <a:prstGeom prst="rect">
            <a:avLst/>
          </a:prstGeom>
          <a:noFill/>
        </p:spPr>
        <p:txBody>
          <a:bodyPr wrap="none" rtlCol="0">
            <a:spAutoFit/>
          </a:bodyPr>
          <a:lstStyle/>
          <a:p>
            <a:r>
              <a:rPr lang="en-US" dirty="0">
                <a:solidFill>
                  <a:srgbClr val="FF0000"/>
                </a:solidFill>
              </a:rPr>
              <a:t>Same as above</a:t>
            </a:r>
          </a:p>
        </p:txBody>
      </p:sp>
      <p:sp>
        <p:nvSpPr>
          <p:cNvPr id="10" name="TextBox 9">
            <a:extLst>
              <a:ext uri="{FF2B5EF4-FFF2-40B4-BE49-F238E27FC236}">
                <a16:creationId xmlns:a16="http://schemas.microsoft.com/office/drawing/2014/main" id="{0CA1F48C-5F77-0727-63F3-9E5E94493B1C}"/>
              </a:ext>
            </a:extLst>
          </p:cNvPr>
          <p:cNvSpPr txBox="1"/>
          <p:nvPr/>
        </p:nvSpPr>
        <p:spPr>
          <a:xfrm>
            <a:off x="838200" y="5111744"/>
            <a:ext cx="9095567" cy="800219"/>
          </a:xfrm>
          <a:prstGeom prst="rect">
            <a:avLst/>
          </a:prstGeom>
          <a:noFill/>
        </p:spPr>
        <p:txBody>
          <a:bodyPr wrap="none" rtlCol="0">
            <a:spAutoFit/>
          </a:bodyPr>
          <a:lstStyle/>
          <a:p>
            <a:r>
              <a:rPr lang="en-US" sz="2800" b="1" dirty="0">
                <a:solidFill>
                  <a:srgbClr val="FF0000"/>
                </a:solidFill>
              </a:rPr>
              <a:t>Using principles of reproducibility can reduce the last three!</a:t>
            </a:r>
          </a:p>
          <a:p>
            <a:endParaRPr lang="en-US" dirty="0"/>
          </a:p>
        </p:txBody>
      </p:sp>
    </p:spTree>
    <p:extLst>
      <p:ext uri="{BB962C8B-B14F-4D97-AF65-F5344CB8AC3E}">
        <p14:creationId xmlns:p14="http://schemas.microsoft.com/office/powerpoint/2010/main" val="34139784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ppt_x"/>
                                          </p:val>
                                        </p:tav>
                                        <p:tav tm="100000">
                                          <p:val>
                                            <p:strVal val="#ppt_x"/>
                                          </p:val>
                                        </p:tav>
                                      </p:tavLst>
                                    </p:anim>
                                    <p:anim calcmode="lin" valueType="num">
                                      <p:cBhvr additive="base">
                                        <p:cTn id="1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additive="base">
                                        <p:cTn id="19" dur="500" fill="hold"/>
                                        <p:tgtEl>
                                          <p:spTgt spid="7"/>
                                        </p:tgtEl>
                                        <p:attrNameLst>
                                          <p:attrName>ppt_x</p:attrName>
                                        </p:attrNameLst>
                                      </p:cBhvr>
                                      <p:tavLst>
                                        <p:tav tm="0">
                                          <p:val>
                                            <p:strVal val="#ppt_x"/>
                                          </p:val>
                                        </p:tav>
                                        <p:tav tm="100000">
                                          <p:val>
                                            <p:strVal val="#ppt_x"/>
                                          </p:val>
                                        </p:tav>
                                      </p:tavLst>
                                    </p:anim>
                                    <p:anim calcmode="lin" valueType="num">
                                      <p:cBhvr additive="base">
                                        <p:cTn id="20"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8"/>
                                        </p:tgtEl>
                                        <p:attrNameLst>
                                          <p:attrName>style.visibility</p:attrName>
                                        </p:attrNameLst>
                                      </p:cBhvr>
                                      <p:to>
                                        <p:strVal val="visible"/>
                                      </p:to>
                                    </p:set>
                                    <p:anim calcmode="lin" valueType="num">
                                      <p:cBhvr additive="base">
                                        <p:cTn id="25" dur="500" fill="hold"/>
                                        <p:tgtEl>
                                          <p:spTgt spid="8"/>
                                        </p:tgtEl>
                                        <p:attrNameLst>
                                          <p:attrName>ppt_x</p:attrName>
                                        </p:attrNameLst>
                                      </p:cBhvr>
                                      <p:tavLst>
                                        <p:tav tm="0">
                                          <p:val>
                                            <p:strVal val="#ppt_x"/>
                                          </p:val>
                                        </p:tav>
                                        <p:tav tm="100000">
                                          <p:val>
                                            <p:strVal val="#ppt_x"/>
                                          </p:val>
                                        </p:tav>
                                      </p:tavLst>
                                    </p:anim>
                                    <p:anim calcmode="lin" valueType="num">
                                      <p:cBhvr additive="base">
                                        <p:cTn id="26"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9"/>
                                        </p:tgtEl>
                                        <p:attrNameLst>
                                          <p:attrName>style.visibility</p:attrName>
                                        </p:attrNameLst>
                                      </p:cBhvr>
                                      <p:to>
                                        <p:strVal val="visible"/>
                                      </p:to>
                                    </p:set>
                                    <p:anim calcmode="lin" valueType="num">
                                      <p:cBhvr additive="base">
                                        <p:cTn id="31" dur="500" fill="hold"/>
                                        <p:tgtEl>
                                          <p:spTgt spid="9"/>
                                        </p:tgtEl>
                                        <p:attrNameLst>
                                          <p:attrName>ppt_x</p:attrName>
                                        </p:attrNameLst>
                                      </p:cBhvr>
                                      <p:tavLst>
                                        <p:tav tm="0">
                                          <p:val>
                                            <p:strVal val="#ppt_x"/>
                                          </p:val>
                                        </p:tav>
                                        <p:tav tm="100000">
                                          <p:val>
                                            <p:strVal val="#ppt_x"/>
                                          </p:val>
                                        </p:tav>
                                      </p:tavLst>
                                    </p:anim>
                                    <p:anim calcmode="lin" valueType="num">
                                      <p:cBhvr additive="base">
                                        <p:cTn id="32"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10"/>
                                        </p:tgtEl>
                                        <p:attrNameLst>
                                          <p:attrName>style.visibility</p:attrName>
                                        </p:attrNameLst>
                                      </p:cBhvr>
                                      <p:to>
                                        <p:strVal val="visible"/>
                                      </p:to>
                                    </p:set>
                                    <p:anim calcmode="lin" valueType="num">
                                      <p:cBhvr additive="base">
                                        <p:cTn id="37" dur="500" fill="hold"/>
                                        <p:tgtEl>
                                          <p:spTgt spid="10"/>
                                        </p:tgtEl>
                                        <p:attrNameLst>
                                          <p:attrName>ppt_x</p:attrName>
                                        </p:attrNameLst>
                                      </p:cBhvr>
                                      <p:tavLst>
                                        <p:tav tm="0">
                                          <p:val>
                                            <p:strVal val="#ppt_x"/>
                                          </p:val>
                                        </p:tav>
                                        <p:tav tm="100000">
                                          <p:val>
                                            <p:strVal val="#ppt_x"/>
                                          </p:val>
                                        </p:tav>
                                      </p:tavLst>
                                    </p:anim>
                                    <p:anim calcmode="lin" valueType="num">
                                      <p:cBhvr additive="base">
                                        <p:cTn id="3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9" grpId="0"/>
      <p:bldP spid="10"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A1E736-885C-0B09-4A5D-16AAB9B529A5}"/>
              </a:ext>
            </a:extLst>
          </p:cNvPr>
          <p:cNvSpPr>
            <a:spLocks noGrp="1"/>
          </p:cNvSpPr>
          <p:nvPr>
            <p:ph type="title"/>
          </p:nvPr>
        </p:nvSpPr>
        <p:spPr>
          <a:xfrm>
            <a:off x="838200" y="365126"/>
            <a:ext cx="10515600" cy="799646"/>
          </a:xfrm>
        </p:spPr>
        <p:txBody>
          <a:bodyPr/>
          <a:lstStyle/>
          <a:p>
            <a:r>
              <a:rPr lang="en-US" dirty="0"/>
              <a:t>Ioannidis (2005) “Corollaries”</a:t>
            </a:r>
          </a:p>
        </p:txBody>
      </p:sp>
      <p:sp>
        <p:nvSpPr>
          <p:cNvPr id="3" name="Content Placeholder 2">
            <a:extLst>
              <a:ext uri="{FF2B5EF4-FFF2-40B4-BE49-F238E27FC236}">
                <a16:creationId xmlns:a16="http://schemas.microsoft.com/office/drawing/2014/main" id="{29D66049-55DE-C0BB-ABDD-692B9DF4BDB7}"/>
              </a:ext>
            </a:extLst>
          </p:cNvPr>
          <p:cNvSpPr>
            <a:spLocks noGrp="1"/>
          </p:cNvSpPr>
          <p:nvPr>
            <p:ph idx="1"/>
          </p:nvPr>
        </p:nvSpPr>
        <p:spPr>
          <a:xfrm>
            <a:off x="609599" y="1164772"/>
            <a:ext cx="10994571" cy="5083628"/>
          </a:xfrm>
        </p:spPr>
        <p:txBody>
          <a:bodyPr>
            <a:noAutofit/>
          </a:bodyPr>
          <a:lstStyle/>
          <a:p>
            <a:pPr marL="514350" indent="-514350">
              <a:lnSpc>
                <a:spcPct val="130000"/>
              </a:lnSpc>
              <a:spcBef>
                <a:spcPts val="0"/>
              </a:spcBef>
              <a:spcAft>
                <a:spcPts val="600"/>
              </a:spcAft>
              <a:buFont typeface="+mj-lt"/>
              <a:buAutoNum type="arabicPeriod"/>
            </a:pPr>
            <a:r>
              <a:rPr lang="en-US" sz="2000" dirty="0"/>
              <a:t>The </a:t>
            </a:r>
            <a:r>
              <a:rPr lang="en-US" sz="2000" dirty="0">
                <a:solidFill>
                  <a:srgbClr val="C00000"/>
                </a:solidFill>
              </a:rPr>
              <a:t>smaller the studies </a:t>
            </a:r>
            <a:r>
              <a:rPr lang="en-US" sz="2000" dirty="0"/>
              <a:t>conducted in a scientific field, the less likely the research findings are to be true. </a:t>
            </a:r>
          </a:p>
          <a:p>
            <a:pPr marL="514350" indent="-514350">
              <a:lnSpc>
                <a:spcPct val="130000"/>
              </a:lnSpc>
              <a:spcBef>
                <a:spcPts val="0"/>
              </a:spcBef>
              <a:spcAft>
                <a:spcPts val="600"/>
              </a:spcAft>
              <a:buFont typeface="+mj-lt"/>
              <a:buAutoNum type="arabicPeriod"/>
            </a:pPr>
            <a:r>
              <a:rPr lang="en-US" sz="2000" dirty="0"/>
              <a:t>The </a:t>
            </a:r>
            <a:r>
              <a:rPr lang="en-US" sz="2000" dirty="0">
                <a:solidFill>
                  <a:srgbClr val="C00000"/>
                </a:solidFill>
              </a:rPr>
              <a:t>smaller the effect sizes </a:t>
            </a:r>
            <a:r>
              <a:rPr lang="en-US" sz="2000" dirty="0"/>
              <a:t>in a scientific field, the less likely the research findings are to be true.</a:t>
            </a:r>
          </a:p>
          <a:p>
            <a:pPr marL="514350" indent="-514350">
              <a:lnSpc>
                <a:spcPct val="130000"/>
              </a:lnSpc>
              <a:spcBef>
                <a:spcPts val="0"/>
              </a:spcBef>
              <a:spcAft>
                <a:spcPts val="600"/>
              </a:spcAft>
              <a:buFont typeface="+mj-lt"/>
              <a:buAutoNum type="arabicPeriod"/>
            </a:pPr>
            <a:r>
              <a:rPr lang="en-US" sz="2000" dirty="0"/>
              <a:t>The </a:t>
            </a:r>
            <a:r>
              <a:rPr lang="en-US" sz="2000" dirty="0">
                <a:solidFill>
                  <a:srgbClr val="C00000"/>
                </a:solidFill>
              </a:rPr>
              <a:t>greater the number and the lesser the selection of tested relationships </a:t>
            </a:r>
            <a:r>
              <a:rPr lang="en-US" sz="2000" dirty="0"/>
              <a:t>in a scientific field, the less likely the research findings are to be true.</a:t>
            </a:r>
          </a:p>
          <a:p>
            <a:pPr marL="514350" indent="-514350">
              <a:lnSpc>
                <a:spcPct val="130000"/>
              </a:lnSpc>
              <a:spcBef>
                <a:spcPts val="0"/>
              </a:spcBef>
              <a:spcAft>
                <a:spcPts val="600"/>
              </a:spcAft>
              <a:buFont typeface="+mj-lt"/>
              <a:buAutoNum type="arabicPeriod"/>
            </a:pPr>
            <a:r>
              <a:rPr lang="en-US" sz="2000" dirty="0"/>
              <a:t>The </a:t>
            </a:r>
            <a:r>
              <a:rPr lang="en-US" sz="2000" dirty="0">
                <a:solidFill>
                  <a:srgbClr val="C00000"/>
                </a:solidFill>
              </a:rPr>
              <a:t>greater the flexibility in designs, definitions, outcomes, and analytical modes </a:t>
            </a:r>
            <a:r>
              <a:rPr lang="en-US" sz="2000" dirty="0"/>
              <a:t>in a scientific field, the less likely the research findings are to be true.</a:t>
            </a:r>
          </a:p>
          <a:p>
            <a:pPr marL="514350" indent="-514350">
              <a:lnSpc>
                <a:spcPct val="130000"/>
              </a:lnSpc>
              <a:spcBef>
                <a:spcPts val="0"/>
              </a:spcBef>
              <a:spcAft>
                <a:spcPts val="600"/>
              </a:spcAft>
              <a:buFont typeface="+mj-lt"/>
              <a:buAutoNum type="arabicPeriod"/>
            </a:pPr>
            <a:r>
              <a:rPr lang="en-US" sz="2000" dirty="0"/>
              <a:t>The greater the </a:t>
            </a:r>
            <a:r>
              <a:rPr lang="en-US" sz="2000" dirty="0">
                <a:solidFill>
                  <a:srgbClr val="C00000"/>
                </a:solidFill>
              </a:rPr>
              <a:t>financial and other interests and prejudices </a:t>
            </a:r>
            <a:r>
              <a:rPr lang="en-US" sz="2000" dirty="0"/>
              <a:t>in a scientific field, the less likely the research findings are to be true.</a:t>
            </a:r>
          </a:p>
          <a:p>
            <a:pPr marL="514350" indent="-514350">
              <a:lnSpc>
                <a:spcPct val="130000"/>
              </a:lnSpc>
              <a:spcBef>
                <a:spcPts val="0"/>
              </a:spcBef>
              <a:spcAft>
                <a:spcPts val="600"/>
              </a:spcAft>
              <a:buFont typeface="+mj-lt"/>
              <a:buAutoNum type="arabicPeriod"/>
            </a:pPr>
            <a:r>
              <a:rPr lang="en-US" sz="2000" dirty="0"/>
              <a:t>The </a:t>
            </a:r>
            <a:r>
              <a:rPr lang="en-US" sz="2000" dirty="0">
                <a:solidFill>
                  <a:srgbClr val="C00000"/>
                </a:solidFill>
              </a:rPr>
              <a:t>hotter a scientific field </a:t>
            </a:r>
            <a:r>
              <a:rPr lang="en-US" sz="2000" dirty="0"/>
              <a:t>(with more scientific teams involved), the less likely the research findings are to be true.</a:t>
            </a:r>
          </a:p>
        </p:txBody>
      </p:sp>
    </p:spTree>
    <p:extLst>
      <p:ext uri="{BB962C8B-B14F-4D97-AF65-F5344CB8AC3E}">
        <p14:creationId xmlns:p14="http://schemas.microsoft.com/office/powerpoint/2010/main" val="14590742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i="1" dirty="0">
                <a:solidFill>
                  <a:srgbClr val="1C1D1E"/>
                </a:solidFill>
                <a:latin typeface="Open Sans" panose="020B0606030504020204" pitchFamily="34" charset="0"/>
              </a:rPr>
              <a:t>R</a:t>
            </a:r>
            <a:r>
              <a:rPr lang="en-US" b="0" i="1" dirty="0">
                <a:solidFill>
                  <a:srgbClr val="1C1D1E"/>
                </a:solidFill>
                <a:effectLst/>
                <a:latin typeface="Open Sans" panose="020B0606030504020204" pitchFamily="34" charset="0"/>
              </a:rPr>
              <a:t>eproducible research</a:t>
            </a:r>
            <a:endParaRPr lang="en-US" dirty="0"/>
          </a:p>
        </p:txBody>
      </p:sp>
      <p:sp>
        <p:nvSpPr>
          <p:cNvPr id="3" name="Content Placeholder 2"/>
          <p:cNvSpPr>
            <a:spLocks noGrp="1"/>
          </p:cNvSpPr>
          <p:nvPr>
            <p:ph idx="1"/>
          </p:nvPr>
        </p:nvSpPr>
        <p:spPr/>
        <p:txBody>
          <a:bodyPr>
            <a:normAutofit/>
          </a:bodyPr>
          <a:lstStyle/>
          <a:p>
            <a:pPr>
              <a:lnSpc>
                <a:spcPct val="110000"/>
              </a:lnSpc>
            </a:pPr>
            <a:r>
              <a:rPr lang="en-US" dirty="0">
                <a:solidFill>
                  <a:srgbClr val="1C1D1E"/>
                </a:solidFill>
                <a:latin typeface="Open Sans" panose="020B0606030504020204" pitchFamily="34" charset="0"/>
              </a:rPr>
              <a:t>A</a:t>
            </a:r>
            <a:r>
              <a:rPr lang="en-US" b="0" i="0" dirty="0">
                <a:solidFill>
                  <a:srgbClr val="1C1D1E"/>
                </a:solidFill>
                <a:effectLst/>
                <a:latin typeface="Open Sans" panose="020B0606030504020204" pitchFamily="34" charset="0"/>
              </a:rPr>
              <a:t>ssess the validity and rigor of scientific results</a:t>
            </a:r>
          </a:p>
          <a:p>
            <a:pPr>
              <a:lnSpc>
                <a:spcPct val="110000"/>
              </a:lnSpc>
            </a:pPr>
            <a:r>
              <a:rPr lang="en-US" dirty="0">
                <a:solidFill>
                  <a:srgbClr val="1C1D1E"/>
                </a:solidFill>
                <a:latin typeface="Open Sans" panose="020B0606030504020204" pitchFamily="34" charset="0"/>
              </a:rPr>
              <a:t>O</a:t>
            </a:r>
            <a:r>
              <a:rPr lang="en-US" b="0" i="0" dirty="0">
                <a:solidFill>
                  <a:srgbClr val="1C1D1E"/>
                </a:solidFill>
                <a:effectLst/>
                <a:latin typeface="Open Sans" panose="020B0606030504020204" pitchFamily="34" charset="0"/>
              </a:rPr>
              <a:t>thers can reproduce the results given only </a:t>
            </a:r>
          </a:p>
          <a:p>
            <a:pPr lvl="1">
              <a:lnSpc>
                <a:spcPct val="110000"/>
              </a:lnSpc>
            </a:pPr>
            <a:r>
              <a:rPr lang="en-US" b="0" i="0" dirty="0">
                <a:solidFill>
                  <a:srgbClr val="1C1D1E"/>
                </a:solidFill>
                <a:effectLst/>
                <a:latin typeface="Open Sans" panose="020B0606030504020204" pitchFamily="34" charset="0"/>
              </a:rPr>
              <a:t>Original data</a:t>
            </a:r>
          </a:p>
          <a:p>
            <a:pPr lvl="1">
              <a:lnSpc>
                <a:spcPct val="110000"/>
              </a:lnSpc>
            </a:pPr>
            <a:r>
              <a:rPr lang="en-US" b="0" i="0" dirty="0">
                <a:solidFill>
                  <a:srgbClr val="1C1D1E"/>
                </a:solidFill>
                <a:effectLst/>
                <a:latin typeface="Open Sans" panose="020B0606030504020204" pitchFamily="34" charset="0"/>
              </a:rPr>
              <a:t>Code</a:t>
            </a:r>
          </a:p>
          <a:p>
            <a:pPr lvl="1">
              <a:lnSpc>
                <a:spcPct val="110000"/>
              </a:lnSpc>
            </a:pPr>
            <a:r>
              <a:rPr lang="en-US" dirty="0">
                <a:solidFill>
                  <a:srgbClr val="1C1D1E"/>
                </a:solidFill>
                <a:latin typeface="Open Sans" panose="020B0606030504020204" pitchFamily="34" charset="0"/>
              </a:rPr>
              <a:t>D</a:t>
            </a:r>
            <a:r>
              <a:rPr lang="en-US" b="0" i="0" dirty="0">
                <a:solidFill>
                  <a:srgbClr val="1C1D1E"/>
                </a:solidFill>
                <a:effectLst/>
                <a:latin typeface="Open Sans" panose="020B0606030504020204" pitchFamily="34" charset="0"/>
              </a:rPr>
              <a:t>ocumentation</a:t>
            </a:r>
          </a:p>
          <a:p>
            <a:pPr>
              <a:lnSpc>
                <a:spcPct val="110000"/>
              </a:lnSpc>
            </a:pPr>
            <a:r>
              <a:rPr lang="en-US" dirty="0">
                <a:solidFill>
                  <a:srgbClr val="1C1D1E"/>
                </a:solidFill>
                <a:latin typeface="Open Sans" panose="020B0606030504020204" pitchFamily="34" charset="0"/>
              </a:rPr>
              <a:t>Minimizes cost of collecting brand new data</a:t>
            </a:r>
          </a:p>
          <a:p>
            <a:pPr>
              <a:lnSpc>
                <a:spcPct val="110000"/>
              </a:lnSpc>
            </a:pPr>
            <a:r>
              <a:rPr lang="en-US" dirty="0">
                <a:solidFill>
                  <a:srgbClr val="1C1D1E"/>
                </a:solidFill>
                <a:latin typeface="Open Sans" panose="020B0606030504020204" pitchFamily="34" charset="0"/>
              </a:rPr>
              <a:t>Minimal acceptable standard for publishable research</a:t>
            </a:r>
          </a:p>
        </p:txBody>
      </p:sp>
    </p:spTree>
    <p:extLst>
      <p:ext uri="{BB962C8B-B14F-4D97-AF65-F5344CB8AC3E}">
        <p14:creationId xmlns:p14="http://schemas.microsoft.com/office/powerpoint/2010/main" val="31435834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3E7D95-DAD2-401F-6386-157D763D8BAF}"/>
              </a:ext>
            </a:extLst>
          </p:cNvPr>
          <p:cNvSpPr>
            <a:spLocks noGrp="1"/>
          </p:cNvSpPr>
          <p:nvPr>
            <p:ph type="title"/>
          </p:nvPr>
        </p:nvSpPr>
        <p:spPr/>
        <p:txBody>
          <a:bodyPr/>
          <a:lstStyle/>
          <a:p>
            <a:r>
              <a:rPr lang="en-US" dirty="0"/>
              <a:t>“doing reproducible research” in practice</a:t>
            </a:r>
          </a:p>
        </p:txBody>
      </p:sp>
      <p:sp>
        <p:nvSpPr>
          <p:cNvPr id="3" name="Content Placeholder 2">
            <a:extLst>
              <a:ext uri="{FF2B5EF4-FFF2-40B4-BE49-F238E27FC236}">
                <a16:creationId xmlns:a16="http://schemas.microsoft.com/office/drawing/2014/main" id="{B7B9C831-6D9A-278D-35AD-4219558C5F87}"/>
              </a:ext>
            </a:extLst>
          </p:cNvPr>
          <p:cNvSpPr>
            <a:spLocks noGrp="1"/>
          </p:cNvSpPr>
          <p:nvPr>
            <p:ph idx="1"/>
          </p:nvPr>
        </p:nvSpPr>
        <p:spPr/>
        <p:txBody>
          <a:bodyPr/>
          <a:lstStyle/>
          <a:p>
            <a:pPr>
              <a:lnSpc>
                <a:spcPct val="120000"/>
              </a:lnSpc>
              <a:spcBef>
                <a:spcPts val="0"/>
              </a:spcBef>
              <a:spcAft>
                <a:spcPts val="600"/>
              </a:spcAft>
            </a:pPr>
            <a:r>
              <a:rPr lang="en-US" dirty="0"/>
              <a:t>Leave breadcrumbs</a:t>
            </a:r>
          </a:p>
          <a:p>
            <a:pPr>
              <a:lnSpc>
                <a:spcPct val="120000"/>
              </a:lnSpc>
              <a:spcBef>
                <a:spcPts val="0"/>
              </a:spcBef>
              <a:spcAft>
                <a:spcPts val="600"/>
              </a:spcAft>
            </a:pPr>
            <a:r>
              <a:rPr lang="en-US" dirty="0"/>
              <a:t>Use a system and tools for organization</a:t>
            </a:r>
          </a:p>
          <a:p>
            <a:pPr>
              <a:lnSpc>
                <a:spcPct val="120000"/>
              </a:lnSpc>
              <a:spcBef>
                <a:spcPts val="0"/>
              </a:spcBef>
              <a:spcAft>
                <a:spcPts val="600"/>
              </a:spcAft>
            </a:pPr>
            <a:r>
              <a:rPr lang="en-US" dirty="0"/>
              <a:t>Use a system for sharing results that is accessible and updatable by all collaborators</a:t>
            </a:r>
          </a:p>
        </p:txBody>
      </p:sp>
    </p:spTree>
    <p:extLst>
      <p:ext uri="{BB962C8B-B14F-4D97-AF65-F5344CB8AC3E}">
        <p14:creationId xmlns:p14="http://schemas.microsoft.com/office/powerpoint/2010/main" val="24290265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79A0F9-95AA-E46B-D593-668CF940B7F4}"/>
              </a:ext>
            </a:extLst>
          </p:cNvPr>
          <p:cNvSpPr>
            <a:spLocks noGrp="1"/>
          </p:cNvSpPr>
          <p:nvPr>
            <p:ph type="title"/>
          </p:nvPr>
        </p:nvSpPr>
        <p:spPr/>
        <p:txBody>
          <a:bodyPr/>
          <a:lstStyle/>
          <a:p>
            <a:r>
              <a:rPr lang="en-US" dirty="0"/>
              <a:t>Reproducible Research Benefits</a:t>
            </a:r>
          </a:p>
        </p:txBody>
      </p:sp>
      <p:graphicFrame>
        <p:nvGraphicFramePr>
          <p:cNvPr id="4" name="Content Placeholder 3">
            <a:extLst>
              <a:ext uri="{FF2B5EF4-FFF2-40B4-BE49-F238E27FC236}">
                <a16:creationId xmlns:a16="http://schemas.microsoft.com/office/drawing/2014/main" id="{8F9B859A-F040-A4D0-FCC6-112D22084291}"/>
              </a:ext>
            </a:extLst>
          </p:cNvPr>
          <p:cNvGraphicFramePr>
            <a:graphicFrameLocks noGrp="1"/>
          </p:cNvGraphicFramePr>
          <p:nvPr>
            <p:ph idx="1"/>
            <p:extLst>
              <p:ext uri="{D42A27DB-BD31-4B8C-83A1-F6EECF244321}">
                <p14:modId xmlns:p14="http://schemas.microsoft.com/office/powerpoint/2010/main" val="2481885962"/>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0243336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F43028-91C6-5673-014B-E4139023AF51}"/>
              </a:ext>
            </a:extLst>
          </p:cNvPr>
          <p:cNvSpPr>
            <a:spLocks noGrp="1"/>
          </p:cNvSpPr>
          <p:nvPr>
            <p:ph type="title"/>
          </p:nvPr>
        </p:nvSpPr>
        <p:spPr/>
        <p:txBody>
          <a:bodyPr/>
          <a:lstStyle/>
          <a:p>
            <a:r>
              <a:rPr lang="en-US" dirty="0"/>
              <a:t>Three Stages of Computational Research</a:t>
            </a:r>
          </a:p>
        </p:txBody>
      </p:sp>
      <p:graphicFrame>
        <p:nvGraphicFramePr>
          <p:cNvPr id="5" name="Content Placeholder 2">
            <a:extLst>
              <a:ext uri="{FF2B5EF4-FFF2-40B4-BE49-F238E27FC236}">
                <a16:creationId xmlns:a16="http://schemas.microsoft.com/office/drawing/2014/main" id="{8CC7B08A-A2D2-EFFF-6AC1-DFEFC42F9232}"/>
              </a:ext>
            </a:extLst>
          </p:cNvPr>
          <p:cNvGraphicFramePr>
            <a:graphicFrameLocks noGrp="1"/>
          </p:cNvGraphicFramePr>
          <p:nvPr>
            <p:ph idx="1"/>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9311332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F43028-91C6-5673-014B-E4139023AF51}"/>
              </a:ext>
            </a:extLst>
          </p:cNvPr>
          <p:cNvSpPr>
            <a:spLocks noGrp="1"/>
          </p:cNvSpPr>
          <p:nvPr>
            <p:ph type="title"/>
          </p:nvPr>
        </p:nvSpPr>
        <p:spPr/>
        <p:txBody>
          <a:bodyPr/>
          <a:lstStyle/>
          <a:p>
            <a:r>
              <a:rPr lang="en-US" dirty="0"/>
              <a:t>Three Stages of Computational Research</a:t>
            </a:r>
          </a:p>
        </p:txBody>
      </p:sp>
      <p:sp>
        <p:nvSpPr>
          <p:cNvPr id="3" name="Content Placeholder 2">
            <a:extLst>
              <a:ext uri="{FF2B5EF4-FFF2-40B4-BE49-F238E27FC236}">
                <a16:creationId xmlns:a16="http://schemas.microsoft.com/office/drawing/2014/main" id="{D7C4C026-F85A-77FC-3601-1BC97866474C}"/>
              </a:ext>
            </a:extLst>
          </p:cNvPr>
          <p:cNvSpPr>
            <a:spLocks noGrp="1"/>
          </p:cNvSpPr>
          <p:nvPr>
            <p:ph sz="half" idx="1"/>
          </p:nvPr>
        </p:nvSpPr>
        <p:spPr/>
        <p:txBody>
          <a:bodyPr>
            <a:normAutofit/>
          </a:bodyPr>
          <a:lstStyle/>
          <a:p>
            <a:pPr>
              <a:spcBef>
                <a:spcPts val="0"/>
              </a:spcBef>
              <a:spcAft>
                <a:spcPts val="600"/>
              </a:spcAft>
            </a:pPr>
            <a:r>
              <a:rPr lang="en-US" sz="3600" dirty="0">
                <a:solidFill>
                  <a:srgbClr val="C00000"/>
                </a:solidFill>
              </a:rPr>
              <a:t>Data Gathering</a:t>
            </a:r>
          </a:p>
          <a:p>
            <a:pPr>
              <a:spcBef>
                <a:spcPts val="0"/>
              </a:spcBef>
              <a:spcAft>
                <a:spcPts val="600"/>
              </a:spcAft>
            </a:pPr>
            <a:r>
              <a:rPr lang="en-US" sz="3600" dirty="0"/>
              <a:t>Data Analysis</a:t>
            </a:r>
          </a:p>
          <a:p>
            <a:pPr>
              <a:spcBef>
                <a:spcPts val="0"/>
              </a:spcBef>
              <a:spcAft>
                <a:spcPts val="600"/>
              </a:spcAft>
            </a:pPr>
            <a:r>
              <a:rPr lang="en-US" sz="3600" dirty="0"/>
              <a:t>Presenting results</a:t>
            </a:r>
          </a:p>
        </p:txBody>
      </p:sp>
      <p:sp>
        <p:nvSpPr>
          <p:cNvPr id="4" name="Content Placeholder 3">
            <a:extLst>
              <a:ext uri="{FF2B5EF4-FFF2-40B4-BE49-F238E27FC236}">
                <a16:creationId xmlns:a16="http://schemas.microsoft.com/office/drawing/2014/main" id="{BF40E8E0-0E3A-8706-2B81-A2CBD4EB5068}"/>
              </a:ext>
            </a:extLst>
          </p:cNvPr>
          <p:cNvSpPr>
            <a:spLocks noGrp="1"/>
          </p:cNvSpPr>
          <p:nvPr>
            <p:ph sz="half" idx="2"/>
          </p:nvPr>
        </p:nvSpPr>
        <p:spPr>
          <a:xfrm>
            <a:off x="4953000" y="1611086"/>
            <a:ext cx="6400800" cy="4565877"/>
          </a:xfrm>
        </p:spPr>
        <p:txBody>
          <a:bodyPr>
            <a:normAutofit/>
          </a:bodyPr>
          <a:lstStyle/>
          <a:p>
            <a:pPr>
              <a:lnSpc>
                <a:spcPct val="110000"/>
              </a:lnSpc>
              <a:spcBef>
                <a:spcPts val="0"/>
              </a:spcBef>
              <a:spcAft>
                <a:spcPts val="600"/>
              </a:spcAft>
            </a:pPr>
            <a:r>
              <a:rPr lang="en-US" dirty="0">
                <a:solidFill>
                  <a:srgbClr val="1C1D1E"/>
                </a:solidFill>
              </a:rPr>
              <a:t>Back up files. Keep the originals!</a:t>
            </a:r>
          </a:p>
          <a:p>
            <a:pPr>
              <a:lnSpc>
                <a:spcPct val="110000"/>
              </a:lnSpc>
              <a:spcBef>
                <a:spcPts val="0"/>
              </a:spcBef>
              <a:spcAft>
                <a:spcPts val="600"/>
              </a:spcAft>
            </a:pPr>
            <a:r>
              <a:rPr lang="en-US" dirty="0"/>
              <a:t>Name files in an informative manner. </a:t>
            </a:r>
            <a:r>
              <a:rPr lang="en-US" dirty="0" err="1"/>
              <a:t>UseCamelCase_or_underscores</a:t>
            </a:r>
            <a:endParaRPr lang="en-US" dirty="0"/>
          </a:p>
          <a:p>
            <a:pPr>
              <a:lnSpc>
                <a:spcPct val="110000"/>
              </a:lnSpc>
              <a:spcBef>
                <a:spcPts val="0"/>
              </a:spcBef>
              <a:spcAft>
                <a:spcPts val="600"/>
              </a:spcAft>
            </a:pPr>
            <a:r>
              <a:rPr lang="en-US" dirty="0">
                <a:solidFill>
                  <a:srgbClr val="1C1D1E"/>
                </a:solidFill>
              </a:rPr>
              <a:t>Use </a:t>
            </a:r>
            <a:r>
              <a:rPr lang="en-US" b="0" i="0" dirty="0">
                <a:solidFill>
                  <a:srgbClr val="1C1D1E"/>
                </a:solidFill>
                <a:effectLst/>
              </a:rPr>
              <a:t>line .csv or .txt files</a:t>
            </a:r>
          </a:p>
          <a:p>
            <a:pPr>
              <a:lnSpc>
                <a:spcPct val="110000"/>
              </a:lnSpc>
              <a:spcBef>
                <a:spcPts val="0"/>
              </a:spcBef>
              <a:spcAft>
                <a:spcPts val="600"/>
              </a:spcAft>
            </a:pPr>
            <a:r>
              <a:rPr lang="en-US" dirty="0">
                <a:solidFill>
                  <a:srgbClr val="1C1D1E"/>
                </a:solidFill>
              </a:rPr>
              <a:t>M</a:t>
            </a:r>
            <a:r>
              <a:rPr lang="en-US" b="0" i="0" dirty="0">
                <a:solidFill>
                  <a:srgbClr val="1C1D1E"/>
                </a:solidFill>
                <a:effectLst/>
              </a:rPr>
              <a:t>ulti-dimensional relational formats (e.g., </a:t>
            </a:r>
            <a:r>
              <a:rPr lang="en-US" b="0" i="0" dirty="0" err="1">
                <a:solidFill>
                  <a:srgbClr val="1C1D1E"/>
                </a:solidFill>
                <a:effectLst/>
              </a:rPr>
              <a:t>json</a:t>
            </a:r>
            <a:r>
              <a:rPr lang="en-US" dirty="0">
                <a:solidFill>
                  <a:srgbClr val="1C1D1E"/>
                </a:solidFill>
              </a:rPr>
              <a:t>)</a:t>
            </a:r>
          </a:p>
          <a:p>
            <a:pPr>
              <a:lnSpc>
                <a:spcPct val="110000"/>
              </a:lnSpc>
              <a:spcBef>
                <a:spcPts val="0"/>
              </a:spcBef>
              <a:spcAft>
                <a:spcPts val="600"/>
              </a:spcAft>
            </a:pPr>
            <a:r>
              <a:rPr lang="en-US" dirty="0">
                <a:solidFill>
                  <a:srgbClr val="1C1D1E"/>
                </a:solidFill>
              </a:rPr>
              <a:t>If you scraped it, keep the code!</a:t>
            </a:r>
            <a:endParaRPr lang="en-US" dirty="0"/>
          </a:p>
        </p:txBody>
      </p:sp>
    </p:spTree>
    <p:extLst>
      <p:ext uri="{BB962C8B-B14F-4D97-AF65-F5344CB8AC3E}">
        <p14:creationId xmlns:p14="http://schemas.microsoft.com/office/powerpoint/2010/main" val="300628389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F43028-91C6-5673-014B-E4139023AF51}"/>
              </a:ext>
            </a:extLst>
          </p:cNvPr>
          <p:cNvSpPr>
            <a:spLocks noGrp="1"/>
          </p:cNvSpPr>
          <p:nvPr>
            <p:ph type="title"/>
          </p:nvPr>
        </p:nvSpPr>
        <p:spPr/>
        <p:txBody>
          <a:bodyPr/>
          <a:lstStyle/>
          <a:p>
            <a:r>
              <a:rPr lang="en-US" dirty="0"/>
              <a:t>Three Stages of Computational Research</a:t>
            </a:r>
          </a:p>
        </p:txBody>
      </p:sp>
      <p:sp>
        <p:nvSpPr>
          <p:cNvPr id="3" name="Content Placeholder 2">
            <a:extLst>
              <a:ext uri="{FF2B5EF4-FFF2-40B4-BE49-F238E27FC236}">
                <a16:creationId xmlns:a16="http://schemas.microsoft.com/office/drawing/2014/main" id="{D7C4C026-F85A-77FC-3601-1BC97866474C}"/>
              </a:ext>
            </a:extLst>
          </p:cNvPr>
          <p:cNvSpPr>
            <a:spLocks noGrp="1"/>
          </p:cNvSpPr>
          <p:nvPr>
            <p:ph sz="half" idx="1"/>
          </p:nvPr>
        </p:nvSpPr>
        <p:spPr/>
        <p:txBody>
          <a:bodyPr>
            <a:normAutofit/>
          </a:bodyPr>
          <a:lstStyle/>
          <a:p>
            <a:pPr>
              <a:spcBef>
                <a:spcPts val="0"/>
              </a:spcBef>
              <a:spcAft>
                <a:spcPts val="600"/>
              </a:spcAft>
            </a:pPr>
            <a:r>
              <a:rPr lang="en-US" sz="3600" dirty="0"/>
              <a:t>Data Gathering</a:t>
            </a:r>
          </a:p>
          <a:p>
            <a:pPr>
              <a:spcBef>
                <a:spcPts val="0"/>
              </a:spcBef>
              <a:spcAft>
                <a:spcPts val="600"/>
              </a:spcAft>
            </a:pPr>
            <a:r>
              <a:rPr lang="en-US" sz="3600" dirty="0">
                <a:solidFill>
                  <a:srgbClr val="C00000"/>
                </a:solidFill>
              </a:rPr>
              <a:t>Data Analysis</a:t>
            </a:r>
          </a:p>
          <a:p>
            <a:pPr>
              <a:spcBef>
                <a:spcPts val="0"/>
              </a:spcBef>
              <a:spcAft>
                <a:spcPts val="600"/>
              </a:spcAft>
            </a:pPr>
            <a:r>
              <a:rPr lang="en-US" sz="3600" dirty="0"/>
              <a:t>Presenting results</a:t>
            </a:r>
          </a:p>
        </p:txBody>
      </p:sp>
      <p:sp>
        <p:nvSpPr>
          <p:cNvPr id="4" name="Content Placeholder 3">
            <a:extLst>
              <a:ext uri="{FF2B5EF4-FFF2-40B4-BE49-F238E27FC236}">
                <a16:creationId xmlns:a16="http://schemas.microsoft.com/office/drawing/2014/main" id="{BF40E8E0-0E3A-8706-2B81-A2CBD4EB5068}"/>
              </a:ext>
            </a:extLst>
          </p:cNvPr>
          <p:cNvSpPr>
            <a:spLocks noGrp="1"/>
          </p:cNvSpPr>
          <p:nvPr>
            <p:ph sz="half" idx="2"/>
          </p:nvPr>
        </p:nvSpPr>
        <p:spPr>
          <a:xfrm>
            <a:off x="5486400" y="1611086"/>
            <a:ext cx="5867400" cy="4565877"/>
          </a:xfrm>
        </p:spPr>
        <p:txBody>
          <a:bodyPr>
            <a:normAutofit/>
          </a:bodyPr>
          <a:lstStyle/>
          <a:p>
            <a:pPr>
              <a:lnSpc>
                <a:spcPct val="110000"/>
              </a:lnSpc>
              <a:spcBef>
                <a:spcPts val="0"/>
              </a:spcBef>
              <a:spcAft>
                <a:spcPts val="600"/>
              </a:spcAft>
            </a:pPr>
            <a:r>
              <a:rPr lang="en-US" dirty="0"/>
              <a:t>“tidy” formats</a:t>
            </a:r>
          </a:p>
          <a:p>
            <a:pPr>
              <a:lnSpc>
                <a:spcPct val="110000"/>
              </a:lnSpc>
              <a:spcBef>
                <a:spcPts val="0"/>
              </a:spcBef>
              <a:spcAft>
                <a:spcPts val="600"/>
              </a:spcAft>
            </a:pPr>
            <a:r>
              <a:rPr lang="en-US" dirty="0"/>
              <a:t>Metadata</a:t>
            </a:r>
          </a:p>
          <a:p>
            <a:pPr>
              <a:lnSpc>
                <a:spcPct val="110000"/>
              </a:lnSpc>
              <a:spcBef>
                <a:spcPts val="0"/>
              </a:spcBef>
              <a:spcAft>
                <a:spcPts val="600"/>
              </a:spcAft>
            </a:pPr>
            <a:r>
              <a:rPr lang="en-US" dirty="0"/>
              <a:t>Use modular code</a:t>
            </a:r>
          </a:p>
          <a:p>
            <a:pPr>
              <a:lnSpc>
                <a:spcPct val="110000"/>
              </a:lnSpc>
              <a:spcBef>
                <a:spcPts val="0"/>
              </a:spcBef>
              <a:spcAft>
                <a:spcPts val="600"/>
              </a:spcAft>
            </a:pPr>
            <a:r>
              <a:rPr lang="en-US" dirty="0"/>
              <a:t>Consistent naming conventions</a:t>
            </a:r>
          </a:p>
          <a:p>
            <a:pPr>
              <a:lnSpc>
                <a:spcPct val="110000"/>
              </a:lnSpc>
              <a:spcBef>
                <a:spcPts val="0"/>
              </a:spcBef>
              <a:spcAft>
                <a:spcPts val="600"/>
              </a:spcAft>
            </a:pPr>
            <a:r>
              <a:rPr lang="en-US" dirty="0"/>
              <a:t>Produce tables and graphics directly from code</a:t>
            </a:r>
          </a:p>
          <a:p>
            <a:pPr>
              <a:lnSpc>
                <a:spcPct val="110000"/>
              </a:lnSpc>
              <a:spcBef>
                <a:spcPts val="0"/>
              </a:spcBef>
              <a:spcAft>
                <a:spcPts val="600"/>
              </a:spcAft>
            </a:pPr>
            <a:r>
              <a:rPr lang="en-US" dirty="0"/>
              <a:t>There is no such thing as too many comments.</a:t>
            </a:r>
          </a:p>
          <a:p>
            <a:pPr>
              <a:lnSpc>
                <a:spcPct val="110000"/>
              </a:lnSpc>
              <a:spcBef>
                <a:spcPts val="0"/>
              </a:spcBef>
              <a:spcAft>
                <a:spcPts val="600"/>
              </a:spcAft>
            </a:pPr>
            <a:endParaRPr lang="en-US" dirty="0"/>
          </a:p>
        </p:txBody>
      </p:sp>
    </p:spTree>
    <p:extLst>
      <p:ext uri="{BB962C8B-B14F-4D97-AF65-F5344CB8AC3E}">
        <p14:creationId xmlns:p14="http://schemas.microsoft.com/office/powerpoint/2010/main" val="82504411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F43028-91C6-5673-014B-E4139023AF51}"/>
              </a:ext>
            </a:extLst>
          </p:cNvPr>
          <p:cNvSpPr>
            <a:spLocks noGrp="1"/>
          </p:cNvSpPr>
          <p:nvPr>
            <p:ph type="title"/>
          </p:nvPr>
        </p:nvSpPr>
        <p:spPr/>
        <p:txBody>
          <a:bodyPr/>
          <a:lstStyle/>
          <a:p>
            <a:r>
              <a:rPr lang="en-US" dirty="0"/>
              <a:t>Three Stages of Computational Research</a:t>
            </a:r>
          </a:p>
        </p:txBody>
      </p:sp>
      <p:sp>
        <p:nvSpPr>
          <p:cNvPr id="3" name="Content Placeholder 2">
            <a:extLst>
              <a:ext uri="{FF2B5EF4-FFF2-40B4-BE49-F238E27FC236}">
                <a16:creationId xmlns:a16="http://schemas.microsoft.com/office/drawing/2014/main" id="{D7C4C026-F85A-77FC-3601-1BC97866474C}"/>
              </a:ext>
            </a:extLst>
          </p:cNvPr>
          <p:cNvSpPr>
            <a:spLocks noGrp="1"/>
          </p:cNvSpPr>
          <p:nvPr>
            <p:ph sz="half" idx="1"/>
          </p:nvPr>
        </p:nvSpPr>
        <p:spPr/>
        <p:txBody>
          <a:bodyPr>
            <a:normAutofit/>
          </a:bodyPr>
          <a:lstStyle/>
          <a:p>
            <a:pPr>
              <a:spcBef>
                <a:spcPts val="0"/>
              </a:spcBef>
              <a:spcAft>
                <a:spcPts val="600"/>
              </a:spcAft>
            </a:pPr>
            <a:r>
              <a:rPr lang="en-US" sz="3600" dirty="0"/>
              <a:t>Data Gathering</a:t>
            </a:r>
          </a:p>
          <a:p>
            <a:pPr>
              <a:spcBef>
                <a:spcPts val="0"/>
              </a:spcBef>
              <a:spcAft>
                <a:spcPts val="600"/>
              </a:spcAft>
            </a:pPr>
            <a:r>
              <a:rPr lang="en-US" sz="3600" dirty="0"/>
              <a:t>Data Analysis</a:t>
            </a:r>
          </a:p>
          <a:p>
            <a:pPr>
              <a:spcBef>
                <a:spcPts val="0"/>
              </a:spcBef>
              <a:spcAft>
                <a:spcPts val="600"/>
              </a:spcAft>
            </a:pPr>
            <a:r>
              <a:rPr lang="en-US" sz="3600" dirty="0">
                <a:solidFill>
                  <a:srgbClr val="C00000"/>
                </a:solidFill>
              </a:rPr>
              <a:t>Presenting results</a:t>
            </a:r>
          </a:p>
        </p:txBody>
      </p:sp>
      <p:sp>
        <p:nvSpPr>
          <p:cNvPr id="4" name="Content Placeholder 3">
            <a:extLst>
              <a:ext uri="{FF2B5EF4-FFF2-40B4-BE49-F238E27FC236}">
                <a16:creationId xmlns:a16="http://schemas.microsoft.com/office/drawing/2014/main" id="{BF40E8E0-0E3A-8706-2B81-A2CBD4EB5068}"/>
              </a:ext>
            </a:extLst>
          </p:cNvPr>
          <p:cNvSpPr>
            <a:spLocks noGrp="1"/>
          </p:cNvSpPr>
          <p:nvPr>
            <p:ph sz="half" idx="2"/>
          </p:nvPr>
        </p:nvSpPr>
        <p:spPr>
          <a:xfrm>
            <a:off x="6172200" y="1611086"/>
            <a:ext cx="5181600" cy="4565877"/>
          </a:xfrm>
        </p:spPr>
        <p:txBody>
          <a:bodyPr>
            <a:normAutofit/>
          </a:bodyPr>
          <a:lstStyle/>
          <a:p>
            <a:pPr>
              <a:lnSpc>
                <a:spcPct val="110000"/>
              </a:lnSpc>
              <a:spcBef>
                <a:spcPts val="0"/>
              </a:spcBef>
              <a:spcAft>
                <a:spcPts val="600"/>
              </a:spcAft>
            </a:pPr>
            <a:r>
              <a:rPr lang="en-US" dirty="0"/>
              <a:t>Make all code &amp; results accessible to your mentor on a publicly available site</a:t>
            </a:r>
          </a:p>
          <a:p>
            <a:pPr>
              <a:lnSpc>
                <a:spcPct val="110000"/>
              </a:lnSpc>
              <a:spcBef>
                <a:spcPts val="0"/>
              </a:spcBef>
              <a:spcAft>
                <a:spcPts val="600"/>
              </a:spcAft>
            </a:pPr>
            <a:r>
              <a:rPr lang="en-US" dirty="0"/>
              <a:t>Weekly journal of activities</a:t>
            </a:r>
          </a:p>
          <a:p>
            <a:pPr>
              <a:lnSpc>
                <a:spcPct val="110000"/>
              </a:lnSpc>
              <a:spcBef>
                <a:spcPts val="0"/>
              </a:spcBef>
              <a:spcAft>
                <a:spcPts val="600"/>
              </a:spcAft>
            </a:pPr>
            <a:r>
              <a:rPr lang="en-US" dirty="0"/>
              <a:t>A little organization on the front end makes presentations easier!</a:t>
            </a:r>
          </a:p>
          <a:p>
            <a:pPr>
              <a:lnSpc>
                <a:spcPct val="110000"/>
              </a:lnSpc>
              <a:spcBef>
                <a:spcPts val="0"/>
              </a:spcBef>
              <a:spcAft>
                <a:spcPts val="600"/>
              </a:spcAft>
            </a:pPr>
            <a:r>
              <a:rPr lang="en-US" dirty="0"/>
              <a:t>Include presentation code</a:t>
            </a:r>
          </a:p>
        </p:txBody>
      </p:sp>
    </p:spTree>
    <p:extLst>
      <p:ext uri="{BB962C8B-B14F-4D97-AF65-F5344CB8AC3E}">
        <p14:creationId xmlns:p14="http://schemas.microsoft.com/office/powerpoint/2010/main" val="322916229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TextShape 1"/>
          <p:cNvSpPr txBox="1"/>
          <p:nvPr/>
        </p:nvSpPr>
        <p:spPr>
          <a:xfrm>
            <a:off x="409510" y="2364537"/>
            <a:ext cx="4236232" cy="1263565"/>
          </a:xfrm>
          <a:prstGeom prst="rect">
            <a:avLst/>
          </a:prstGeom>
          <a:noFill/>
          <a:ln>
            <a:noFill/>
          </a:ln>
        </p:spPr>
        <p:txBody>
          <a:bodyPr lIns="90000" tIns="46800" rIns="90000" bIns="46800"/>
          <a:lstStyle/>
          <a:p>
            <a:r>
              <a:rPr lang="en-US" spc="-1" dirty="0">
                <a:solidFill>
                  <a:srgbClr val="000000"/>
                </a:solidFill>
                <a:latin typeface="Arial"/>
                <a:hlinkClick r:id="rId3"/>
              </a:rPr>
              <a:t>A Beginner's Guide to Conducting Reproducible Research</a:t>
            </a:r>
            <a:r>
              <a:rPr lang="en-US" spc="-1" dirty="0">
                <a:solidFill>
                  <a:srgbClr val="000000"/>
                </a:solidFill>
                <a:latin typeface="Arial"/>
              </a:rPr>
              <a:t> (Alston and Rick 2021)</a:t>
            </a:r>
          </a:p>
        </p:txBody>
      </p:sp>
      <p:pic>
        <p:nvPicPr>
          <p:cNvPr id="47" name="Main graphic"/>
          <p:cNvPicPr/>
          <p:nvPr/>
        </p:nvPicPr>
        <p:blipFill>
          <a:blip r:embed="rId4"/>
          <a:stretch/>
        </p:blipFill>
        <p:spPr>
          <a:xfrm>
            <a:off x="5058698" y="0"/>
            <a:ext cx="5899354" cy="6636774"/>
          </a:xfrm>
          <a:prstGeom prst="rect">
            <a:avLst/>
          </a:prstGeom>
          <a:ln>
            <a:noFill/>
          </a:ln>
        </p:spPr>
      </p:pic>
    </p:spTree>
  </p:cSld>
  <p:clrMapOvr>
    <a:masterClrMapping/>
  </p:clrMapOvr>
  <p:transition>
    <p:wipe dir="r"/>
  </p:transition>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2299EC-2488-BDC1-FFA8-E42C1437F4A1}"/>
              </a:ext>
            </a:extLst>
          </p:cNvPr>
          <p:cNvSpPr>
            <a:spLocks noGrp="1"/>
          </p:cNvSpPr>
          <p:nvPr>
            <p:ph type="title"/>
          </p:nvPr>
        </p:nvSpPr>
        <p:spPr/>
        <p:txBody>
          <a:bodyPr/>
          <a:lstStyle/>
          <a:p>
            <a:r>
              <a:rPr lang="en-US" dirty="0"/>
              <a:t>Documenting Decisions</a:t>
            </a:r>
          </a:p>
        </p:txBody>
      </p:sp>
      <p:sp>
        <p:nvSpPr>
          <p:cNvPr id="3" name="Content Placeholder 2">
            <a:extLst>
              <a:ext uri="{FF2B5EF4-FFF2-40B4-BE49-F238E27FC236}">
                <a16:creationId xmlns:a16="http://schemas.microsoft.com/office/drawing/2014/main" id="{B806CBAB-05B5-2296-4F9D-04738E71797C}"/>
              </a:ext>
            </a:extLst>
          </p:cNvPr>
          <p:cNvSpPr>
            <a:spLocks noGrp="1"/>
          </p:cNvSpPr>
          <p:nvPr>
            <p:ph idx="1"/>
          </p:nvPr>
        </p:nvSpPr>
        <p:spPr>
          <a:xfrm>
            <a:off x="838200" y="1825625"/>
            <a:ext cx="10515600" cy="1146175"/>
          </a:xfrm>
        </p:spPr>
        <p:txBody>
          <a:bodyPr/>
          <a:lstStyle/>
          <a:p>
            <a:r>
              <a:rPr lang="en-US" dirty="0"/>
              <a:t>In the code notebook</a:t>
            </a:r>
          </a:p>
          <a:p>
            <a:r>
              <a:rPr lang="en-US" dirty="0"/>
              <a:t>In the methods section of a paper</a:t>
            </a:r>
          </a:p>
        </p:txBody>
      </p:sp>
      <p:sp>
        <p:nvSpPr>
          <p:cNvPr id="4" name="TextBox 3">
            <a:extLst>
              <a:ext uri="{FF2B5EF4-FFF2-40B4-BE49-F238E27FC236}">
                <a16:creationId xmlns:a16="http://schemas.microsoft.com/office/drawing/2014/main" id="{68C100D0-D8B9-0E93-5ADB-E2BEB89D7712}"/>
              </a:ext>
            </a:extLst>
          </p:cNvPr>
          <p:cNvSpPr txBox="1"/>
          <p:nvPr/>
        </p:nvSpPr>
        <p:spPr>
          <a:xfrm>
            <a:off x="947058" y="3106737"/>
            <a:ext cx="10614124" cy="646331"/>
          </a:xfrm>
          <a:prstGeom prst="rect">
            <a:avLst/>
          </a:prstGeom>
          <a:noFill/>
          <a:ln>
            <a:solidFill>
              <a:schemeClr val="accent1"/>
            </a:solidFill>
          </a:ln>
        </p:spPr>
        <p:txBody>
          <a:bodyPr wrap="none" rtlCol="0">
            <a:spAutoFit/>
          </a:bodyPr>
          <a:lstStyle/>
          <a:p>
            <a:r>
              <a:rPr lang="en-US" sz="3600" dirty="0"/>
              <a:t>We still haven’t answered the most important question:</a:t>
            </a:r>
          </a:p>
        </p:txBody>
      </p:sp>
      <p:sp>
        <p:nvSpPr>
          <p:cNvPr id="5" name="TextBox 4">
            <a:extLst>
              <a:ext uri="{FF2B5EF4-FFF2-40B4-BE49-F238E27FC236}">
                <a16:creationId xmlns:a16="http://schemas.microsoft.com/office/drawing/2014/main" id="{3E15E7A5-2B9B-7499-21E6-09FB1BE921A0}"/>
              </a:ext>
            </a:extLst>
          </p:cNvPr>
          <p:cNvSpPr txBox="1"/>
          <p:nvPr/>
        </p:nvSpPr>
        <p:spPr>
          <a:xfrm>
            <a:off x="2460172" y="4170134"/>
            <a:ext cx="6611682" cy="132343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wrap="none" rtlCol="0">
            <a:spAutoFit/>
          </a:bodyPr>
          <a:lstStyle/>
          <a:p>
            <a:pPr algn="ctr"/>
            <a:r>
              <a:rPr lang="en-US" sz="4000" dirty="0"/>
              <a:t>What are the </a:t>
            </a:r>
            <a:r>
              <a:rPr lang="en-US" sz="4000" i="1" dirty="0">
                <a:solidFill>
                  <a:srgbClr val="FFFF00"/>
                </a:solidFill>
              </a:rPr>
              <a:t>downstream</a:t>
            </a:r>
            <a:r>
              <a:rPr lang="en-US" sz="4000" dirty="0"/>
              <a:t> </a:t>
            </a:r>
          </a:p>
          <a:p>
            <a:r>
              <a:rPr lang="en-US" sz="4000" dirty="0"/>
              <a:t>consequences of this decision?</a:t>
            </a:r>
          </a:p>
        </p:txBody>
      </p:sp>
    </p:spTree>
    <p:extLst>
      <p:ext uri="{BB962C8B-B14F-4D97-AF65-F5344CB8AC3E}">
        <p14:creationId xmlns:p14="http://schemas.microsoft.com/office/powerpoint/2010/main" val="33640291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C608BEB-860E-4094-8511-78603564A7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059050" cy="6858000"/>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86C8D3FD-3641-9EAE-9908-69FDC7D8EC70}"/>
              </a:ext>
            </a:extLst>
          </p:cNvPr>
          <p:cNvSpPr>
            <a:spLocks noGrp="1"/>
          </p:cNvSpPr>
          <p:nvPr>
            <p:ph type="title"/>
          </p:nvPr>
        </p:nvSpPr>
        <p:spPr>
          <a:xfrm>
            <a:off x="838200" y="1412488"/>
            <a:ext cx="2899189" cy="4363844"/>
          </a:xfrm>
        </p:spPr>
        <p:txBody>
          <a:bodyPr anchor="t">
            <a:normAutofit/>
          </a:bodyPr>
          <a:lstStyle/>
          <a:p>
            <a:r>
              <a:rPr lang="en-US" sz="4000">
                <a:solidFill>
                  <a:srgbClr val="FFFFFF"/>
                </a:solidFill>
              </a:rPr>
              <a:t>Some Experimental Design Decisions</a:t>
            </a:r>
          </a:p>
        </p:txBody>
      </p:sp>
      <p:sp>
        <p:nvSpPr>
          <p:cNvPr id="3" name="Content Placeholder 2">
            <a:extLst>
              <a:ext uri="{FF2B5EF4-FFF2-40B4-BE49-F238E27FC236}">
                <a16:creationId xmlns:a16="http://schemas.microsoft.com/office/drawing/2014/main" id="{C2659DA9-090D-06E2-AC62-E995E4238A06}"/>
              </a:ext>
            </a:extLst>
          </p:cNvPr>
          <p:cNvSpPr>
            <a:spLocks noGrp="1"/>
          </p:cNvSpPr>
          <p:nvPr>
            <p:ph sz="half" idx="1"/>
          </p:nvPr>
        </p:nvSpPr>
        <p:spPr>
          <a:xfrm>
            <a:off x="4380855" y="1000897"/>
            <a:ext cx="3515093" cy="5090984"/>
          </a:xfrm>
        </p:spPr>
        <p:txBody>
          <a:bodyPr>
            <a:normAutofit/>
          </a:bodyPr>
          <a:lstStyle/>
          <a:p>
            <a:pPr>
              <a:lnSpc>
                <a:spcPct val="110000"/>
              </a:lnSpc>
              <a:spcBef>
                <a:spcPts val="0"/>
              </a:spcBef>
              <a:spcAft>
                <a:spcPts val="600"/>
              </a:spcAft>
            </a:pPr>
            <a:r>
              <a:rPr lang="en-US" sz="2000" dirty="0"/>
              <a:t>Type of design</a:t>
            </a:r>
          </a:p>
          <a:p>
            <a:pPr lvl="1">
              <a:lnSpc>
                <a:spcPct val="110000"/>
              </a:lnSpc>
              <a:spcBef>
                <a:spcPts val="0"/>
              </a:spcBef>
              <a:spcAft>
                <a:spcPts val="600"/>
              </a:spcAft>
            </a:pPr>
            <a:r>
              <a:rPr lang="en-US" sz="2000" dirty="0">
                <a:solidFill>
                  <a:srgbClr val="C00000"/>
                </a:solidFill>
              </a:rPr>
              <a:t>Completely randomized or blocked</a:t>
            </a:r>
            <a:r>
              <a:rPr lang="en-US" sz="2000" dirty="0"/>
              <a:t>?</a:t>
            </a:r>
          </a:p>
          <a:p>
            <a:pPr lvl="1">
              <a:lnSpc>
                <a:spcPct val="110000"/>
              </a:lnSpc>
              <a:spcBef>
                <a:spcPts val="0"/>
              </a:spcBef>
              <a:spcAft>
                <a:spcPts val="600"/>
              </a:spcAft>
            </a:pPr>
            <a:r>
              <a:rPr lang="en-US" sz="2000" dirty="0"/>
              <a:t>How many </a:t>
            </a:r>
            <a:r>
              <a:rPr lang="en-US" sz="2000" dirty="0">
                <a:solidFill>
                  <a:srgbClr val="C00000"/>
                </a:solidFill>
              </a:rPr>
              <a:t>populations</a:t>
            </a:r>
            <a:r>
              <a:rPr lang="en-US" sz="2000" dirty="0"/>
              <a:t>?</a:t>
            </a:r>
          </a:p>
          <a:p>
            <a:pPr lvl="1">
              <a:lnSpc>
                <a:spcPct val="110000"/>
              </a:lnSpc>
              <a:spcBef>
                <a:spcPts val="0"/>
              </a:spcBef>
              <a:spcAft>
                <a:spcPts val="600"/>
              </a:spcAft>
            </a:pPr>
            <a:r>
              <a:rPr lang="en-US" sz="2000" dirty="0"/>
              <a:t>How many </a:t>
            </a:r>
            <a:r>
              <a:rPr lang="en-US" sz="2000" dirty="0">
                <a:solidFill>
                  <a:srgbClr val="C00000"/>
                </a:solidFill>
              </a:rPr>
              <a:t>variables</a:t>
            </a:r>
            <a:r>
              <a:rPr lang="en-US" sz="2000" dirty="0"/>
              <a:t> collected on each?</a:t>
            </a:r>
          </a:p>
          <a:p>
            <a:pPr>
              <a:lnSpc>
                <a:spcPct val="110000"/>
              </a:lnSpc>
              <a:spcBef>
                <a:spcPts val="0"/>
              </a:spcBef>
              <a:spcAft>
                <a:spcPts val="600"/>
              </a:spcAft>
            </a:pPr>
            <a:r>
              <a:rPr lang="en-US" sz="2000" dirty="0"/>
              <a:t>Range of effect</a:t>
            </a:r>
          </a:p>
          <a:p>
            <a:pPr lvl="1">
              <a:lnSpc>
                <a:spcPct val="110000"/>
              </a:lnSpc>
              <a:spcBef>
                <a:spcPts val="0"/>
              </a:spcBef>
              <a:spcAft>
                <a:spcPts val="600"/>
              </a:spcAft>
            </a:pPr>
            <a:r>
              <a:rPr lang="en-US" sz="2000" dirty="0"/>
              <a:t>Minimum and maximum value of the effect</a:t>
            </a:r>
          </a:p>
          <a:p>
            <a:pPr lvl="1">
              <a:lnSpc>
                <a:spcPct val="110000"/>
              </a:lnSpc>
              <a:spcBef>
                <a:spcPts val="0"/>
              </a:spcBef>
              <a:spcAft>
                <a:spcPts val="600"/>
              </a:spcAft>
            </a:pPr>
            <a:r>
              <a:rPr lang="en-US" sz="2000" dirty="0"/>
              <a:t>How many </a:t>
            </a:r>
            <a:r>
              <a:rPr lang="en-US" sz="2000" dirty="0">
                <a:solidFill>
                  <a:srgbClr val="C00000"/>
                </a:solidFill>
              </a:rPr>
              <a:t>levels</a:t>
            </a:r>
            <a:r>
              <a:rPr lang="en-US" sz="2000" dirty="0"/>
              <a:t> of the effect?</a:t>
            </a:r>
          </a:p>
          <a:p>
            <a:pPr>
              <a:lnSpc>
                <a:spcPct val="110000"/>
              </a:lnSpc>
              <a:spcBef>
                <a:spcPts val="0"/>
              </a:spcBef>
              <a:spcAft>
                <a:spcPts val="600"/>
              </a:spcAft>
            </a:pPr>
            <a:r>
              <a:rPr lang="en-US" sz="2000" dirty="0"/>
              <a:t>Who (or what) are the populations?</a:t>
            </a:r>
          </a:p>
        </p:txBody>
      </p:sp>
      <p:cxnSp>
        <p:nvCxnSpPr>
          <p:cNvPr id="11" name="Straight Connector 10">
            <a:extLst>
              <a:ext uri="{FF2B5EF4-FFF2-40B4-BE49-F238E27FC236}">
                <a16:creationId xmlns:a16="http://schemas.microsoft.com/office/drawing/2014/main" id="{1F16A8D4-FE87-4604-88B2-394B5D1EB43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129871" y="1412488"/>
            <a:ext cx="0" cy="3657600"/>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4" name="Content Placeholder 3">
            <a:extLst>
              <a:ext uri="{FF2B5EF4-FFF2-40B4-BE49-F238E27FC236}">
                <a16:creationId xmlns:a16="http://schemas.microsoft.com/office/drawing/2014/main" id="{32CE74CA-181A-D4D0-A228-210FC3E0F086}"/>
              </a:ext>
            </a:extLst>
          </p:cNvPr>
          <p:cNvSpPr>
            <a:spLocks noGrp="1"/>
          </p:cNvSpPr>
          <p:nvPr>
            <p:ph sz="half" idx="2"/>
          </p:nvPr>
        </p:nvSpPr>
        <p:spPr>
          <a:xfrm>
            <a:off x="8451606" y="1118737"/>
            <a:ext cx="3197700" cy="4874290"/>
          </a:xfrm>
        </p:spPr>
        <p:txBody>
          <a:bodyPr>
            <a:normAutofit/>
          </a:bodyPr>
          <a:lstStyle/>
          <a:p>
            <a:pPr>
              <a:spcBef>
                <a:spcPts val="0"/>
              </a:spcBef>
              <a:spcAft>
                <a:spcPts val="600"/>
              </a:spcAft>
            </a:pPr>
            <a:r>
              <a:rPr lang="en-US" sz="2000" dirty="0"/>
              <a:t>Duration of study</a:t>
            </a:r>
          </a:p>
          <a:p>
            <a:pPr>
              <a:spcBef>
                <a:spcPts val="0"/>
              </a:spcBef>
              <a:spcAft>
                <a:spcPts val="600"/>
              </a:spcAft>
            </a:pPr>
            <a:r>
              <a:rPr lang="en-US" sz="2000" dirty="0"/>
              <a:t>Inclusion criteria</a:t>
            </a:r>
          </a:p>
          <a:p>
            <a:pPr>
              <a:spcBef>
                <a:spcPts val="0"/>
              </a:spcBef>
              <a:spcAft>
                <a:spcPts val="600"/>
              </a:spcAft>
            </a:pPr>
            <a:r>
              <a:rPr lang="en-US" sz="2000" dirty="0"/>
              <a:t>Sample size</a:t>
            </a:r>
          </a:p>
          <a:p>
            <a:pPr lvl="1">
              <a:spcBef>
                <a:spcPts val="0"/>
              </a:spcBef>
              <a:spcAft>
                <a:spcPts val="600"/>
              </a:spcAft>
            </a:pPr>
            <a:r>
              <a:rPr lang="en-US" sz="2000" dirty="0">
                <a:solidFill>
                  <a:srgbClr val="C00000"/>
                </a:solidFill>
              </a:rPr>
              <a:t>Effect size</a:t>
            </a:r>
          </a:p>
          <a:p>
            <a:pPr lvl="1">
              <a:spcBef>
                <a:spcPts val="0"/>
              </a:spcBef>
              <a:spcAft>
                <a:spcPts val="600"/>
              </a:spcAft>
            </a:pPr>
            <a:r>
              <a:rPr lang="en-US" sz="2000" dirty="0">
                <a:solidFill>
                  <a:srgbClr val="C00000"/>
                </a:solidFill>
              </a:rPr>
              <a:t>Significance level</a:t>
            </a:r>
          </a:p>
          <a:p>
            <a:pPr lvl="1">
              <a:spcBef>
                <a:spcPts val="0"/>
              </a:spcBef>
              <a:spcAft>
                <a:spcPts val="600"/>
              </a:spcAft>
            </a:pPr>
            <a:r>
              <a:rPr lang="en-US" sz="2000" dirty="0">
                <a:solidFill>
                  <a:srgbClr val="C00000"/>
                </a:solidFill>
              </a:rPr>
              <a:t>Power</a:t>
            </a:r>
          </a:p>
          <a:p>
            <a:pPr>
              <a:lnSpc>
                <a:spcPct val="110000"/>
              </a:lnSpc>
              <a:spcBef>
                <a:spcPts val="0"/>
              </a:spcBef>
              <a:spcAft>
                <a:spcPts val="600"/>
              </a:spcAft>
            </a:pPr>
            <a:r>
              <a:rPr lang="en-US" sz="2000" dirty="0"/>
              <a:t>What </a:t>
            </a:r>
            <a:r>
              <a:rPr lang="en-US" sz="2000" dirty="0">
                <a:solidFill>
                  <a:srgbClr val="C00000"/>
                </a:solidFill>
              </a:rPr>
              <a:t>response</a:t>
            </a:r>
            <a:r>
              <a:rPr lang="en-US" sz="2000" dirty="0"/>
              <a:t> to measure ?</a:t>
            </a:r>
          </a:p>
          <a:p>
            <a:pPr>
              <a:lnSpc>
                <a:spcPct val="110000"/>
              </a:lnSpc>
              <a:spcBef>
                <a:spcPts val="0"/>
              </a:spcBef>
              <a:spcAft>
                <a:spcPts val="600"/>
              </a:spcAft>
            </a:pPr>
            <a:r>
              <a:rPr lang="en-US" sz="2000" dirty="0"/>
              <a:t>How to measure that response?</a:t>
            </a:r>
          </a:p>
          <a:p>
            <a:pPr>
              <a:lnSpc>
                <a:spcPct val="110000"/>
              </a:lnSpc>
              <a:spcBef>
                <a:spcPts val="0"/>
              </a:spcBef>
              <a:spcAft>
                <a:spcPts val="600"/>
              </a:spcAft>
            </a:pPr>
            <a:r>
              <a:rPr lang="en-US" sz="2000" dirty="0"/>
              <a:t>Appropriate test statistic</a:t>
            </a:r>
          </a:p>
        </p:txBody>
      </p:sp>
    </p:spTree>
    <p:extLst>
      <p:ext uri="{BB962C8B-B14F-4D97-AF65-F5344CB8AC3E}">
        <p14:creationId xmlns:p14="http://schemas.microsoft.com/office/powerpoint/2010/main" val="222638424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4D005E-64A4-81DD-D877-1D6AE34A565B}"/>
              </a:ext>
            </a:extLst>
          </p:cNvPr>
          <p:cNvSpPr>
            <a:spLocks noGrp="1"/>
          </p:cNvSpPr>
          <p:nvPr>
            <p:ph type="title"/>
          </p:nvPr>
        </p:nvSpPr>
        <p:spPr/>
        <p:txBody>
          <a:bodyPr>
            <a:normAutofit/>
          </a:bodyPr>
          <a:lstStyle/>
          <a:p>
            <a:pPr algn="ctr"/>
            <a:r>
              <a:rPr lang="en-US" dirty="0"/>
              <a:t>Variable choice, the p-value, differing results</a:t>
            </a:r>
            <a:br>
              <a:rPr lang="en-US" dirty="0"/>
            </a:br>
            <a:r>
              <a:rPr lang="en-US" sz="2700" dirty="0"/>
              <a:t>If the variable choice isn’t documented, be suspicious</a:t>
            </a:r>
          </a:p>
        </p:txBody>
      </p:sp>
      <p:sp>
        <p:nvSpPr>
          <p:cNvPr id="3" name="Content Placeholder 2">
            <a:extLst>
              <a:ext uri="{FF2B5EF4-FFF2-40B4-BE49-F238E27FC236}">
                <a16:creationId xmlns:a16="http://schemas.microsoft.com/office/drawing/2014/main" id="{79F5A814-B701-2721-FDFA-5123CB293A20}"/>
              </a:ext>
            </a:extLst>
          </p:cNvPr>
          <p:cNvSpPr>
            <a:spLocks noGrp="1"/>
          </p:cNvSpPr>
          <p:nvPr>
            <p:ph idx="1"/>
          </p:nvPr>
        </p:nvSpPr>
        <p:spPr/>
        <p:txBody>
          <a:bodyPr>
            <a:normAutofit/>
          </a:bodyPr>
          <a:lstStyle/>
          <a:p>
            <a:r>
              <a:rPr lang="en-US" dirty="0">
                <a:hlinkClick r:id="rId2"/>
              </a:rPr>
              <a:t>Number and range of levels changes effect size</a:t>
            </a:r>
            <a:endParaRPr lang="en-US" dirty="0"/>
          </a:p>
          <a:p>
            <a:endParaRPr lang="en-US" dirty="0"/>
          </a:p>
          <a:p>
            <a:r>
              <a:rPr lang="en-US" dirty="0">
                <a:hlinkClick r:id="rId3"/>
              </a:rPr>
              <a:t>Time to stop misusing p-values</a:t>
            </a:r>
            <a:endParaRPr lang="en-US" dirty="0"/>
          </a:p>
          <a:p>
            <a:pPr marL="0" indent="0">
              <a:buNone/>
            </a:pPr>
            <a:endParaRPr lang="en-US" dirty="0"/>
          </a:p>
          <a:p>
            <a:r>
              <a:rPr lang="en-US" dirty="0">
                <a:hlinkClick r:id="rId4"/>
              </a:rPr>
              <a:t>Variability in neuroimaging studies</a:t>
            </a:r>
            <a:endParaRPr lang="en-US" dirty="0"/>
          </a:p>
        </p:txBody>
      </p:sp>
    </p:spTree>
    <p:extLst>
      <p:ext uri="{BB962C8B-B14F-4D97-AF65-F5344CB8AC3E}">
        <p14:creationId xmlns:p14="http://schemas.microsoft.com/office/powerpoint/2010/main" val="342774342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1710B7-03AD-CE9E-95CF-B1E5B549E533}"/>
              </a:ext>
            </a:extLst>
          </p:cNvPr>
          <p:cNvSpPr>
            <a:spLocks noGrp="1"/>
          </p:cNvSpPr>
          <p:nvPr>
            <p:ph type="title"/>
          </p:nvPr>
        </p:nvSpPr>
        <p:spPr/>
        <p:txBody>
          <a:bodyPr/>
          <a:lstStyle/>
          <a:p>
            <a:r>
              <a:rPr lang="en-US" dirty="0"/>
              <a:t>A is for Analysis Choice</a:t>
            </a:r>
          </a:p>
        </p:txBody>
      </p:sp>
      <p:sp>
        <p:nvSpPr>
          <p:cNvPr id="3" name="Content Placeholder 2">
            <a:extLst>
              <a:ext uri="{FF2B5EF4-FFF2-40B4-BE49-F238E27FC236}">
                <a16:creationId xmlns:a16="http://schemas.microsoft.com/office/drawing/2014/main" id="{1056A761-AFDF-66AE-49E4-8719B5E9BC22}"/>
              </a:ext>
            </a:extLst>
          </p:cNvPr>
          <p:cNvSpPr>
            <a:spLocks noGrp="1"/>
          </p:cNvSpPr>
          <p:nvPr>
            <p:ph idx="1"/>
          </p:nvPr>
        </p:nvSpPr>
        <p:spPr/>
        <p:txBody>
          <a:bodyPr>
            <a:normAutofit/>
          </a:bodyPr>
          <a:lstStyle/>
          <a:p>
            <a:r>
              <a:rPr lang="en-US" sz="4000" dirty="0"/>
              <a:t>How many clusters?</a:t>
            </a:r>
          </a:p>
          <a:p>
            <a:r>
              <a:rPr lang="en-US" sz="4000" dirty="0"/>
              <a:t>What similarity/dissimilarity measure?</a:t>
            </a:r>
          </a:p>
          <a:p>
            <a:r>
              <a:rPr lang="en-US" sz="4000" dirty="0"/>
              <a:t>What algorithm?</a:t>
            </a:r>
          </a:p>
          <a:p>
            <a:r>
              <a:rPr lang="en-US" sz="4000" dirty="0">
                <a:hlinkClick r:id="rId2"/>
              </a:rPr>
              <a:t>Researcher degrees of freedom</a:t>
            </a:r>
            <a:endParaRPr lang="en-US" sz="4000" dirty="0"/>
          </a:p>
        </p:txBody>
      </p:sp>
    </p:spTree>
    <p:extLst>
      <p:ext uri="{BB962C8B-B14F-4D97-AF65-F5344CB8AC3E}">
        <p14:creationId xmlns:p14="http://schemas.microsoft.com/office/powerpoint/2010/main" val="151508975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1B2258F-86CA-4D4D-8270-BC05FCDEBF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7999"/>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One luminous opened box among closed white square boxes">
            <a:extLst>
              <a:ext uri="{FF2B5EF4-FFF2-40B4-BE49-F238E27FC236}">
                <a16:creationId xmlns:a16="http://schemas.microsoft.com/office/drawing/2014/main" id="{9EF0E698-16EA-53E9-7FCC-BB3AFC178C6E}"/>
              </a:ext>
            </a:extLst>
          </p:cNvPr>
          <p:cNvPicPr>
            <a:picLocks noChangeAspect="1"/>
          </p:cNvPicPr>
          <p:nvPr/>
        </p:nvPicPr>
        <p:blipFill rotWithShape="1">
          <a:blip r:embed="rId2">
            <a:alphaModFix amt="50000"/>
          </a:blip>
          <a:srcRect t="21691" b="3309"/>
          <a:stretch/>
        </p:blipFill>
        <p:spPr>
          <a:xfrm>
            <a:off x="20" y="1"/>
            <a:ext cx="12191980" cy="6857999"/>
          </a:xfrm>
          <a:prstGeom prst="rect">
            <a:avLst/>
          </a:prstGeom>
        </p:spPr>
      </p:pic>
      <p:sp>
        <p:nvSpPr>
          <p:cNvPr id="2" name="Title 1">
            <a:extLst>
              <a:ext uri="{FF2B5EF4-FFF2-40B4-BE49-F238E27FC236}">
                <a16:creationId xmlns:a16="http://schemas.microsoft.com/office/drawing/2014/main" id="{791FE24A-FD1D-35C5-9F59-910F996B3182}"/>
              </a:ext>
            </a:extLst>
          </p:cNvPr>
          <p:cNvSpPr>
            <a:spLocks noGrp="1"/>
          </p:cNvSpPr>
          <p:nvPr>
            <p:ph type="title"/>
          </p:nvPr>
        </p:nvSpPr>
        <p:spPr>
          <a:xfrm>
            <a:off x="1524000" y="1122362"/>
            <a:ext cx="9144000" cy="2900518"/>
          </a:xfrm>
        </p:spPr>
        <p:txBody>
          <a:bodyPr vert="horz" lIns="91440" tIns="45720" rIns="91440" bIns="45720" rtlCol="0" anchor="b">
            <a:normAutofit/>
          </a:bodyPr>
          <a:lstStyle/>
          <a:p>
            <a:pPr algn="ctr"/>
            <a:r>
              <a:rPr lang="en-US">
                <a:solidFill>
                  <a:srgbClr val="FFFFFF"/>
                </a:solidFill>
              </a:rPr>
              <a:t>Particularly a problem for high dimensional data</a:t>
            </a:r>
          </a:p>
        </p:txBody>
      </p:sp>
      <p:sp>
        <p:nvSpPr>
          <p:cNvPr id="3" name="Content Placeholder 2">
            <a:extLst>
              <a:ext uri="{FF2B5EF4-FFF2-40B4-BE49-F238E27FC236}">
                <a16:creationId xmlns:a16="http://schemas.microsoft.com/office/drawing/2014/main" id="{1CDAD421-B98A-F1D3-5E44-02D47EF11913}"/>
              </a:ext>
            </a:extLst>
          </p:cNvPr>
          <p:cNvSpPr>
            <a:spLocks noGrp="1"/>
          </p:cNvSpPr>
          <p:nvPr>
            <p:ph type="body" idx="1"/>
          </p:nvPr>
        </p:nvSpPr>
        <p:spPr>
          <a:xfrm>
            <a:off x="1524000" y="4159404"/>
            <a:ext cx="9144000" cy="1098395"/>
          </a:xfrm>
        </p:spPr>
        <p:txBody>
          <a:bodyPr vert="horz" lIns="91440" tIns="45720" rIns="91440" bIns="45720" rtlCol="0">
            <a:normAutofit/>
          </a:bodyPr>
          <a:lstStyle/>
          <a:p>
            <a:pPr algn="ctr"/>
            <a:r>
              <a:rPr lang="en-US" dirty="0">
                <a:solidFill>
                  <a:srgbClr val="FFFFFF"/>
                </a:solidFill>
              </a:rPr>
              <a:t>Curse of dimensionality</a:t>
            </a:r>
          </a:p>
        </p:txBody>
      </p:sp>
    </p:spTree>
    <p:extLst>
      <p:ext uri="{BB962C8B-B14F-4D97-AF65-F5344CB8AC3E}">
        <p14:creationId xmlns:p14="http://schemas.microsoft.com/office/powerpoint/2010/main" val="2357416828"/>
      </p:ext>
    </p:extLst>
  </p:cSld>
  <p:clrMapOvr>
    <a:overrideClrMapping bg1="dk1" tx1="lt1" bg2="dk2" tx2="lt2" accent1="accent1" accent2="accent2" accent3="accent3" accent4="accent4" accent5="accent5" accent6="accent6" hlink="hlink" folHlink="folHlink"/>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E457C8-5BB1-4923-BD7A-4AD36489F7BE}"/>
              </a:ext>
            </a:extLst>
          </p:cNvPr>
          <p:cNvSpPr>
            <a:spLocks noGrp="1"/>
          </p:cNvSpPr>
          <p:nvPr>
            <p:ph type="title"/>
          </p:nvPr>
        </p:nvSpPr>
        <p:spPr>
          <a:xfrm>
            <a:off x="294289" y="430169"/>
            <a:ext cx="7325711" cy="1145009"/>
          </a:xfrm>
        </p:spPr>
        <p:txBody>
          <a:bodyPr>
            <a:normAutofit fontScale="90000"/>
          </a:bodyPr>
          <a:lstStyle/>
          <a:p>
            <a:r>
              <a:rPr lang="en-US" sz="4400" dirty="0"/>
              <a:t>Geometry of multivariate probability distributions is weird</a:t>
            </a:r>
          </a:p>
        </p:txBody>
      </p:sp>
      <p:sp>
        <p:nvSpPr>
          <p:cNvPr id="5" name="TextBox 4">
            <a:extLst>
              <a:ext uri="{FF2B5EF4-FFF2-40B4-BE49-F238E27FC236}">
                <a16:creationId xmlns:a16="http://schemas.microsoft.com/office/drawing/2014/main" id="{4E71AD97-31C3-4F58-9D0A-5824DF9CE2CE}"/>
              </a:ext>
            </a:extLst>
          </p:cNvPr>
          <p:cNvSpPr txBox="1"/>
          <p:nvPr/>
        </p:nvSpPr>
        <p:spPr>
          <a:xfrm>
            <a:off x="262421" y="2119803"/>
            <a:ext cx="7515181" cy="2246769"/>
          </a:xfrm>
          <a:prstGeom prst="rect">
            <a:avLst/>
          </a:prstGeom>
          <a:noFill/>
        </p:spPr>
        <p:txBody>
          <a:bodyPr wrap="square" rtlCol="0">
            <a:spAutoFit/>
          </a:bodyPr>
          <a:lstStyle/>
          <a:p>
            <a:pPr marL="457200" indent="-457200">
              <a:buFont typeface="Arial" panose="020B0604020202020204" pitchFamily="34" charset="0"/>
              <a:buChar char="•"/>
            </a:pPr>
            <a:r>
              <a:rPr lang="en-US" sz="2800" dirty="0"/>
              <a:t>Curse of dimensionality</a:t>
            </a:r>
          </a:p>
          <a:p>
            <a:pPr marL="457200" indent="-457200">
              <a:buFont typeface="Arial" panose="020B0604020202020204" pitchFamily="34" charset="0"/>
              <a:buChar char="•"/>
            </a:pPr>
            <a:r>
              <a:rPr lang="en-US" sz="2800" dirty="0"/>
              <a:t>Unimodal distributions are far less likely</a:t>
            </a:r>
          </a:p>
          <a:p>
            <a:pPr marL="457200" indent="-457200">
              <a:buFont typeface="Arial" panose="020B0604020202020204" pitchFamily="34" charset="0"/>
              <a:buChar char="•"/>
            </a:pPr>
            <a:r>
              <a:rPr lang="en-US" sz="2800" dirty="0"/>
              <a:t>Big-data paradox (</a:t>
            </a:r>
            <a:r>
              <a:rPr lang="en-US" sz="2800" dirty="0">
                <a:hlinkClick r:id="rId2"/>
              </a:rPr>
              <a:t>Xiao-Li Meng, Harvard University</a:t>
            </a:r>
            <a:r>
              <a:rPr lang="en-US" sz="2800" dirty="0"/>
              <a:t>)</a:t>
            </a:r>
          </a:p>
          <a:p>
            <a:pPr marL="457200" indent="-457200">
              <a:buFont typeface="Arial" panose="020B0604020202020204" pitchFamily="34" charset="0"/>
              <a:buChar char="•"/>
            </a:pPr>
            <a:r>
              <a:rPr lang="en-US" sz="2800" dirty="0">
                <a:hlinkClick r:id="rId3"/>
              </a:rPr>
              <a:t>An extreme example</a:t>
            </a:r>
            <a:endParaRPr lang="en-US" sz="2800" dirty="0"/>
          </a:p>
        </p:txBody>
      </p:sp>
      <p:pic>
        <p:nvPicPr>
          <p:cNvPr id="4" name="Picture 3">
            <a:extLst>
              <a:ext uri="{FF2B5EF4-FFF2-40B4-BE49-F238E27FC236}">
                <a16:creationId xmlns:a16="http://schemas.microsoft.com/office/drawing/2014/main" id="{08DD0D38-062D-C76A-8FF6-15CCEE3C1F0D}"/>
              </a:ext>
            </a:extLst>
          </p:cNvPr>
          <p:cNvPicPr>
            <a:picLocks noChangeAspect="1"/>
          </p:cNvPicPr>
          <p:nvPr/>
        </p:nvPicPr>
        <p:blipFill rotWithShape="1">
          <a:blip r:embed="rId4"/>
          <a:srcRect b="4387"/>
          <a:stretch/>
        </p:blipFill>
        <p:spPr>
          <a:xfrm>
            <a:off x="8256345" y="129211"/>
            <a:ext cx="3425043" cy="3299789"/>
          </a:xfrm>
          <a:prstGeom prst="rect">
            <a:avLst/>
          </a:prstGeom>
        </p:spPr>
      </p:pic>
      <p:pic>
        <p:nvPicPr>
          <p:cNvPr id="7" name="Picture 6">
            <a:extLst>
              <a:ext uri="{FF2B5EF4-FFF2-40B4-BE49-F238E27FC236}">
                <a16:creationId xmlns:a16="http://schemas.microsoft.com/office/drawing/2014/main" id="{AE562CC4-EA78-1D51-A276-FE9E7B7C859F}"/>
              </a:ext>
            </a:extLst>
          </p:cNvPr>
          <p:cNvPicPr>
            <a:picLocks noChangeAspect="1"/>
          </p:cNvPicPr>
          <p:nvPr/>
        </p:nvPicPr>
        <p:blipFill>
          <a:blip r:embed="rId5"/>
          <a:stretch>
            <a:fillRect/>
          </a:stretch>
        </p:blipFill>
        <p:spPr>
          <a:xfrm>
            <a:off x="8476381" y="3027744"/>
            <a:ext cx="2984969" cy="2921459"/>
          </a:xfrm>
          <a:prstGeom prst="rect">
            <a:avLst/>
          </a:prstGeom>
        </p:spPr>
      </p:pic>
      <p:sp>
        <p:nvSpPr>
          <p:cNvPr id="8" name="TextBox 7">
            <a:extLst>
              <a:ext uri="{FF2B5EF4-FFF2-40B4-BE49-F238E27FC236}">
                <a16:creationId xmlns:a16="http://schemas.microsoft.com/office/drawing/2014/main" id="{357CBAF9-6A6F-8755-C44F-5D1240E56D15}"/>
              </a:ext>
            </a:extLst>
          </p:cNvPr>
          <p:cNvSpPr txBox="1"/>
          <p:nvPr/>
        </p:nvSpPr>
        <p:spPr>
          <a:xfrm>
            <a:off x="3581400" y="6009670"/>
            <a:ext cx="8392405" cy="923330"/>
          </a:xfrm>
          <a:prstGeom prst="rect">
            <a:avLst/>
          </a:prstGeom>
          <a:noFill/>
        </p:spPr>
        <p:txBody>
          <a:bodyPr wrap="square" rtlCol="0">
            <a:spAutoFit/>
          </a:bodyPr>
          <a:lstStyle/>
          <a:p>
            <a:r>
              <a:rPr lang="en-US" dirty="0"/>
              <a:t>Projections of 28-dimensional vectors describing data points in a big-data analysis of the inner structure of protons. From B.-T. Wang et al., </a:t>
            </a:r>
            <a:r>
              <a:rPr lang="en-US" i="1" dirty="0" err="1"/>
              <a:t>Phys.Rev.D</a:t>
            </a:r>
            <a:r>
              <a:rPr lang="en-US" dirty="0"/>
              <a:t> 98 (2018) 9, 094030</a:t>
            </a:r>
          </a:p>
          <a:p>
            <a:r>
              <a:rPr lang="en-US" dirty="0"/>
              <a:t> </a:t>
            </a:r>
          </a:p>
        </p:txBody>
      </p:sp>
      <p:sp>
        <p:nvSpPr>
          <p:cNvPr id="3" name="TextBox 2">
            <a:extLst>
              <a:ext uri="{FF2B5EF4-FFF2-40B4-BE49-F238E27FC236}">
                <a16:creationId xmlns:a16="http://schemas.microsoft.com/office/drawing/2014/main" id="{3599FE80-90E1-6E44-F6D1-FC7C025D31D2}"/>
              </a:ext>
            </a:extLst>
          </p:cNvPr>
          <p:cNvSpPr txBox="1"/>
          <p:nvPr/>
        </p:nvSpPr>
        <p:spPr>
          <a:xfrm>
            <a:off x="1106060" y="4587956"/>
            <a:ext cx="4950679" cy="1200329"/>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US" sz="3600" dirty="0"/>
              <a:t>The Bigger the Data, the surer we fool ourselves</a:t>
            </a:r>
          </a:p>
        </p:txBody>
      </p:sp>
    </p:spTree>
    <p:extLst>
      <p:ext uri="{BB962C8B-B14F-4D97-AF65-F5344CB8AC3E}">
        <p14:creationId xmlns:p14="http://schemas.microsoft.com/office/powerpoint/2010/main" val="31412304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A692261-8C12-06C9-2831-D2C5834C5332}"/>
              </a:ext>
            </a:extLst>
          </p:cNvPr>
          <p:cNvPicPr>
            <a:picLocks noChangeAspect="1"/>
          </p:cNvPicPr>
          <p:nvPr/>
        </p:nvPicPr>
        <p:blipFill>
          <a:blip r:embed="rId2"/>
          <a:stretch>
            <a:fillRect/>
          </a:stretch>
        </p:blipFill>
        <p:spPr>
          <a:xfrm>
            <a:off x="228600" y="5751"/>
            <a:ext cx="5562600" cy="3661927"/>
          </a:xfrm>
          <a:prstGeom prst="rect">
            <a:avLst/>
          </a:prstGeom>
        </p:spPr>
      </p:pic>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76D33227-347F-5917-0E13-12722F506145}"/>
                  </a:ext>
                </a:extLst>
              </p:cNvPr>
              <p:cNvSpPr txBox="1"/>
              <p:nvPr/>
            </p:nvSpPr>
            <p:spPr>
              <a:xfrm>
                <a:off x="10611548" y="262124"/>
                <a:ext cx="1137940" cy="461665"/>
              </a:xfrm>
              <a:prstGeom prst="rect">
                <a:avLst/>
              </a:prstGeom>
              <a:solidFill>
                <a:srgbClr val="FCD5B5"/>
              </a:solidFill>
            </p:spPr>
            <p:txBody>
              <a:bodyPr wrap="none" rtlCol="0">
                <a:spAutoFit/>
              </a:bodyPr>
              <a:lstStyle/>
              <a:p>
                <a:r>
                  <a:rPr lang="en-US" sz="2400" b="1" dirty="0"/>
                  <a:t>Large </a:t>
                </a:r>
                <a14:m>
                  <m:oMath xmlns:m="http://schemas.openxmlformats.org/officeDocument/2006/math">
                    <m:r>
                      <a:rPr lang="en-US" sz="2400" b="1" i="1" smtClean="0">
                        <a:latin typeface="Cambria Math" panose="02040503050406030204" pitchFamily="18" charset="0"/>
                      </a:rPr>
                      <m:t>𝒅</m:t>
                    </m:r>
                  </m:oMath>
                </a14:m>
                <a:endParaRPr lang="en-US" sz="2400" b="1" dirty="0"/>
              </a:p>
            </p:txBody>
          </p:sp>
        </mc:Choice>
        <mc:Fallback xmlns="">
          <p:sp>
            <p:nvSpPr>
              <p:cNvPr id="5" name="TextBox 4">
                <a:extLst>
                  <a:ext uri="{FF2B5EF4-FFF2-40B4-BE49-F238E27FC236}">
                    <a16:creationId xmlns:a16="http://schemas.microsoft.com/office/drawing/2014/main" id="{76D33227-347F-5917-0E13-12722F506145}"/>
                  </a:ext>
                </a:extLst>
              </p:cNvPr>
              <p:cNvSpPr txBox="1">
                <a:spLocks noRot="1" noChangeAspect="1" noMove="1" noResize="1" noEditPoints="1" noAdjustHandles="1" noChangeArrowheads="1" noChangeShapeType="1" noTextEdit="1"/>
              </p:cNvSpPr>
              <p:nvPr/>
            </p:nvSpPr>
            <p:spPr>
              <a:xfrm>
                <a:off x="10611548" y="262124"/>
                <a:ext cx="1137940" cy="461665"/>
              </a:xfrm>
              <a:prstGeom prst="rect">
                <a:avLst/>
              </a:prstGeom>
              <a:blipFill>
                <a:blip r:embed="rId3"/>
                <a:stretch>
                  <a:fillRect l="-8602" t="-10526" r="-1075" b="-28947"/>
                </a:stretch>
              </a:blipFill>
            </p:spPr>
            <p:txBody>
              <a:bodyPr/>
              <a:lstStyle/>
              <a:p>
                <a:r>
                  <a:rPr lang="en-US">
                    <a:noFill/>
                  </a:rPr>
                  <a:t> </a:t>
                </a:r>
              </a:p>
            </p:txBody>
          </p:sp>
        </mc:Fallback>
      </mc:AlternateContent>
      <p:pic>
        <p:nvPicPr>
          <p:cNvPr id="7" name="Picture 6">
            <a:extLst>
              <a:ext uri="{FF2B5EF4-FFF2-40B4-BE49-F238E27FC236}">
                <a16:creationId xmlns:a16="http://schemas.microsoft.com/office/drawing/2014/main" id="{D7E7C9C2-401A-2D24-5238-1B9759D8E4D2}"/>
              </a:ext>
            </a:extLst>
          </p:cNvPr>
          <p:cNvPicPr>
            <a:picLocks noChangeAspect="1"/>
          </p:cNvPicPr>
          <p:nvPr/>
        </p:nvPicPr>
        <p:blipFill>
          <a:blip r:embed="rId4"/>
          <a:stretch>
            <a:fillRect/>
          </a:stretch>
        </p:blipFill>
        <p:spPr>
          <a:xfrm>
            <a:off x="685800" y="3505200"/>
            <a:ext cx="4267200" cy="3093720"/>
          </a:xfrm>
          <a:prstGeom prst="rect">
            <a:avLst/>
          </a:prstGeom>
        </p:spPr>
      </p:pic>
      <p:sp>
        <p:nvSpPr>
          <p:cNvPr id="8" name="TextBox 7">
            <a:extLst>
              <a:ext uri="{FF2B5EF4-FFF2-40B4-BE49-F238E27FC236}">
                <a16:creationId xmlns:a16="http://schemas.microsoft.com/office/drawing/2014/main" id="{7ACD693C-E3E6-C8A3-C457-B3C008FCA0DC}"/>
              </a:ext>
            </a:extLst>
          </p:cNvPr>
          <p:cNvSpPr txBox="1"/>
          <p:nvPr/>
        </p:nvSpPr>
        <p:spPr>
          <a:xfrm>
            <a:off x="6110688" y="1524000"/>
            <a:ext cx="5638800" cy="4401205"/>
          </a:xfrm>
          <a:prstGeom prst="rect">
            <a:avLst/>
          </a:prstGeom>
          <a:noFill/>
        </p:spPr>
        <p:txBody>
          <a:bodyPr wrap="square" rtlCol="0">
            <a:spAutoFit/>
          </a:bodyPr>
          <a:lstStyle/>
          <a:p>
            <a:r>
              <a:rPr lang="en-US" sz="2000" dirty="0"/>
              <a:t>With many parameters, probability distributions often behave as landscapes dominated by saddle points. </a:t>
            </a:r>
          </a:p>
          <a:p>
            <a:endParaRPr lang="en-US" sz="2000" dirty="0"/>
          </a:p>
          <a:p>
            <a:r>
              <a:rPr lang="en-US" sz="2000" dirty="0"/>
              <a:t>These saddle points have practically the same value of the probability or loss function.</a:t>
            </a:r>
          </a:p>
          <a:p>
            <a:endParaRPr lang="en-US" sz="2000" dirty="0"/>
          </a:p>
          <a:p>
            <a:r>
              <a:rPr lang="en-US" sz="2000" dirty="0"/>
              <a:t>Looking for an exact global maximum becomes impractical. Numerically, maximization does not converge.</a:t>
            </a:r>
          </a:p>
          <a:p>
            <a:endParaRPr lang="en-US" sz="2000" dirty="0"/>
          </a:p>
          <a:p>
            <a:r>
              <a:rPr lang="en-US" sz="2000" dirty="0"/>
              <a:t>Credibility intervals are determined by the full set of equivalent saddle points rather than by a neighborhood of the global maximum.</a:t>
            </a:r>
          </a:p>
        </p:txBody>
      </p:sp>
    </p:spTree>
    <p:extLst>
      <p:ext uri="{BB962C8B-B14F-4D97-AF65-F5344CB8AC3E}">
        <p14:creationId xmlns:p14="http://schemas.microsoft.com/office/powerpoint/2010/main" val="252940161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9343" y="194805"/>
            <a:ext cx="10515600" cy="1147667"/>
          </a:xfrm>
        </p:spPr>
        <p:txBody>
          <a:bodyPr/>
          <a:lstStyle/>
          <a:p>
            <a:r>
              <a:rPr lang="en-US" dirty="0">
                <a:latin typeface="Nueva Std Cond" panose="020B0506070504020203" pitchFamily="34" charset="0"/>
              </a:rPr>
              <a:t>Volume of a unit ball in n dimensions</a:t>
            </a:r>
          </a:p>
        </p:txBody>
      </p:sp>
      <p:sp>
        <p:nvSpPr>
          <p:cNvPr id="5" name="Footer Placeholder 4"/>
          <p:cNvSpPr>
            <a:spLocks noGrp="1"/>
          </p:cNvSpPr>
          <p:nvPr>
            <p:ph type="ftr" sz="quarter" idx="11"/>
          </p:nvPr>
        </p:nvSpPr>
        <p:spPr>
          <a:xfrm>
            <a:off x="4648201" y="6254652"/>
            <a:ext cx="2895600" cy="476250"/>
          </a:xfrm>
        </p:spPr>
        <p:txBody>
          <a:bodyPr/>
          <a:lstStyle/>
          <a:p>
            <a:pPr fontAlgn="base">
              <a:spcBef>
                <a:spcPct val="0"/>
              </a:spcBef>
              <a:spcAft>
                <a:spcPct val="0"/>
              </a:spcAft>
              <a:defRPr/>
            </a:pPr>
            <a:r>
              <a:rPr lang="en-US"/>
              <a:t>P. Nadolsky, Think-Play-Hack, Taos</a:t>
            </a:r>
            <a:endParaRPr lang="en-GB" dirty="0"/>
          </a:p>
        </p:txBody>
      </p:sp>
      <p:sp>
        <p:nvSpPr>
          <p:cNvPr id="6" name="Slide Number Placeholder 5"/>
          <p:cNvSpPr>
            <a:spLocks noGrp="1"/>
          </p:cNvSpPr>
          <p:nvPr>
            <p:ph type="sldNum" sz="quarter" idx="12"/>
          </p:nvPr>
        </p:nvSpPr>
        <p:spPr/>
        <p:txBody>
          <a:bodyPr/>
          <a:lstStyle/>
          <a:p>
            <a:pPr fontAlgn="base">
              <a:spcBef>
                <a:spcPct val="0"/>
              </a:spcBef>
              <a:spcAft>
                <a:spcPct val="0"/>
              </a:spcAft>
              <a:defRPr/>
            </a:pPr>
            <a:fld id="{F311BA8A-B252-41B4-9EBD-47EF7D1734B1}" type="slidenum">
              <a:rPr lang="en-GB" smtClean="0"/>
              <a:pPr fontAlgn="base">
                <a:spcBef>
                  <a:spcPct val="0"/>
                </a:spcBef>
                <a:spcAft>
                  <a:spcPct val="0"/>
                </a:spcAft>
                <a:defRPr/>
              </a:pPr>
              <a:t>24</a:t>
            </a:fld>
            <a:endParaRPr lang="en-GB" dirty="0"/>
          </a:p>
        </p:txBody>
      </p:sp>
      <p:pic>
        <p:nvPicPr>
          <p:cNvPr id="8" name="Picture 7"/>
          <p:cNvPicPr>
            <a:picLocks noChangeAspect="1"/>
          </p:cNvPicPr>
          <p:nvPr/>
        </p:nvPicPr>
        <p:blipFill>
          <a:blip r:embed="rId2"/>
          <a:stretch>
            <a:fillRect/>
          </a:stretch>
        </p:blipFill>
        <p:spPr>
          <a:xfrm>
            <a:off x="2110438" y="1310878"/>
            <a:ext cx="6305210" cy="4322932"/>
          </a:xfrm>
          <a:prstGeom prst="rect">
            <a:avLst/>
          </a:prstGeom>
        </p:spPr>
      </p:pic>
      <mc:AlternateContent xmlns:mc="http://schemas.openxmlformats.org/markup-compatibility/2006" xmlns:a14="http://schemas.microsoft.com/office/drawing/2010/main">
        <mc:Choice Requires="a14">
          <p:sp>
            <p:nvSpPr>
              <p:cNvPr id="9" name="TextBox 8"/>
              <p:cNvSpPr txBox="1"/>
              <p:nvPr/>
            </p:nvSpPr>
            <p:spPr>
              <a:xfrm>
                <a:off x="4839857" y="1502863"/>
                <a:ext cx="3140363" cy="168571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i="1">
                              <a:latin typeface="Cambria Math" panose="02040503050406030204" pitchFamily="18" charset="0"/>
                            </a:rPr>
                            <m:t>𝑉</m:t>
                          </m:r>
                        </m:e>
                        <m:sub>
                          <m:r>
                            <a:rPr lang="en-US" i="1" smtClean="0">
                              <a:latin typeface="Cambria Math" panose="02040503050406030204" pitchFamily="18" charset="0"/>
                            </a:rPr>
                            <m:t>𝑛</m:t>
                          </m:r>
                        </m:sub>
                      </m:sSub>
                      <m:r>
                        <a:rPr lang="en-US" i="1">
                          <a:latin typeface="Cambria Math" panose="02040503050406030204" pitchFamily="18" charset="0"/>
                        </a:rPr>
                        <m:t>=</m:t>
                      </m:r>
                      <m:f>
                        <m:fPr>
                          <m:ctrlPr>
                            <a:rPr lang="en-US" i="1">
                              <a:latin typeface="Cambria Math" panose="02040503050406030204" pitchFamily="18" charset="0"/>
                            </a:rPr>
                          </m:ctrlPr>
                        </m:fPr>
                        <m:num>
                          <m:sSup>
                            <m:sSupPr>
                              <m:ctrlPr>
                                <a:rPr lang="en-US" i="1">
                                  <a:latin typeface="Cambria Math" panose="02040503050406030204" pitchFamily="18" charset="0"/>
                                </a:rPr>
                              </m:ctrlPr>
                            </m:sSupPr>
                            <m:e>
                              <m:r>
                                <a:rPr lang="en-US" i="1">
                                  <a:latin typeface="Cambria Math" panose="02040503050406030204" pitchFamily="18" charset="0"/>
                                </a:rPr>
                                <m:t>𝜋</m:t>
                              </m:r>
                            </m:e>
                            <m:sup>
                              <m:r>
                                <a:rPr lang="en-US" i="1">
                                  <a:latin typeface="Cambria Math" panose="02040503050406030204" pitchFamily="18" charset="0"/>
                                </a:rPr>
                                <m:t>𝑛</m:t>
                              </m:r>
                              <m:r>
                                <a:rPr lang="en-US" i="1">
                                  <a:latin typeface="Cambria Math" panose="02040503050406030204" pitchFamily="18" charset="0"/>
                                </a:rPr>
                                <m:t>/2</m:t>
                              </m:r>
                            </m:sup>
                          </m:sSup>
                        </m:num>
                        <m:den>
                          <m:r>
                            <m:rPr>
                              <m:sty m:val="p"/>
                            </m:rPr>
                            <a:rPr lang="en-US">
                              <a:latin typeface="Cambria Math" panose="02040503050406030204" pitchFamily="18" charset="0"/>
                            </a:rPr>
                            <m:t>Γ</m:t>
                          </m:r>
                          <m:d>
                            <m:dPr>
                              <m:ctrlPr>
                                <a:rPr lang="en-US" i="1">
                                  <a:latin typeface="Cambria Math" panose="02040503050406030204" pitchFamily="18" charset="0"/>
                                </a:rPr>
                              </m:ctrlPr>
                            </m:dPr>
                            <m:e>
                              <m:f>
                                <m:fPr>
                                  <m:ctrlPr>
                                    <a:rPr lang="en-US" i="1">
                                      <a:latin typeface="Cambria Math" panose="02040503050406030204" pitchFamily="18" charset="0"/>
                                    </a:rPr>
                                  </m:ctrlPr>
                                </m:fPr>
                                <m:num>
                                  <m:r>
                                    <a:rPr lang="en-US" i="1">
                                      <a:latin typeface="Cambria Math" panose="02040503050406030204" pitchFamily="18" charset="0"/>
                                    </a:rPr>
                                    <m:t>𝑛</m:t>
                                  </m:r>
                                </m:num>
                                <m:den>
                                  <m:r>
                                    <a:rPr lang="en-US" i="1">
                                      <a:latin typeface="Cambria Math" panose="02040503050406030204" pitchFamily="18" charset="0"/>
                                    </a:rPr>
                                    <m:t>2</m:t>
                                  </m:r>
                                </m:den>
                              </m:f>
                              <m:r>
                                <a:rPr lang="en-US" i="1">
                                  <a:latin typeface="Cambria Math" panose="02040503050406030204" pitchFamily="18" charset="0"/>
                                </a:rPr>
                                <m:t>+1</m:t>
                              </m:r>
                            </m:e>
                          </m:d>
                        </m:den>
                      </m:f>
                      <m:sSup>
                        <m:sSupPr>
                          <m:ctrlPr>
                            <a:rPr lang="en-US" i="1">
                              <a:latin typeface="Cambria Math" panose="02040503050406030204" pitchFamily="18" charset="0"/>
                            </a:rPr>
                          </m:ctrlPr>
                        </m:sSupPr>
                        <m:e>
                          <m:r>
                            <a:rPr lang="en-US" i="1">
                              <a:latin typeface="Cambria Math" panose="02040503050406030204" pitchFamily="18" charset="0"/>
                            </a:rPr>
                            <m:t>𝑅</m:t>
                          </m:r>
                        </m:e>
                        <m:sup>
                          <m:r>
                            <a:rPr lang="en-US" i="1">
                              <a:latin typeface="Cambria Math" panose="02040503050406030204" pitchFamily="18" charset="0"/>
                            </a:rPr>
                            <m:t>𝑛</m:t>
                          </m:r>
                        </m:sup>
                      </m:sSup>
                    </m:oMath>
                  </m:oMathPara>
                </a14:m>
                <a:endParaRPr lang="en-US" dirty="0"/>
              </a:p>
              <a:p>
                <a:endParaRPr lang="en-US" dirty="0"/>
              </a:p>
              <a:p>
                <a:r>
                  <a:rPr lang="en-US" dirty="0"/>
                  <a:t>Maximum at </a:t>
                </a:r>
                <a14:m>
                  <m:oMath xmlns:m="http://schemas.openxmlformats.org/officeDocument/2006/math">
                    <m:r>
                      <a:rPr lang="en-US" i="1">
                        <a:latin typeface="Cambria Math" panose="02040503050406030204" pitchFamily="18" charset="0"/>
                      </a:rPr>
                      <m:t>𝑛</m:t>
                    </m:r>
                    <m:r>
                      <a:rPr lang="en-US" i="1">
                        <a:latin typeface="Cambria Math" panose="02040503050406030204" pitchFamily="18" charset="0"/>
                      </a:rPr>
                      <m:t>≈2 </m:t>
                    </m:r>
                    <m:r>
                      <a:rPr lang="en-US" i="1">
                        <a:latin typeface="Cambria Math" panose="02040503050406030204" pitchFamily="18" charset="0"/>
                      </a:rPr>
                      <m:t>𝜋</m:t>
                    </m:r>
                    <m:sSup>
                      <m:sSupPr>
                        <m:ctrlPr>
                          <a:rPr lang="en-US" i="1">
                            <a:latin typeface="Cambria Math" panose="02040503050406030204" pitchFamily="18" charset="0"/>
                          </a:rPr>
                        </m:ctrlPr>
                      </m:sSupPr>
                      <m:e>
                        <m:r>
                          <a:rPr lang="en-US" i="1">
                            <a:latin typeface="Cambria Math" panose="02040503050406030204" pitchFamily="18" charset="0"/>
                          </a:rPr>
                          <m:t>𝑅</m:t>
                        </m:r>
                      </m:e>
                      <m:sup>
                        <m:r>
                          <a:rPr lang="en-US" i="1">
                            <a:latin typeface="Cambria Math" panose="02040503050406030204" pitchFamily="18" charset="0"/>
                          </a:rPr>
                          <m:t>2</m:t>
                        </m:r>
                      </m:sup>
                    </m:sSup>
                  </m:oMath>
                </a14:m>
                <a:r>
                  <a:rPr lang="en-US" dirty="0"/>
                  <a:t> for large </a:t>
                </a:r>
                <a14:m>
                  <m:oMath xmlns:m="http://schemas.openxmlformats.org/officeDocument/2006/math">
                    <m:r>
                      <m:rPr>
                        <m:sty m:val="p"/>
                      </m:rPr>
                      <a:rPr lang="en-US">
                        <a:latin typeface="Cambria Math" panose="02040503050406030204" pitchFamily="18" charset="0"/>
                      </a:rPr>
                      <m:t>R</m:t>
                    </m:r>
                    <m:r>
                      <a:rPr lang="en-US">
                        <a:latin typeface="Cambria Math" panose="02040503050406030204" pitchFamily="18" charset="0"/>
                      </a:rPr>
                      <m:t>,</m:t>
                    </m:r>
                    <m:r>
                      <a:rPr lang="en-US" i="1">
                        <a:latin typeface="Cambria Math" panose="02040503050406030204" pitchFamily="18" charset="0"/>
                      </a:rPr>
                      <m:t>𝑛</m:t>
                    </m:r>
                  </m:oMath>
                </a14:m>
                <a:endParaRPr lang="en-US" dirty="0"/>
              </a:p>
            </p:txBody>
          </p:sp>
        </mc:Choice>
        <mc:Fallback xmlns="">
          <p:sp>
            <p:nvSpPr>
              <p:cNvPr id="9" name="TextBox 8"/>
              <p:cNvSpPr txBox="1">
                <a:spLocks noRot="1" noChangeAspect="1" noMove="1" noResize="1" noEditPoints="1" noAdjustHandles="1" noChangeArrowheads="1" noChangeShapeType="1" noTextEdit="1"/>
              </p:cNvSpPr>
              <p:nvPr/>
            </p:nvSpPr>
            <p:spPr>
              <a:xfrm>
                <a:off x="4839857" y="1502863"/>
                <a:ext cx="3140363" cy="1685718"/>
              </a:xfrm>
              <a:prstGeom prst="rect">
                <a:avLst/>
              </a:prstGeom>
              <a:blipFill>
                <a:blip r:embed="rId3"/>
                <a:stretch>
                  <a:fillRect l="-1748" b="-5072"/>
                </a:stretch>
              </a:blipFill>
            </p:spPr>
            <p:txBody>
              <a:bodyPr/>
              <a:lstStyle/>
              <a:p>
                <a:r>
                  <a:rPr lang="en-US">
                    <a:noFill/>
                  </a:rPr>
                  <a:t> </a:t>
                </a:r>
              </a:p>
            </p:txBody>
          </p:sp>
        </mc:Fallback>
      </mc:AlternateContent>
      <p:sp>
        <p:nvSpPr>
          <p:cNvPr id="11" name="Up Arrow 10"/>
          <p:cNvSpPr/>
          <p:nvPr/>
        </p:nvSpPr>
        <p:spPr bwMode="auto">
          <a:xfrm rot="18487996">
            <a:off x="7416175" y="4874014"/>
            <a:ext cx="255253" cy="640857"/>
          </a:xfrm>
          <a:prstGeom prst="upArrow">
            <a:avLst/>
          </a:prstGeom>
          <a:solidFill>
            <a:srgbClr val="C85523"/>
          </a:solidFill>
          <a:ln w="9525"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fontAlgn="base">
              <a:spcBef>
                <a:spcPct val="0"/>
              </a:spcBef>
              <a:spcAft>
                <a:spcPct val="0"/>
              </a:spcAft>
            </a:pPr>
            <a:endParaRPr lang="en-US">
              <a:latin typeface="Arial" charset="0"/>
            </a:endParaRPr>
          </a:p>
        </p:txBody>
      </p:sp>
      <p:sp>
        <p:nvSpPr>
          <p:cNvPr id="12" name="TextBox 11"/>
          <p:cNvSpPr txBox="1"/>
          <p:nvPr/>
        </p:nvSpPr>
        <p:spPr>
          <a:xfrm>
            <a:off x="6548488" y="4420662"/>
            <a:ext cx="827471" cy="369332"/>
          </a:xfrm>
          <a:prstGeom prst="rect">
            <a:avLst/>
          </a:prstGeom>
          <a:noFill/>
        </p:spPr>
        <p:txBody>
          <a:bodyPr wrap="none" rtlCol="0">
            <a:spAutoFit/>
          </a:bodyPr>
          <a:lstStyle/>
          <a:p>
            <a:r>
              <a:rPr lang="en-US"/>
              <a:t>0.0009</a:t>
            </a:r>
          </a:p>
        </p:txBody>
      </p:sp>
      <p:sp>
        <p:nvSpPr>
          <p:cNvPr id="13" name="Date Placeholder 12"/>
          <p:cNvSpPr>
            <a:spLocks noGrp="1"/>
          </p:cNvSpPr>
          <p:nvPr>
            <p:ph type="dt" sz="half" idx="10"/>
          </p:nvPr>
        </p:nvSpPr>
        <p:spPr/>
        <p:txBody>
          <a:bodyPr/>
          <a:lstStyle/>
          <a:p>
            <a:pPr fontAlgn="base">
              <a:spcBef>
                <a:spcPct val="0"/>
              </a:spcBef>
              <a:spcAft>
                <a:spcPct val="0"/>
              </a:spcAft>
              <a:defRPr/>
            </a:pPr>
            <a:r>
              <a:rPr lang="en-US"/>
              <a:t>2019-07-03</a:t>
            </a:r>
            <a:endParaRPr lang="en-GB" dirty="0"/>
          </a:p>
        </p:txBody>
      </p:sp>
      <p:sp>
        <p:nvSpPr>
          <p:cNvPr id="3" name="TextBox 2">
            <a:extLst>
              <a:ext uri="{FF2B5EF4-FFF2-40B4-BE49-F238E27FC236}">
                <a16:creationId xmlns:a16="http://schemas.microsoft.com/office/drawing/2014/main" id="{6992C95A-D6E7-308B-EFC3-08AAE8C04056}"/>
              </a:ext>
            </a:extLst>
          </p:cNvPr>
          <p:cNvSpPr txBox="1"/>
          <p:nvPr/>
        </p:nvSpPr>
        <p:spPr>
          <a:xfrm>
            <a:off x="7620002" y="5457295"/>
            <a:ext cx="4724398" cy="738664"/>
          </a:xfrm>
          <a:prstGeom prst="rect">
            <a:avLst/>
          </a:prstGeom>
          <a:noFill/>
        </p:spPr>
        <p:txBody>
          <a:bodyPr wrap="square" rtlCol="0">
            <a:spAutoFit/>
          </a:bodyPr>
          <a:lstStyle/>
          <a:p>
            <a:r>
              <a:rPr lang="en-US" sz="2400" b="1" dirty="0">
                <a:solidFill>
                  <a:srgbClr val="C00000"/>
                </a:solidFill>
              </a:rPr>
              <a:t>The Curse of Dimensionality!</a:t>
            </a:r>
          </a:p>
          <a:p>
            <a:r>
              <a:rPr lang="en-US" b="1" dirty="0"/>
              <a:t>Identified by Richard E. Bellman in 1961</a:t>
            </a:r>
          </a:p>
        </p:txBody>
      </p:sp>
    </p:spTree>
    <p:extLst>
      <p:ext uri="{BB962C8B-B14F-4D97-AF65-F5344CB8AC3E}">
        <p14:creationId xmlns:p14="http://schemas.microsoft.com/office/powerpoint/2010/main" val="379226119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246095" y="875490"/>
            <a:ext cx="2985288" cy="567290"/>
          </a:xfrm>
        </p:spPr>
        <p:txBody>
          <a:bodyPr>
            <a:noAutofit/>
          </a:bodyPr>
          <a:lstStyle/>
          <a:p>
            <a:r>
              <a:rPr lang="en-US" sz="4000" b="1" dirty="0">
                <a:latin typeface="Nueva Std Cond" panose="020B0506070504020203" pitchFamily="34" charset="0"/>
              </a:rPr>
              <a:t>Compare </a:t>
            </a:r>
            <a:endParaRPr lang="en-US" sz="1600" dirty="0">
              <a:solidFill>
                <a:schemeClr val="tx1"/>
              </a:solidFill>
              <a:latin typeface="+mn-lt"/>
            </a:endParaRPr>
          </a:p>
        </p:txBody>
      </p:sp>
      <p:cxnSp>
        <p:nvCxnSpPr>
          <p:cNvPr id="15" name="Straight Arrow Connector 14"/>
          <p:cNvCxnSpPr/>
          <p:nvPr/>
        </p:nvCxnSpPr>
        <p:spPr bwMode="auto">
          <a:xfrm>
            <a:off x="2290274" y="5104439"/>
            <a:ext cx="404020" cy="0"/>
          </a:xfrm>
          <a:prstGeom prst="straightConnector1">
            <a:avLst/>
          </a:prstGeom>
          <a:solidFill>
            <a:schemeClr val="accent1"/>
          </a:solidFill>
          <a:ln w="19050" cap="flat" cmpd="sng" algn="ctr">
            <a:solidFill>
              <a:srgbClr val="C00000"/>
            </a:solidFill>
            <a:prstDash val="sysDot"/>
            <a:round/>
            <a:headEnd type="none" w="med" len="med"/>
            <a:tailEnd type="none"/>
          </a:ln>
          <a:effectLst/>
        </p:spPr>
      </p:cxnSp>
      <p:cxnSp>
        <p:nvCxnSpPr>
          <p:cNvPr id="19" name="Straight Arrow Connector 18"/>
          <p:cNvCxnSpPr/>
          <p:nvPr/>
        </p:nvCxnSpPr>
        <p:spPr bwMode="auto">
          <a:xfrm>
            <a:off x="2730135" y="5083775"/>
            <a:ext cx="1703" cy="350582"/>
          </a:xfrm>
          <a:prstGeom prst="straightConnector1">
            <a:avLst/>
          </a:prstGeom>
          <a:solidFill>
            <a:schemeClr val="accent1"/>
          </a:solidFill>
          <a:ln w="19050" cap="flat" cmpd="sng" algn="ctr">
            <a:solidFill>
              <a:srgbClr val="C00000"/>
            </a:solidFill>
            <a:prstDash val="sysDot"/>
            <a:round/>
            <a:headEnd type="none" w="med" len="med"/>
            <a:tailEnd type="none"/>
          </a:ln>
          <a:effectLst/>
        </p:spPr>
      </p:cxnSp>
      <p:grpSp>
        <p:nvGrpSpPr>
          <p:cNvPr id="7" name="Group 6">
            <a:extLst>
              <a:ext uri="{FF2B5EF4-FFF2-40B4-BE49-F238E27FC236}">
                <a16:creationId xmlns:a16="http://schemas.microsoft.com/office/drawing/2014/main" id="{454D3F63-5881-14D0-C9ED-19B9B1A3E116}"/>
              </a:ext>
            </a:extLst>
          </p:cNvPr>
          <p:cNvGrpSpPr/>
          <p:nvPr/>
        </p:nvGrpSpPr>
        <p:grpSpPr>
          <a:xfrm>
            <a:off x="435429" y="689201"/>
            <a:ext cx="5985163" cy="5648606"/>
            <a:chOff x="1524001" y="323274"/>
            <a:chExt cx="5985163" cy="5648606"/>
          </a:xfrm>
        </p:grpSpPr>
        <p:pic>
          <p:nvPicPr>
            <p:cNvPr id="9" name="Picture 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450474" y="628540"/>
              <a:ext cx="4490417" cy="4630526"/>
            </a:xfrm>
            <a:prstGeom prst="rect">
              <a:avLst/>
            </a:prstGeom>
          </p:spPr>
        </p:pic>
        <p:cxnSp>
          <p:nvCxnSpPr>
            <p:cNvPr id="5" name="Straight Arrow Connector 4"/>
            <p:cNvCxnSpPr/>
            <p:nvPr/>
          </p:nvCxnSpPr>
          <p:spPr bwMode="auto">
            <a:xfrm flipV="1">
              <a:off x="2254433" y="323274"/>
              <a:ext cx="18368" cy="5139859"/>
            </a:xfrm>
            <a:prstGeom prst="straightConnector1">
              <a:avLst/>
            </a:prstGeom>
            <a:solidFill>
              <a:schemeClr val="accent1"/>
            </a:solidFill>
            <a:ln w="25400" cap="flat" cmpd="sng" algn="ctr">
              <a:solidFill>
                <a:srgbClr val="C00000"/>
              </a:solidFill>
              <a:prstDash val="solid"/>
              <a:round/>
              <a:headEnd type="none" w="med" len="med"/>
              <a:tailEnd type="triangle" w="lg" len="lg"/>
            </a:ln>
            <a:effectLst/>
          </p:spPr>
        </p:cxnSp>
        <p:cxnSp>
          <p:nvCxnSpPr>
            <p:cNvPr id="16" name="Straight Arrow Connector 15"/>
            <p:cNvCxnSpPr/>
            <p:nvPr/>
          </p:nvCxnSpPr>
          <p:spPr bwMode="auto">
            <a:xfrm>
              <a:off x="2248464" y="5463133"/>
              <a:ext cx="5260700" cy="0"/>
            </a:xfrm>
            <a:prstGeom prst="straightConnector1">
              <a:avLst/>
            </a:prstGeom>
            <a:solidFill>
              <a:schemeClr val="accent1"/>
            </a:solidFill>
            <a:ln w="25400" cap="flat" cmpd="sng" algn="ctr">
              <a:solidFill>
                <a:srgbClr val="C00000"/>
              </a:solidFill>
              <a:prstDash val="solid"/>
              <a:round/>
              <a:headEnd type="none" w="med" len="med"/>
              <a:tailEnd type="triangle" w="lg" len="lg"/>
            </a:ln>
            <a:effectLst/>
          </p:spPr>
        </p:cxnSp>
        <mc:AlternateContent xmlns:mc="http://schemas.openxmlformats.org/markup-compatibility/2006" xmlns:a14="http://schemas.microsoft.com/office/drawing/2010/main">
          <mc:Choice Requires="a14">
            <p:sp>
              <p:nvSpPr>
                <p:cNvPr id="26" name="TextBox 25"/>
                <p:cNvSpPr txBox="1"/>
                <p:nvPr/>
              </p:nvSpPr>
              <p:spPr>
                <a:xfrm>
                  <a:off x="4626835" y="5510215"/>
                  <a:ext cx="618567"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i="1">
                            <a:latin typeface="Cambria Math" panose="02040503050406030204" pitchFamily="18" charset="0"/>
                          </a:rPr>
                          <m:t>2</m:t>
                        </m:r>
                        <m:r>
                          <a:rPr lang="en-US" sz="2400" i="1">
                            <a:latin typeface="Cambria Math" panose="02040503050406030204" pitchFamily="18" charset="0"/>
                          </a:rPr>
                          <m:t>𝑎</m:t>
                        </m:r>
                      </m:oMath>
                    </m:oMathPara>
                  </a14:m>
                  <a:endParaRPr lang="en-US" sz="2000"/>
                </a:p>
              </p:txBody>
            </p:sp>
          </mc:Choice>
          <mc:Fallback xmlns="">
            <p:sp>
              <p:nvSpPr>
                <p:cNvPr id="26" name="TextBox 25"/>
                <p:cNvSpPr txBox="1">
                  <a:spLocks noRot="1" noChangeAspect="1" noMove="1" noResize="1" noEditPoints="1" noAdjustHandles="1" noChangeArrowheads="1" noChangeShapeType="1" noTextEdit="1"/>
                </p:cNvSpPr>
                <p:nvPr/>
              </p:nvSpPr>
              <p:spPr>
                <a:xfrm>
                  <a:off x="4626835" y="5510215"/>
                  <a:ext cx="618567" cy="461665"/>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3" name="TextBox 42"/>
                <p:cNvSpPr txBox="1"/>
                <p:nvPr/>
              </p:nvSpPr>
              <p:spPr>
                <a:xfrm>
                  <a:off x="1524001" y="2758887"/>
                  <a:ext cx="618567"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i="1">
                            <a:latin typeface="Cambria Math" panose="02040503050406030204" pitchFamily="18" charset="0"/>
                          </a:rPr>
                          <m:t>2</m:t>
                        </m:r>
                        <m:r>
                          <a:rPr lang="en-US" sz="2400" i="1">
                            <a:latin typeface="Cambria Math" panose="02040503050406030204" pitchFamily="18" charset="0"/>
                          </a:rPr>
                          <m:t>𝑎</m:t>
                        </m:r>
                      </m:oMath>
                    </m:oMathPara>
                  </a14:m>
                  <a:endParaRPr lang="en-US" sz="2000" dirty="0"/>
                </a:p>
              </p:txBody>
            </p:sp>
          </mc:Choice>
          <mc:Fallback xmlns="">
            <p:sp>
              <p:nvSpPr>
                <p:cNvPr id="43" name="TextBox 42"/>
                <p:cNvSpPr txBox="1">
                  <a:spLocks noRot="1" noChangeAspect="1" noMove="1" noResize="1" noEditPoints="1" noAdjustHandles="1" noChangeArrowheads="1" noChangeShapeType="1" noTextEdit="1"/>
                </p:cNvSpPr>
                <p:nvPr/>
              </p:nvSpPr>
              <p:spPr>
                <a:xfrm>
                  <a:off x="1524001" y="2758887"/>
                  <a:ext cx="618567" cy="461665"/>
                </a:xfrm>
                <a:prstGeom prst="rect">
                  <a:avLst/>
                </a:prstGeom>
                <a:blipFill>
                  <a:blip r:embed="rId4"/>
                  <a:stretch>
                    <a:fillRect/>
                  </a:stretch>
                </a:blipFill>
              </p:spPr>
              <p:txBody>
                <a:bodyPr/>
                <a:lstStyle/>
                <a:p>
                  <a:r>
                    <a:rPr lang="en-US">
                      <a:noFill/>
                    </a:rPr>
                    <a:t> </a:t>
                  </a:r>
                </a:p>
              </p:txBody>
            </p:sp>
          </mc:Fallback>
        </mc:AlternateContent>
      </p:grpSp>
      <p:sp>
        <p:nvSpPr>
          <p:cNvPr id="4" name="TextBox 3"/>
          <p:cNvSpPr txBox="1"/>
          <p:nvPr/>
        </p:nvSpPr>
        <p:spPr>
          <a:xfrm>
            <a:off x="297213" y="6106974"/>
            <a:ext cx="2979662" cy="307777"/>
          </a:xfrm>
          <a:prstGeom prst="rect">
            <a:avLst/>
          </a:prstGeom>
          <a:noFill/>
        </p:spPr>
        <p:txBody>
          <a:bodyPr wrap="none" rtlCol="0">
            <a:spAutoFit/>
          </a:bodyPr>
          <a:lstStyle/>
          <a:p>
            <a:r>
              <a:rPr lang="en-US" sz="1400" dirty="0"/>
              <a:t>Image: sand painting, SMU-in-Taos</a:t>
            </a:r>
          </a:p>
        </p:txBody>
      </p:sp>
      <mc:AlternateContent xmlns:mc="http://schemas.openxmlformats.org/markup-compatibility/2006" xmlns:a14="http://schemas.microsoft.com/office/drawing/2010/main">
        <mc:Choice Requires="a14">
          <p:graphicFrame>
            <p:nvGraphicFramePr>
              <p:cNvPr id="8" name="Table 7">
                <a:extLst>
                  <a:ext uri="{FF2B5EF4-FFF2-40B4-BE49-F238E27FC236}">
                    <a16:creationId xmlns:a16="http://schemas.microsoft.com/office/drawing/2014/main" id="{0A679A4B-C6AE-573D-8682-9916D41B236C}"/>
                  </a:ext>
                </a:extLst>
              </p:cNvPr>
              <p:cNvGraphicFramePr>
                <a:graphicFrameLocks noGrp="1"/>
              </p:cNvGraphicFramePr>
              <p:nvPr>
                <p:extLst>
                  <p:ext uri="{D42A27DB-BD31-4B8C-83A1-F6EECF244321}">
                    <p14:modId xmlns:p14="http://schemas.microsoft.com/office/powerpoint/2010/main" val="3306579327"/>
                  </p:ext>
                </p:extLst>
              </p:nvPr>
            </p:nvGraphicFramePr>
            <p:xfrm>
              <a:off x="6236821" y="1677930"/>
              <a:ext cx="5519750" cy="2715982"/>
            </p:xfrm>
            <a:graphic>
              <a:graphicData uri="http://schemas.openxmlformats.org/drawingml/2006/table">
                <a:tbl>
                  <a:tblPr firstRow="1" bandRow="1">
                    <a:tableStyleId>{85BE263C-DBD7-4A20-BB59-AAB30ACAA65A}</a:tableStyleId>
                  </a:tblPr>
                  <a:tblGrid>
                    <a:gridCol w="2707001">
                      <a:extLst>
                        <a:ext uri="{9D8B030D-6E8A-4147-A177-3AD203B41FA5}">
                          <a16:colId xmlns:a16="http://schemas.microsoft.com/office/drawing/2014/main" val="2839265209"/>
                        </a:ext>
                      </a:extLst>
                    </a:gridCol>
                    <a:gridCol w="2812749">
                      <a:extLst>
                        <a:ext uri="{9D8B030D-6E8A-4147-A177-3AD203B41FA5}">
                          <a16:colId xmlns:a16="http://schemas.microsoft.com/office/drawing/2014/main" val="1445187659"/>
                        </a:ext>
                      </a:extLst>
                    </a:gridCol>
                  </a:tblGrid>
                  <a:tr h="590601">
                    <a:tc>
                      <a:txBody>
                        <a:bodyPr/>
                        <a:lstStyle/>
                        <a:p>
                          <a:pPr algn="ctr"/>
                          <a:r>
                            <a:rPr lang="en-US" dirty="0"/>
                            <a:t>Volume of Cube </a:t>
                          </a:r>
                        </a:p>
                        <a:p>
                          <a:pPr algn="ctr"/>
                          <a:r>
                            <a:rPr lang="en-US" dirty="0"/>
                            <a:t>with side 2a</a:t>
                          </a:r>
                        </a:p>
                      </a:txBody>
                      <a:tcPr/>
                    </a:tc>
                    <a:tc>
                      <a:txBody>
                        <a:bodyPr/>
                        <a:lstStyle/>
                        <a:p>
                          <a:pPr algn="ctr"/>
                          <a:r>
                            <a:rPr lang="en-US" dirty="0"/>
                            <a:t>Volume of a Sphere </a:t>
                          </a:r>
                        </a:p>
                        <a:p>
                          <a:pPr algn="ctr"/>
                          <a:r>
                            <a:rPr lang="en-US" dirty="0"/>
                            <a:t>with radius a</a:t>
                          </a:r>
                        </a:p>
                      </a:txBody>
                      <a:tcPr/>
                    </a:tc>
                    <a:extLst>
                      <a:ext uri="{0D108BD9-81ED-4DB2-BD59-A6C34878D82A}">
                        <a16:rowId xmlns:a16="http://schemas.microsoft.com/office/drawing/2014/main" val="1895000416"/>
                      </a:ext>
                    </a:extLst>
                  </a:tr>
                  <a:tr h="590601">
                    <a:tc>
                      <a:txBody>
                        <a:bodyPr/>
                        <a:lstStyle/>
                        <a:p>
                          <a:pPr algn="ctr"/>
                          <a:r>
                            <a:rPr lang="en-US" sz="3200" dirty="0"/>
                            <a:t>2 dimensions</a:t>
                          </a:r>
                        </a:p>
                      </a:txBody>
                      <a:tcPr/>
                    </a:tc>
                    <a:tc>
                      <a:txBody>
                        <a:bodyPr/>
                        <a:lstStyle/>
                        <a:p>
                          <a:pPr algn="ctr"/>
                          <a:r>
                            <a:rPr lang="en-US" sz="3200" dirty="0"/>
                            <a:t>25 dimensions</a:t>
                          </a:r>
                        </a:p>
                      </a:txBody>
                      <a:tcPr/>
                    </a:tc>
                    <a:extLst>
                      <a:ext uri="{0D108BD9-81ED-4DB2-BD59-A6C34878D82A}">
                        <a16:rowId xmlns:a16="http://schemas.microsoft.com/office/drawing/2014/main" val="2555922148"/>
                      </a:ext>
                    </a:extLst>
                  </a:tr>
                  <a:tr h="148530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f>
                                  <m:fPr>
                                    <m:ctrlPr>
                                      <a:rPr lang="en-US" sz="2400" i="1" smtClean="0">
                                        <a:latin typeface="Cambria Math" panose="02040503050406030204" pitchFamily="18" charset="0"/>
                                      </a:rPr>
                                    </m:ctrlPr>
                                  </m:fPr>
                                  <m:num>
                                    <m:sSub>
                                      <m:sSubPr>
                                        <m:ctrlPr>
                                          <a:rPr lang="en-US" sz="2400" i="1">
                                            <a:latin typeface="Cambria Math" panose="02040503050406030204" pitchFamily="18" charset="0"/>
                                          </a:rPr>
                                        </m:ctrlPr>
                                      </m:sSubPr>
                                      <m:e>
                                        <m:r>
                                          <a:rPr lang="en-US" sz="2400">
                                            <a:latin typeface="Cambria Math" panose="02040503050406030204" pitchFamily="18" charset="0"/>
                                          </a:rPr>
                                          <m:t>𝑉</m:t>
                                        </m:r>
                                      </m:e>
                                      <m:sub>
                                        <m:r>
                                          <a:rPr lang="en-US" sz="2400">
                                            <a:latin typeface="Cambria Math" panose="02040503050406030204" pitchFamily="18" charset="0"/>
                                          </a:rPr>
                                          <m:t>𝑠𝑝h𝑒𝑟𝑒</m:t>
                                        </m:r>
                                      </m:sub>
                                    </m:sSub>
                                  </m:num>
                                  <m:den>
                                    <m:sSub>
                                      <m:sSubPr>
                                        <m:ctrlPr>
                                          <a:rPr lang="en-US" sz="2400" i="1">
                                            <a:latin typeface="Cambria Math" panose="02040503050406030204" pitchFamily="18" charset="0"/>
                                          </a:rPr>
                                        </m:ctrlPr>
                                      </m:sSubPr>
                                      <m:e>
                                        <m:r>
                                          <a:rPr lang="en-US" sz="2400">
                                            <a:latin typeface="Cambria Math" panose="02040503050406030204" pitchFamily="18" charset="0"/>
                                          </a:rPr>
                                          <m:t>𝑉</m:t>
                                        </m:r>
                                      </m:e>
                                      <m:sub>
                                        <m:r>
                                          <a:rPr lang="en-US" sz="2400">
                                            <a:latin typeface="Cambria Math" panose="02040503050406030204" pitchFamily="18" charset="0"/>
                                          </a:rPr>
                                          <m:t>𝑐𝑢𝑏𝑒</m:t>
                                        </m:r>
                                      </m:sub>
                                    </m:sSub>
                                  </m:den>
                                </m:f>
                                <m:r>
                                  <a:rPr lang="en-US" sz="2400">
                                    <a:latin typeface="Cambria Math" panose="02040503050406030204" pitchFamily="18" charset="0"/>
                                  </a:rPr>
                                  <m:t>=</m:t>
                                </m:r>
                                <m:f>
                                  <m:fPr>
                                    <m:ctrlPr>
                                      <a:rPr lang="en-US" sz="2400" i="1">
                                        <a:latin typeface="Cambria Math" panose="02040503050406030204" pitchFamily="18" charset="0"/>
                                      </a:rPr>
                                    </m:ctrlPr>
                                  </m:fPr>
                                  <m:num>
                                    <m:r>
                                      <a:rPr lang="en-US" sz="2400">
                                        <a:latin typeface="Cambria Math" panose="02040503050406030204" pitchFamily="18" charset="0"/>
                                      </a:rPr>
                                      <m:t>𝜋</m:t>
                                    </m:r>
                                  </m:num>
                                  <m:den>
                                    <m:r>
                                      <a:rPr lang="en-US" sz="2400">
                                        <a:latin typeface="Cambria Math" panose="02040503050406030204" pitchFamily="18" charset="0"/>
                                      </a:rPr>
                                      <m:t>4</m:t>
                                    </m:r>
                                  </m:den>
                                </m:f>
                                <m:r>
                                  <a:rPr lang="en-US" sz="2400">
                                    <a:solidFill>
                                      <a:srgbClr val="C00000"/>
                                    </a:solidFill>
                                    <a:latin typeface="Cambria Math" panose="02040503050406030204" pitchFamily="18" charset="0"/>
                                  </a:rPr>
                                  <m:t>≈</m:t>
                                </m:r>
                                <m:r>
                                  <a:rPr lang="en-US" sz="2400" b="1">
                                    <a:solidFill>
                                      <a:srgbClr val="C00000"/>
                                    </a:solidFill>
                                    <a:latin typeface="Cambria Math" panose="02040503050406030204" pitchFamily="18" charset="0"/>
                                  </a:rPr>
                                  <m:t>𝟎</m:t>
                                </m:r>
                                <m:r>
                                  <a:rPr lang="en-US" sz="2400" b="1">
                                    <a:solidFill>
                                      <a:srgbClr val="C00000"/>
                                    </a:solidFill>
                                    <a:latin typeface="Cambria Math" panose="02040503050406030204" pitchFamily="18" charset="0"/>
                                  </a:rPr>
                                  <m:t>.</m:t>
                                </m:r>
                                <m:r>
                                  <a:rPr lang="en-US" sz="2400" b="1">
                                    <a:solidFill>
                                      <a:srgbClr val="C00000"/>
                                    </a:solidFill>
                                    <a:latin typeface="Cambria Math" panose="02040503050406030204" pitchFamily="18" charset="0"/>
                                  </a:rPr>
                                  <m:t>𝟖</m:t>
                                </m:r>
                              </m:oMath>
                            </m:oMathPara>
                          </a14:m>
                          <a:endParaRPr lang="en-US" sz="2400" b="1"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f>
                                  <m:fPr>
                                    <m:ctrlPr>
                                      <a:rPr lang="en-US" sz="2400" i="1" smtClean="0">
                                        <a:latin typeface="Cambria Math" panose="02040503050406030204" pitchFamily="18" charset="0"/>
                                      </a:rPr>
                                    </m:ctrlPr>
                                  </m:fPr>
                                  <m:num>
                                    <m:sSub>
                                      <m:sSubPr>
                                        <m:ctrlPr>
                                          <a:rPr lang="en-US" sz="2400" i="1">
                                            <a:latin typeface="Cambria Math" panose="02040503050406030204" pitchFamily="18" charset="0"/>
                                          </a:rPr>
                                        </m:ctrlPr>
                                      </m:sSubPr>
                                      <m:e>
                                        <m:r>
                                          <a:rPr lang="en-US" sz="2400">
                                            <a:latin typeface="Cambria Math" panose="02040503050406030204" pitchFamily="18" charset="0"/>
                                          </a:rPr>
                                          <m:t>𝑉</m:t>
                                        </m:r>
                                      </m:e>
                                      <m:sub>
                                        <m:r>
                                          <a:rPr lang="en-US" sz="2400">
                                            <a:latin typeface="Cambria Math" panose="02040503050406030204" pitchFamily="18" charset="0"/>
                                          </a:rPr>
                                          <m:t>𝑠𝑝h𝑒𝑟𝑒</m:t>
                                        </m:r>
                                      </m:sub>
                                    </m:sSub>
                                  </m:num>
                                  <m:den>
                                    <m:sSub>
                                      <m:sSubPr>
                                        <m:ctrlPr>
                                          <a:rPr lang="en-US" sz="2400" i="1">
                                            <a:latin typeface="Cambria Math" panose="02040503050406030204" pitchFamily="18" charset="0"/>
                                          </a:rPr>
                                        </m:ctrlPr>
                                      </m:sSubPr>
                                      <m:e>
                                        <m:r>
                                          <a:rPr lang="en-US" sz="2400">
                                            <a:latin typeface="Cambria Math" panose="02040503050406030204" pitchFamily="18" charset="0"/>
                                          </a:rPr>
                                          <m:t>𝑉</m:t>
                                        </m:r>
                                      </m:e>
                                      <m:sub>
                                        <m:r>
                                          <a:rPr lang="en-US" sz="2400">
                                            <a:latin typeface="Cambria Math" panose="02040503050406030204" pitchFamily="18" charset="0"/>
                                          </a:rPr>
                                          <m:t>𝑐𝑢𝑏𝑒</m:t>
                                        </m:r>
                                      </m:sub>
                                    </m:sSub>
                                  </m:den>
                                </m:f>
                                <m:r>
                                  <a:rPr lang="en-US" sz="2400">
                                    <a:latin typeface="Cambria Math" panose="02040503050406030204" pitchFamily="18" charset="0"/>
                                  </a:rPr>
                                  <m:t>≈</m:t>
                                </m:r>
                                <m:f>
                                  <m:fPr>
                                    <m:ctrlPr>
                                      <a:rPr lang="en-US" sz="2400" i="1">
                                        <a:latin typeface="Cambria Math" panose="02040503050406030204" pitchFamily="18" charset="0"/>
                                      </a:rPr>
                                    </m:ctrlPr>
                                  </m:fPr>
                                  <m:num>
                                    <m:r>
                                      <a:rPr lang="en-US" sz="2400">
                                        <a:latin typeface="Cambria Math" panose="02040503050406030204" pitchFamily="18" charset="0"/>
                                      </a:rPr>
                                      <m:t>0.000</m:t>
                                    </m:r>
                                    <m:r>
                                      <a:rPr lang="en-US" sz="2400" b="0" smtClean="0">
                                        <a:latin typeface="Cambria Math" panose="02040503050406030204" pitchFamily="18" charset="0"/>
                                      </a:rPr>
                                      <m:t>9</m:t>
                                    </m:r>
                                  </m:num>
                                  <m:den>
                                    <m:sSup>
                                      <m:sSupPr>
                                        <m:ctrlPr>
                                          <a:rPr lang="en-US" sz="2400" i="1">
                                            <a:latin typeface="Cambria Math" panose="02040503050406030204" pitchFamily="18" charset="0"/>
                                          </a:rPr>
                                        </m:ctrlPr>
                                      </m:sSupPr>
                                      <m:e>
                                        <m:r>
                                          <a:rPr lang="en-US" sz="2400">
                                            <a:latin typeface="Cambria Math" panose="02040503050406030204" pitchFamily="18" charset="0"/>
                                          </a:rPr>
                                          <m:t>2</m:t>
                                        </m:r>
                                      </m:e>
                                      <m:sup>
                                        <m:r>
                                          <a:rPr lang="en-US" sz="2400">
                                            <a:latin typeface="Cambria Math" panose="02040503050406030204" pitchFamily="18" charset="0"/>
                                          </a:rPr>
                                          <m:t>2</m:t>
                                        </m:r>
                                        <m:r>
                                          <a:rPr lang="en-US" sz="2400" b="0" smtClean="0">
                                            <a:latin typeface="Cambria Math" panose="02040503050406030204" pitchFamily="18" charset="0"/>
                                          </a:rPr>
                                          <m:t>5</m:t>
                                        </m:r>
                                      </m:sup>
                                    </m:sSup>
                                  </m:den>
                                </m:f>
                              </m:oMath>
                            </m:oMathPara>
                          </a14:m>
                          <a:endParaRPr lang="en-US" sz="2400" b="0" dirty="0"/>
                        </a:p>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2400">
                                    <a:latin typeface="Cambria Math" panose="02040503050406030204" pitchFamily="18" charset="0"/>
                                  </a:rPr>
                                  <m:t>≈</m:t>
                                </m:r>
                                <m:r>
                                  <a:rPr lang="en-US" sz="2400" b="1" smtClean="0">
                                    <a:solidFill>
                                      <a:srgbClr val="C00000"/>
                                    </a:solidFill>
                                    <a:latin typeface="Cambria Math" panose="02040503050406030204" pitchFamily="18" charset="0"/>
                                  </a:rPr>
                                  <m:t>𝟑</m:t>
                                </m:r>
                                <m:r>
                                  <a:rPr lang="en-US" sz="2400" b="1">
                                    <a:solidFill>
                                      <a:srgbClr val="C00000"/>
                                    </a:solidFill>
                                    <a:latin typeface="Cambria Math" panose="02040503050406030204" pitchFamily="18" charset="0"/>
                                  </a:rPr>
                                  <m:t>⋅</m:t>
                                </m:r>
                                <m:sSup>
                                  <m:sSupPr>
                                    <m:ctrlPr>
                                      <a:rPr lang="en-US" sz="2400" b="1" i="1">
                                        <a:solidFill>
                                          <a:srgbClr val="C00000"/>
                                        </a:solidFill>
                                        <a:latin typeface="Cambria Math" panose="02040503050406030204" pitchFamily="18" charset="0"/>
                                      </a:rPr>
                                    </m:ctrlPr>
                                  </m:sSupPr>
                                  <m:e>
                                    <m:r>
                                      <a:rPr lang="en-US" sz="2400" b="1">
                                        <a:solidFill>
                                          <a:srgbClr val="C00000"/>
                                        </a:solidFill>
                                        <a:latin typeface="Cambria Math" panose="02040503050406030204" pitchFamily="18" charset="0"/>
                                      </a:rPr>
                                      <m:t>𝟏𝟎</m:t>
                                    </m:r>
                                  </m:e>
                                  <m:sup>
                                    <m:r>
                                      <a:rPr lang="en-US" sz="2400" b="1">
                                        <a:solidFill>
                                          <a:srgbClr val="C00000"/>
                                        </a:solidFill>
                                        <a:latin typeface="Cambria Math" panose="02040503050406030204" pitchFamily="18" charset="0"/>
                                      </a:rPr>
                                      <m:t>−</m:t>
                                    </m:r>
                                    <m:r>
                                      <a:rPr lang="en-US" sz="2400" b="1">
                                        <a:solidFill>
                                          <a:srgbClr val="C00000"/>
                                        </a:solidFill>
                                        <a:latin typeface="Cambria Math" panose="02040503050406030204" pitchFamily="18" charset="0"/>
                                      </a:rPr>
                                      <m:t>𝟏𝟏</m:t>
                                    </m:r>
                                  </m:sup>
                                </m:sSup>
                                <m:r>
                                  <a:rPr lang="en-US" sz="2400" b="1">
                                    <a:solidFill>
                                      <a:srgbClr val="C00000"/>
                                    </a:solidFill>
                                    <a:latin typeface="Cambria Math" panose="02040503050406030204" pitchFamily="18" charset="0"/>
                                  </a:rPr>
                                  <m:t> </m:t>
                                </m:r>
                              </m:oMath>
                            </m:oMathPara>
                          </a14:m>
                          <a:endParaRPr lang="en-US" sz="2400" b="1" dirty="0"/>
                        </a:p>
                      </a:txBody>
                      <a:tcPr/>
                    </a:tc>
                    <a:extLst>
                      <a:ext uri="{0D108BD9-81ED-4DB2-BD59-A6C34878D82A}">
                        <a16:rowId xmlns:a16="http://schemas.microsoft.com/office/drawing/2014/main" val="1737518804"/>
                      </a:ext>
                    </a:extLst>
                  </a:tr>
                </a:tbl>
              </a:graphicData>
            </a:graphic>
          </p:graphicFrame>
        </mc:Choice>
        <mc:Fallback xmlns="">
          <p:graphicFrame>
            <p:nvGraphicFramePr>
              <p:cNvPr id="8" name="Table 7">
                <a:extLst>
                  <a:ext uri="{FF2B5EF4-FFF2-40B4-BE49-F238E27FC236}">
                    <a16:creationId xmlns:a16="http://schemas.microsoft.com/office/drawing/2014/main" id="{0A679A4B-C6AE-573D-8682-9916D41B236C}"/>
                  </a:ext>
                </a:extLst>
              </p:cNvPr>
              <p:cNvGraphicFramePr>
                <a:graphicFrameLocks noGrp="1"/>
              </p:cNvGraphicFramePr>
              <p:nvPr>
                <p:extLst>
                  <p:ext uri="{D42A27DB-BD31-4B8C-83A1-F6EECF244321}">
                    <p14:modId xmlns:p14="http://schemas.microsoft.com/office/powerpoint/2010/main" val="3306579327"/>
                  </p:ext>
                </p:extLst>
              </p:nvPr>
            </p:nvGraphicFramePr>
            <p:xfrm>
              <a:off x="6236821" y="1677930"/>
              <a:ext cx="5519750" cy="2715982"/>
            </p:xfrm>
            <a:graphic>
              <a:graphicData uri="http://schemas.openxmlformats.org/drawingml/2006/table">
                <a:tbl>
                  <a:tblPr firstRow="1" bandRow="1">
                    <a:tableStyleId>{85BE263C-DBD7-4A20-BB59-AAB30ACAA65A}</a:tableStyleId>
                  </a:tblPr>
                  <a:tblGrid>
                    <a:gridCol w="2707001">
                      <a:extLst>
                        <a:ext uri="{9D8B030D-6E8A-4147-A177-3AD203B41FA5}">
                          <a16:colId xmlns:a16="http://schemas.microsoft.com/office/drawing/2014/main" val="2839265209"/>
                        </a:ext>
                      </a:extLst>
                    </a:gridCol>
                    <a:gridCol w="2812749">
                      <a:extLst>
                        <a:ext uri="{9D8B030D-6E8A-4147-A177-3AD203B41FA5}">
                          <a16:colId xmlns:a16="http://schemas.microsoft.com/office/drawing/2014/main" val="1445187659"/>
                        </a:ext>
                      </a:extLst>
                    </a:gridCol>
                  </a:tblGrid>
                  <a:tr h="640080">
                    <a:tc>
                      <a:txBody>
                        <a:bodyPr/>
                        <a:lstStyle/>
                        <a:p>
                          <a:pPr algn="ctr"/>
                          <a:r>
                            <a:rPr lang="en-US" dirty="0"/>
                            <a:t>Volume of Cube </a:t>
                          </a:r>
                        </a:p>
                        <a:p>
                          <a:pPr algn="ctr"/>
                          <a:r>
                            <a:rPr lang="en-US" dirty="0"/>
                            <a:t>with side 2a</a:t>
                          </a:r>
                        </a:p>
                      </a:txBody>
                      <a:tcPr/>
                    </a:tc>
                    <a:tc>
                      <a:txBody>
                        <a:bodyPr/>
                        <a:lstStyle/>
                        <a:p>
                          <a:pPr algn="ctr"/>
                          <a:r>
                            <a:rPr lang="en-US" dirty="0"/>
                            <a:t>Volume of a Sphere </a:t>
                          </a:r>
                        </a:p>
                        <a:p>
                          <a:pPr algn="ctr"/>
                          <a:r>
                            <a:rPr lang="en-US" dirty="0"/>
                            <a:t>with radius a</a:t>
                          </a:r>
                        </a:p>
                      </a:txBody>
                      <a:tcPr/>
                    </a:tc>
                    <a:extLst>
                      <a:ext uri="{0D108BD9-81ED-4DB2-BD59-A6C34878D82A}">
                        <a16:rowId xmlns:a16="http://schemas.microsoft.com/office/drawing/2014/main" val="1895000416"/>
                      </a:ext>
                    </a:extLst>
                  </a:tr>
                  <a:tr h="590601">
                    <a:tc>
                      <a:txBody>
                        <a:bodyPr/>
                        <a:lstStyle/>
                        <a:p>
                          <a:pPr algn="ctr"/>
                          <a:r>
                            <a:rPr lang="en-US" sz="3200" dirty="0"/>
                            <a:t>2 dimensions</a:t>
                          </a:r>
                        </a:p>
                      </a:txBody>
                      <a:tcPr/>
                    </a:tc>
                    <a:tc>
                      <a:txBody>
                        <a:bodyPr/>
                        <a:lstStyle/>
                        <a:p>
                          <a:pPr algn="ctr"/>
                          <a:r>
                            <a:rPr lang="en-US" sz="3200" dirty="0"/>
                            <a:t>25 dimensions</a:t>
                          </a:r>
                        </a:p>
                      </a:txBody>
                      <a:tcPr/>
                    </a:tc>
                    <a:extLst>
                      <a:ext uri="{0D108BD9-81ED-4DB2-BD59-A6C34878D82A}">
                        <a16:rowId xmlns:a16="http://schemas.microsoft.com/office/drawing/2014/main" val="2555922148"/>
                      </a:ext>
                    </a:extLst>
                  </a:tr>
                  <a:tr h="1485301">
                    <a:tc>
                      <a:txBody>
                        <a:bodyPr/>
                        <a:lstStyle/>
                        <a:p>
                          <a:endParaRPr lang="en-US"/>
                        </a:p>
                      </a:txBody>
                      <a:tcPr>
                        <a:blipFill>
                          <a:blip r:embed="rId5"/>
                          <a:stretch>
                            <a:fillRect t="-84615" r="-104695" b="-1709"/>
                          </a:stretch>
                        </a:blipFill>
                      </a:tcPr>
                    </a:tc>
                    <a:tc>
                      <a:txBody>
                        <a:bodyPr/>
                        <a:lstStyle/>
                        <a:p>
                          <a:endParaRPr lang="en-US"/>
                        </a:p>
                      </a:txBody>
                      <a:tcPr>
                        <a:blipFill>
                          <a:blip r:embed="rId5"/>
                          <a:stretch>
                            <a:fillRect l="-95946" t="-84615" r="-450" b="-1709"/>
                          </a:stretch>
                        </a:blipFill>
                      </a:tcPr>
                    </a:tc>
                    <a:extLst>
                      <a:ext uri="{0D108BD9-81ED-4DB2-BD59-A6C34878D82A}">
                        <a16:rowId xmlns:a16="http://schemas.microsoft.com/office/drawing/2014/main" val="1737518804"/>
                      </a:ext>
                    </a:extLst>
                  </a:tr>
                </a:tbl>
              </a:graphicData>
            </a:graphic>
          </p:graphicFrame>
        </mc:Fallback>
      </mc:AlternateContent>
    </p:spTree>
    <p:extLst>
      <p:ext uri="{BB962C8B-B14F-4D97-AF65-F5344CB8AC3E}">
        <p14:creationId xmlns:p14="http://schemas.microsoft.com/office/powerpoint/2010/main" val="326926202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274638"/>
            <a:ext cx="10058400" cy="542587"/>
          </a:xfrm>
        </p:spPr>
        <p:txBody>
          <a:bodyPr>
            <a:normAutofit fontScale="90000"/>
          </a:bodyPr>
          <a:lstStyle/>
          <a:p>
            <a:r>
              <a:rPr lang="en-US" dirty="0">
                <a:latin typeface="Nueva Std Cond"/>
              </a:rPr>
              <a:t>S</a:t>
            </a:r>
            <a:r>
              <a:rPr lang="en-US" b="1" dirty="0">
                <a:latin typeface="Nueva Std Cond"/>
              </a:rPr>
              <a:t>tandard Normal</a:t>
            </a:r>
            <a:r>
              <a:rPr lang="en-US" dirty="0">
                <a:latin typeface="Nueva Std Cond"/>
              </a:rPr>
              <a:t> distributions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200" y="1103093"/>
                <a:ext cx="5155355" cy="1016800"/>
              </a:xfrm>
            </p:spPr>
            <p:txBody>
              <a:bodyPr>
                <a:normAutofit/>
              </a:bodyPr>
              <a:lstStyle/>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d>
                        <m:dPr>
                          <m:ctrlPr>
                            <a:rPr lang="en-US" b="0" i="1" smtClean="0">
                              <a:latin typeface="Cambria Math" panose="02040503050406030204" pitchFamily="18" charset="0"/>
                            </a:rPr>
                          </m:ctrlPr>
                        </m:d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𝑋</m:t>
                              </m:r>
                            </m:e>
                          </m:acc>
                        </m:e>
                      </m:d>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2</m:t>
                                  </m:r>
                                  <m:r>
                                    <a:rPr lang="en-US" b="0" i="1" smtClean="0">
                                      <a:latin typeface="Cambria Math" panose="02040503050406030204" pitchFamily="18" charset="0"/>
                                    </a:rPr>
                                    <m:t>𝜋</m:t>
                                  </m:r>
                                </m:e>
                              </m:d>
                            </m:e>
                            <m:sup>
                              <m:r>
                                <a:rPr lang="en-US" b="0" i="1" smtClean="0">
                                  <a:latin typeface="Cambria Math" panose="02040503050406030204" pitchFamily="18" charset="0"/>
                                </a:rPr>
                                <m:t>𝑑</m:t>
                              </m:r>
                              <m:r>
                                <a:rPr lang="en-US" b="0" i="1" smtClean="0">
                                  <a:latin typeface="Cambria Math" panose="02040503050406030204" pitchFamily="18" charset="0"/>
                                </a:rPr>
                                <m:t>/2</m:t>
                              </m:r>
                            </m:sup>
                          </m:sSup>
                        </m:den>
                      </m:f>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exp</m:t>
                          </m:r>
                        </m:fName>
                        <m:e>
                          <m:d>
                            <m:dPr>
                              <m:ctrlPr>
                                <a:rPr lang="en-US" b="0" i="1" smtClean="0">
                                  <a:latin typeface="Cambria Math" panose="02040503050406030204" pitchFamily="18" charset="0"/>
                                </a:rPr>
                              </m:ctrlPr>
                            </m:dPr>
                            <m:e>
                              <m:r>
                                <a:rPr lang="en-US" b="0" i="1" smtClean="0">
                                  <a:latin typeface="Cambria Math" panose="02040503050406030204" pitchFamily="18" charset="0"/>
                                </a:rPr>
                                <m:t>−</m:t>
                              </m:r>
                              <m:f>
                                <m:fPr>
                                  <m:ctrlPr>
                                    <a:rPr lang="en-US" b="0" i="1" smtClean="0">
                                      <a:latin typeface="Cambria Math" panose="02040503050406030204" pitchFamily="18" charset="0"/>
                                    </a:rPr>
                                  </m:ctrlPr>
                                </m:fPr>
                                <m:num>
                                  <m:sSup>
                                    <m:sSupPr>
                                      <m:ctrlPr>
                                        <a:rPr lang="en-US" b="0" i="1" smtClean="0">
                                          <a:latin typeface="Cambria Math" panose="02040503050406030204" pitchFamily="18" charset="0"/>
                                        </a:rPr>
                                      </m:ctrlPr>
                                    </m:sSup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𝑋</m:t>
                                          </m:r>
                                        </m:e>
                                      </m:acc>
                                    </m:e>
                                    <m:sup>
                                      <m:r>
                                        <a:rPr lang="en-US" b="0" i="1" smtClean="0">
                                          <a:latin typeface="Cambria Math" panose="02040503050406030204" pitchFamily="18" charset="0"/>
                                        </a:rPr>
                                        <m:t>2</m:t>
                                      </m:r>
                                    </m:sup>
                                  </m:sSup>
                                </m:num>
                                <m:den>
                                  <m:r>
                                    <a:rPr lang="en-US" b="0" i="1" smtClean="0">
                                      <a:latin typeface="Cambria Math" panose="02040503050406030204" pitchFamily="18" charset="0"/>
                                    </a:rPr>
                                    <m:t>2</m:t>
                                  </m:r>
                                </m:den>
                              </m:f>
                            </m:e>
                          </m:d>
                        </m:e>
                      </m:func>
                    </m:oMath>
                  </m:oMathPara>
                </a14:m>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57200" y="1103093"/>
                <a:ext cx="5155355" cy="1016800"/>
              </a:xfrm>
              <a:blipFill>
                <a:blip r:embed="rId2"/>
                <a:stretch>
                  <a:fillRect t="-18293"/>
                </a:stretch>
              </a:blipFill>
            </p:spPr>
            <p:txBody>
              <a:bodyPr/>
              <a:lstStyle/>
              <a:p>
                <a:r>
                  <a:rPr lang="en-US">
                    <a:noFill/>
                  </a:rPr>
                  <a:t> </a:t>
                </a:r>
              </a:p>
            </p:txBody>
          </p:sp>
        </mc:Fallback>
      </mc:AlternateContent>
      <p:sp>
        <p:nvSpPr>
          <p:cNvPr id="5" name="Footer Placeholder 4"/>
          <p:cNvSpPr>
            <a:spLocks noGrp="1"/>
          </p:cNvSpPr>
          <p:nvPr>
            <p:ph type="ftr" sz="quarter" idx="11"/>
          </p:nvPr>
        </p:nvSpPr>
        <p:spPr>
          <a:xfrm>
            <a:off x="1747158" y="6355443"/>
            <a:ext cx="4114800" cy="365125"/>
          </a:xfrm>
        </p:spPr>
        <p:txBody>
          <a:bodyPr/>
          <a:lstStyle/>
          <a:p>
            <a:pPr fontAlgn="base">
              <a:spcBef>
                <a:spcPct val="0"/>
              </a:spcBef>
              <a:spcAft>
                <a:spcPct val="0"/>
              </a:spcAft>
              <a:defRPr/>
            </a:pPr>
            <a:r>
              <a:rPr lang="en-US" dirty="0"/>
              <a:t>P. </a:t>
            </a:r>
            <a:r>
              <a:rPr lang="en-US" dirty="0" err="1"/>
              <a:t>Nadolsky</a:t>
            </a:r>
            <a:r>
              <a:rPr lang="en-US" dirty="0"/>
              <a:t> @ Kennesaw State University</a:t>
            </a:r>
            <a:endParaRPr lang="en-GB" dirty="0"/>
          </a:p>
        </p:txBody>
      </p:sp>
      <p:sp>
        <p:nvSpPr>
          <p:cNvPr id="6" name="Slide Number Placeholder 5"/>
          <p:cNvSpPr>
            <a:spLocks noGrp="1"/>
          </p:cNvSpPr>
          <p:nvPr>
            <p:ph type="sldNum" sz="quarter" idx="12"/>
          </p:nvPr>
        </p:nvSpPr>
        <p:spPr/>
        <p:txBody>
          <a:bodyPr/>
          <a:lstStyle/>
          <a:p>
            <a:pPr fontAlgn="base">
              <a:spcBef>
                <a:spcPct val="0"/>
              </a:spcBef>
              <a:spcAft>
                <a:spcPct val="0"/>
              </a:spcAft>
              <a:defRPr/>
            </a:pPr>
            <a:r>
              <a:rPr lang="en-GB"/>
              <a:t>5</a:t>
            </a:r>
            <a:endParaRPr lang="en-GB" dirty="0"/>
          </a:p>
        </p:txBody>
      </p:sp>
      <p:pic>
        <p:nvPicPr>
          <p:cNvPr id="11" name="Picture 10"/>
          <p:cNvPicPr>
            <a:picLocks noChangeAspect="1"/>
          </p:cNvPicPr>
          <p:nvPr/>
        </p:nvPicPr>
        <p:blipFill rotWithShape="1">
          <a:blip r:embed="rId3"/>
          <a:srcRect r="-450" b="20662"/>
          <a:stretch/>
        </p:blipFill>
        <p:spPr>
          <a:xfrm>
            <a:off x="1251858" y="2460180"/>
            <a:ext cx="4212113" cy="2198795"/>
          </a:xfrm>
          <a:prstGeom prst="rect">
            <a:avLst/>
          </a:prstGeom>
        </p:spPr>
      </p:pic>
      <mc:AlternateContent xmlns:mc="http://schemas.openxmlformats.org/markup-compatibility/2006" xmlns:a14="http://schemas.microsoft.com/office/drawing/2010/main">
        <mc:Choice Requires="a14">
          <p:sp>
            <p:nvSpPr>
              <p:cNvPr id="12" name="TextBox 11"/>
              <p:cNvSpPr txBox="1"/>
              <p:nvPr/>
            </p:nvSpPr>
            <p:spPr>
              <a:xfrm>
                <a:off x="721771" y="4999036"/>
                <a:ext cx="5105400" cy="1384995"/>
              </a:xfrm>
              <a:prstGeom prst="rect">
                <a:avLst/>
              </a:prstGeom>
              <a:noFill/>
            </p:spPr>
            <p:txBody>
              <a:bodyPr wrap="square" rtlCol="0">
                <a:spAutoFit/>
              </a:bodyPr>
              <a:lstStyle/>
              <a:p>
                <a:r>
                  <a:rPr lang="en-US" sz="2800" dirty="0"/>
                  <a:t>Any 1-dim. projection contains 68% of the elements in the interval </a:t>
                </a:r>
                <a:r>
                  <a:rPr lang="en-US" sz="2800" i="1" dirty="0">
                    <a:latin typeface="Cambria Math" panose="02040503050406030204" pitchFamily="18" charset="0"/>
                  </a:rPr>
                  <a:t> </a:t>
                </a:r>
                <a14:m>
                  <m:oMath xmlns:m="http://schemas.openxmlformats.org/officeDocument/2006/math">
                    <m:r>
                      <a:rPr lang="en-US" sz="2800" i="1">
                        <a:latin typeface="Cambria Math" panose="02040503050406030204" pitchFamily="18" charset="0"/>
                      </a:rPr>
                      <m:t>−1&lt;</m:t>
                    </m:r>
                    <m:sSub>
                      <m:sSubPr>
                        <m:ctrlPr>
                          <a:rPr lang="en-US" sz="2800" i="1">
                            <a:latin typeface="Cambria Math" panose="02040503050406030204" pitchFamily="18" charset="0"/>
                          </a:rPr>
                        </m:ctrlPr>
                      </m:sSubPr>
                      <m:e>
                        <m:r>
                          <a:rPr lang="en-US" sz="2800" i="1">
                            <a:latin typeface="Cambria Math" panose="02040503050406030204" pitchFamily="18" charset="0"/>
                          </a:rPr>
                          <m:t>𝑥</m:t>
                        </m:r>
                      </m:e>
                      <m:sub>
                        <m:r>
                          <a:rPr lang="en-US" sz="2800" i="1">
                            <a:latin typeface="Cambria Math" panose="02040503050406030204" pitchFamily="18" charset="0"/>
                          </a:rPr>
                          <m:t>𝑖</m:t>
                        </m:r>
                      </m:sub>
                    </m:sSub>
                    <m:r>
                      <a:rPr lang="en-US" sz="2800" i="1">
                        <a:latin typeface="Cambria Math" panose="02040503050406030204" pitchFamily="18" charset="0"/>
                      </a:rPr>
                      <m:t>&lt;1</m:t>
                    </m:r>
                  </m:oMath>
                </a14:m>
                <a:r>
                  <a:rPr lang="en-US" sz="2800" dirty="0"/>
                  <a:t> </a:t>
                </a:r>
              </a:p>
            </p:txBody>
          </p:sp>
        </mc:Choice>
        <mc:Fallback xmlns="">
          <p:sp>
            <p:nvSpPr>
              <p:cNvPr id="12" name="TextBox 11"/>
              <p:cNvSpPr txBox="1">
                <a:spLocks noRot="1" noChangeAspect="1" noMove="1" noResize="1" noEditPoints="1" noAdjustHandles="1" noChangeArrowheads="1" noChangeShapeType="1" noTextEdit="1"/>
              </p:cNvSpPr>
              <p:nvPr/>
            </p:nvSpPr>
            <p:spPr>
              <a:xfrm>
                <a:off x="721771" y="4999036"/>
                <a:ext cx="5105400" cy="1384995"/>
              </a:xfrm>
              <a:prstGeom prst="rect">
                <a:avLst/>
              </a:prstGeom>
              <a:blipFill>
                <a:blip r:embed="rId4"/>
                <a:stretch>
                  <a:fillRect l="-2481" t="-4545" b="-10909"/>
                </a:stretch>
              </a:blipFill>
            </p:spPr>
            <p:txBody>
              <a:bodyPr/>
              <a:lstStyle/>
              <a:p>
                <a:r>
                  <a:rPr lang="en-US">
                    <a:noFill/>
                  </a:rPr>
                  <a:t> </a:t>
                </a:r>
              </a:p>
            </p:txBody>
          </p:sp>
        </mc:Fallback>
      </mc:AlternateContent>
      <p:sp>
        <p:nvSpPr>
          <p:cNvPr id="14" name="Date Placeholder 13"/>
          <p:cNvSpPr>
            <a:spLocks noGrp="1"/>
          </p:cNvSpPr>
          <p:nvPr>
            <p:ph type="dt" sz="half" idx="10"/>
          </p:nvPr>
        </p:nvSpPr>
        <p:spPr/>
        <p:txBody>
          <a:bodyPr/>
          <a:lstStyle/>
          <a:p>
            <a:pPr fontAlgn="base">
              <a:spcBef>
                <a:spcPct val="0"/>
              </a:spcBef>
              <a:spcAft>
                <a:spcPct val="0"/>
              </a:spcAft>
              <a:defRPr/>
            </a:pPr>
            <a:r>
              <a:rPr lang="en-US"/>
              <a:t>2023-02-10</a:t>
            </a:r>
            <a:endParaRPr lang="en-GB" dirty="0"/>
          </a:p>
        </p:txBody>
      </p:sp>
      <mc:AlternateContent xmlns:mc="http://schemas.openxmlformats.org/markup-compatibility/2006" xmlns:a14="http://schemas.microsoft.com/office/drawing/2010/main">
        <mc:Choice Requires="a14">
          <p:sp>
            <p:nvSpPr>
              <p:cNvPr id="4" name="Content Placeholder 2">
                <a:extLst>
                  <a:ext uri="{FF2B5EF4-FFF2-40B4-BE49-F238E27FC236}">
                    <a16:creationId xmlns:a16="http://schemas.microsoft.com/office/drawing/2014/main" id="{04E67898-8286-A902-B424-F6A338240D8B}"/>
                  </a:ext>
                </a:extLst>
              </p:cNvPr>
              <p:cNvSpPr txBox="1">
                <a:spLocks/>
              </p:cNvSpPr>
              <p:nvPr/>
            </p:nvSpPr>
            <p:spPr>
              <a:xfrm>
                <a:off x="6150135" y="1035818"/>
                <a:ext cx="5155355" cy="919539"/>
              </a:xfrm>
              <a:prstGeom prst="rect">
                <a:avLst/>
              </a:prstGeom>
            </p:spPr>
            <p:txBody>
              <a:bodyPr vert="horz" lIns="91440" tIns="45720" rIns="91440" bIns="45720" rtlCol="0">
                <a:normAutofit fontScale="850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𝑃</m:t>
                      </m:r>
                      <m:d>
                        <m:dPr>
                          <m:ctrlPr>
                            <a:rPr lang="en-US" i="1" smtClean="0">
                              <a:latin typeface="Cambria Math" panose="02040503050406030204" pitchFamily="18" charset="0"/>
                            </a:rPr>
                          </m:ctrlPr>
                        </m:dPr>
                        <m:e>
                          <m:acc>
                            <m:accPr>
                              <m:chr m:val="⃗"/>
                              <m:ctrlPr>
                                <a:rPr lang="en-US" i="1" smtClean="0">
                                  <a:latin typeface="Cambria Math" panose="02040503050406030204" pitchFamily="18" charset="0"/>
                                </a:rPr>
                              </m:ctrlPr>
                            </m:accPr>
                            <m:e>
                              <m:r>
                                <a:rPr lang="en-US" i="1" smtClean="0">
                                  <a:latin typeface="Cambria Math" panose="02040503050406030204" pitchFamily="18" charset="0"/>
                                </a:rPr>
                                <m:t>𝑋</m:t>
                              </m:r>
                            </m:e>
                          </m:acc>
                        </m:e>
                      </m:d>
                      <m:r>
                        <a:rPr lang="en-US" i="1" smtClean="0">
                          <a:latin typeface="Cambria Math" panose="02040503050406030204" pitchFamily="18" charset="0"/>
                        </a:rPr>
                        <m:t>=</m:t>
                      </m:r>
                      <m:f>
                        <m:fPr>
                          <m:ctrlPr>
                            <a:rPr lang="en-US" i="1" smtClean="0">
                              <a:latin typeface="Cambria Math" panose="02040503050406030204" pitchFamily="18" charset="0"/>
                            </a:rPr>
                          </m:ctrlPr>
                        </m:fPr>
                        <m:num>
                          <m:r>
                            <a:rPr lang="en-US" i="1" smtClean="0">
                              <a:latin typeface="Cambria Math" panose="02040503050406030204" pitchFamily="18" charset="0"/>
                            </a:rPr>
                            <m:t>1</m:t>
                          </m:r>
                        </m:num>
                        <m:den>
                          <m:sSup>
                            <m:sSupPr>
                              <m:ctrlPr>
                                <a:rPr lang="en-US" i="1" smtClean="0">
                                  <a:latin typeface="Cambria Math" panose="02040503050406030204" pitchFamily="18" charset="0"/>
                                </a:rPr>
                              </m:ctrlPr>
                            </m:sSupPr>
                            <m:e>
                              <m:d>
                                <m:dPr>
                                  <m:ctrlPr>
                                    <a:rPr lang="en-US" i="1" smtClean="0">
                                      <a:latin typeface="Cambria Math" panose="02040503050406030204" pitchFamily="18" charset="0"/>
                                    </a:rPr>
                                  </m:ctrlPr>
                                </m:dPr>
                                <m:e>
                                  <m:r>
                                    <a:rPr lang="en-US" i="1" smtClean="0">
                                      <a:latin typeface="Cambria Math" panose="02040503050406030204" pitchFamily="18" charset="0"/>
                                    </a:rPr>
                                    <m:t>2</m:t>
                                  </m:r>
                                  <m:r>
                                    <a:rPr lang="en-US" i="1" smtClean="0">
                                      <a:latin typeface="Cambria Math" panose="02040503050406030204" pitchFamily="18" charset="0"/>
                                    </a:rPr>
                                    <m:t>𝜋</m:t>
                                  </m:r>
                                </m:e>
                              </m:d>
                            </m:e>
                            <m:sup>
                              <m:r>
                                <a:rPr lang="en-US" i="1" smtClean="0">
                                  <a:latin typeface="Cambria Math" panose="02040503050406030204" pitchFamily="18" charset="0"/>
                                </a:rPr>
                                <m:t>𝑑</m:t>
                              </m:r>
                              <m:r>
                                <a:rPr lang="en-US" i="1" smtClean="0">
                                  <a:latin typeface="Cambria Math" panose="02040503050406030204" pitchFamily="18" charset="0"/>
                                </a:rPr>
                                <m:t>/2</m:t>
                              </m:r>
                            </m:sup>
                          </m:sSup>
                        </m:den>
                      </m:f>
                      <m:func>
                        <m:funcPr>
                          <m:ctrlPr>
                            <a:rPr lang="en-US" i="1" smtClean="0">
                              <a:latin typeface="Cambria Math" panose="02040503050406030204" pitchFamily="18" charset="0"/>
                            </a:rPr>
                          </m:ctrlPr>
                        </m:funcPr>
                        <m:fName>
                          <m:r>
                            <m:rPr>
                              <m:sty m:val="p"/>
                            </m:rPr>
                            <a:rPr lang="en-US" smtClean="0">
                              <a:latin typeface="Cambria Math" panose="02040503050406030204" pitchFamily="18" charset="0"/>
                            </a:rPr>
                            <m:t>exp</m:t>
                          </m:r>
                        </m:fName>
                        <m:e>
                          <m:d>
                            <m:dPr>
                              <m:ctrlPr>
                                <a:rPr lang="en-US" i="1" smtClean="0">
                                  <a:latin typeface="Cambria Math" panose="02040503050406030204" pitchFamily="18" charset="0"/>
                                </a:rPr>
                              </m:ctrlPr>
                            </m:dPr>
                            <m:e>
                              <m:r>
                                <a:rPr lang="en-US" i="1" smtClean="0">
                                  <a:latin typeface="Cambria Math" panose="02040503050406030204" pitchFamily="18" charset="0"/>
                                </a:rPr>
                                <m:t>−</m:t>
                              </m:r>
                              <m:f>
                                <m:fPr>
                                  <m:ctrlPr>
                                    <a:rPr lang="en-US" i="1" smtClean="0">
                                      <a:latin typeface="Cambria Math" panose="02040503050406030204" pitchFamily="18" charset="0"/>
                                    </a:rPr>
                                  </m:ctrlPr>
                                </m:fPr>
                                <m:num>
                                  <m:sSup>
                                    <m:sSupPr>
                                      <m:ctrlPr>
                                        <a:rPr lang="en-US" i="1" smtClean="0">
                                          <a:latin typeface="Cambria Math" panose="02040503050406030204" pitchFamily="18" charset="0"/>
                                        </a:rPr>
                                      </m:ctrlPr>
                                    </m:sSupPr>
                                    <m:e>
                                      <m:acc>
                                        <m:accPr>
                                          <m:chr m:val="⃗"/>
                                          <m:ctrlPr>
                                            <a:rPr lang="en-US" i="1" smtClean="0">
                                              <a:latin typeface="Cambria Math" panose="02040503050406030204" pitchFamily="18" charset="0"/>
                                            </a:rPr>
                                          </m:ctrlPr>
                                        </m:accPr>
                                        <m:e>
                                          <m:r>
                                            <a:rPr lang="en-US" i="1" smtClean="0">
                                              <a:latin typeface="Cambria Math" panose="02040503050406030204" pitchFamily="18" charset="0"/>
                                            </a:rPr>
                                            <m:t>𝑋</m:t>
                                          </m:r>
                                        </m:e>
                                      </m:acc>
                                    </m:e>
                                    <m:sup>
                                      <m:r>
                                        <a:rPr lang="en-US" i="1" smtClean="0">
                                          <a:latin typeface="Cambria Math" panose="02040503050406030204" pitchFamily="18" charset="0"/>
                                        </a:rPr>
                                        <m:t>2</m:t>
                                      </m:r>
                                    </m:sup>
                                  </m:sSup>
                                </m:num>
                                <m:den>
                                  <m:r>
                                    <a:rPr lang="en-US" i="1" smtClean="0">
                                      <a:latin typeface="Cambria Math" panose="02040503050406030204" pitchFamily="18" charset="0"/>
                                    </a:rPr>
                                    <m:t>2</m:t>
                                  </m:r>
                                </m:den>
                              </m:f>
                            </m:e>
                          </m:d>
                        </m:e>
                      </m:func>
                    </m:oMath>
                  </m:oMathPara>
                </a14:m>
                <a:endParaRPr lang="en-US" dirty="0"/>
              </a:p>
            </p:txBody>
          </p:sp>
        </mc:Choice>
        <mc:Fallback xmlns="">
          <p:sp>
            <p:nvSpPr>
              <p:cNvPr id="4" name="Content Placeholder 2">
                <a:extLst>
                  <a:ext uri="{FF2B5EF4-FFF2-40B4-BE49-F238E27FC236}">
                    <a16:creationId xmlns:a16="http://schemas.microsoft.com/office/drawing/2014/main" id="{04E67898-8286-A902-B424-F6A338240D8B}"/>
                  </a:ext>
                </a:extLst>
              </p:cNvPr>
              <p:cNvSpPr txBox="1">
                <a:spLocks noRot="1" noChangeAspect="1" noMove="1" noResize="1" noEditPoints="1" noAdjustHandles="1" noChangeArrowheads="1" noChangeShapeType="1" noTextEdit="1"/>
              </p:cNvSpPr>
              <p:nvPr/>
            </p:nvSpPr>
            <p:spPr>
              <a:xfrm>
                <a:off x="6150135" y="1035818"/>
                <a:ext cx="5155355" cy="919539"/>
              </a:xfrm>
              <a:prstGeom prst="rect">
                <a:avLst/>
              </a:prstGeom>
              <a:blipFill>
                <a:blip r:embed="rId5"/>
                <a:stretch>
                  <a:fillRect/>
                </a:stretch>
              </a:blipFill>
            </p:spPr>
            <p:txBody>
              <a:bodyPr/>
              <a:lstStyle/>
              <a:p>
                <a:r>
                  <a:rPr lang="en-US">
                    <a:noFill/>
                  </a:rPr>
                  <a:t> </a:t>
                </a:r>
              </a:p>
            </p:txBody>
          </p:sp>
        </mc:Fallback>
      </mc:AlternateContent>
      <p:pic>
        <p:nvPicPr>
          <p:cNvPr id="7" name="Picture 6">
            <a:extLst>
              <a:ext uri="{FF2B5EF4-FFF2-40B4-BE49-F238E27FC236}">
                <a16:creationId xmlns:a16="http://schemas.microsoft.com/office/drawing/2014/main" id="{F5FF149B-8DCE-3B38-7C2F-0637CC15AF54}"/>
              </a:ext>
            </a:extLst>
          </p:cNvPr>
          <p:cNvPicPr>
            <a:picLocks noChangeAspect="1"/>
          </p:cNvPicPr>
          <p:nvPr/>
        </p:nvPicPr>
        <p:blipFill>
          <a:blip r:embed="rId6"/>
          <a:stretch>
            <a:fillRect/>
          </a:stretch>
        </p:blipFill>
        <p:spPr>
          <a:xfrm>
            <a:off x="7075713" y="2173951"/>
            <a:ext cx="3454859" cy="3321189"/>
          </a:xfrm>
          <a:prstGeom prst="rect">
            <a:avLst/>
          </a:prstGeom>
        </p:spPr>
      </p:pic>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5166DF2C-A0FD-69EB-C97F-4C798FFED41E}"/>
                  </a:ext>
                </a:extLst>
              </p:cNvPr>
              <p:cNvSpPr txBox="1"/>
              <p:nvPr/>
            </p:nvSpPr>
            <p:spPr>
              <a:xfrm>
                <a:off x="6330044" y="4814096"/>
                <a:ext cx="5597164" cy="1799275"/>
              </a:xfrm>
              <a:prstGeom prst="rect">
                <a:avLst/>
              </a:prstGeom>
              <a:solidFill>
                <a:schemeClr val="accent1"/>
              </a:solidFill>
            </p:spPr>
            <p:txBody>
              <a:bodyPr wrap="square" rtlCol="0">
                <a:spAutoFit/>
              </a:bodyPr>
              <a:lstStyle/>
              <a:p>
                <a:r>
                  <a:rPr lang="en-US" sz="2000" dirty="0">
                    <a:solidFill>
                      <a:schemeClr val="bg1"/>
                    </a:solidFill>
                  </a:rPr>
                  <a:t>The mean distance of an element from the center (“truth”) at  </a:t>
                </a:r>
                <a14:m>
                  <m:oMath xmlns:m="http://schemas.openxmlformats.org/officeDocument/2006/math">
                    <m:acc>
                      <m:accPr>
                        <m:chr m:val="⃗"/>
                        <m:ctrlPr>
                          <a:rPr lang="en-US" sz="2000" i="1">
                            <a:solidFill>
                              <a:schemeClr val="bg1"/>
                            </a:solidFill>
                            <a:latin typeface="Cambria Math" panose="02040503050406030204" pitchFamily="18" charset="0"/>
                          </a:rPr>
                        </m:ctrlPr>
                      </m:accPr>
                      <m:e>
                        <m:r>
                          <a:rPr lang="en-US" sz="2000" b="0" i="1" smtClean="0">
                            <a:solidFill>
                              <a:schemeClr val="bg1"/>
                            </a:solidFill>
                            <a:latin typeface="Cambria Math" panose="02040503050406030204" pitchFamily="18" charset="0"/>
                          </a:rPr>
                          <m:t>𝑋</m:t>
                        </m:r>
                      </m:e>
                    </m:acc>
                    <m:r>
                      <a:rPr lang="en-US" sz="2000" i="1">
                        <a:solidFill>
                          <a:schemeClr val="bg1"/>
                        </a:solidFill>
                        <a:latin typeface="Cambria Math" panose="02040503050406030204" pitchFamily="18" charset="0"/>
                      </a:rPr>
                      <m:t>=0</m:t>
                    </m:r>
                  </m:oMath>
                </a14:m>
                <a:r>
                  <a:rPr lang="en-US" sz="2000" dirty="0">
                    <a:solidFill>
                      <a:schemeClr val="bg1"/>
                    </a:solidFill>
                  </a:rPr>
                  <a:t> is</a:t>
                </a:r>
                <a14:m>
                  <m:oMath xmlns:m="http://schemas.openxmlformats.org/officeDocument/2006/math">
                    <m:d>
                      <m:dPr>
                        <m:begChr m:val="〈"/>
                        <m:endChr m:val="〉"/>
                        <m:ctrlPr>
                          <a:rPr lang="en-US" sz="2400" i="1">
                            <a:solidFill>
                              <a:schemeClr val="bg1"/>
                            </a:solidFill>
                            <a:latin typeface="Cambria Math" panose="02040503050406030204" pitchFamily="18" charset="0"/>
                          </a:rPr>
                        </m:ctrlPr>
                      </m:dPr>
                      <m:e>
                        <m:d>
                          <m:dPr>
                            <m:begChr m:val="|"/>
                            <m:endChr m:val="|"/>
                            <m:ctrlPr>
                              <a:rPr lang="en-US" sz="2400" i="1">
                                <a:solidFill>
                                  <a:schemeClr val="bg1"/>
                                </a:solidFill>
                                <a:latin typeface="Cambria Math" panose="02040503050406030204" pitchFamily="18" charset="0"/>
                              </a:rPr>
                            </m:ctrlPr>
                          </m:dPr>
                          <m:e>
                            <m:acc>
                              <m:accPr>
                                <m:chr m:val="⃗"/>
                                <m:ctrlPr>
                                  <a:rPr lang="en-US" sz="2400" i="1">
                                    <a:solidFill>
                                      <a:schemeClr val="bg1"/>
                                    </a:solidFill>
                                    <a:latin typeface="Cambria Math" panose="02040503050406030204" pitchFamily="18" charset="0"/>
                                  </a:rPr>
                                </m:ctrlPr>
                              </m:accPr>
                              <m:e>
                                <m:r>
                                  <a:rPr lang="en-US" sz="2400" b="0" i="1" smtClean="0">
                                    <a:solidFill>
                                      <a:schemeClr val="bg1"/>
                                    </a:solidFill>
                                    <a:latin typeface="Cambria Math" panose="02040503050406030204" pitchFamily="18" charset="0"/>
                                  </a:rPr>
                                  <m:t>𝑋</m:t>
                                </m:r>
                              </m:e>
                            </m:acc>
                          </m:e>
                        </m:d>
                      </m:e>
                    </m:d>
                    <m:r>
                      <a:rPr lang="en-US" sz="2400" i="1">
                        <a:solidFill>
                          <a:schemeClr val="bg1"/>
                        </a:solidFill>
                        <a:latin typeface="Cambria Math" panose="02040503050406030204" pitchFamily="18" charset="0"/>
                      </a:rPr>
                      <m:t>≈</m:t>
                    </m:r>
                    <m:rad>
                      <m:radPr>
                        <m:degHide m:val="on"/>
                        <m:ctrlPr>
                          <a:rPr lang="en-US" sz="2400" i="1" smtClean="0">
                            <a:solidFill>
                              <a:schemeClr val="bg1"/>
                            </a:solidFill>
                            <a:latin typeface="Cambria Math" panose="02040503050406030204" pitchFamily="18" charset="0"/>
                          </a:rPr>
                        </m:ctrlPr>
                      </m:radPr>
                      <m:deg/>
                      <m:e>
                        <m:r>
                          <a:rPr lang="en-US" sz="2400" b="0" i="1" smtClean="0">
                            <a:solidFill>
                              <a:schemeClr val="bg1"/>
                            </a:solidFill>
                            <a:latin typeface="Cambria Math" panose="02040503050406030204" pitchFamily="18" charset="0"/>
                          </a:rPr>
                          <m:t>𝑑</m:t>
                        </m:r>
                      </m:e>
                    </m:rad>
                    <m:r>
                      <a:rPr lang="en-US" sz="2400" b="0" i="0" smtClean="0">
                        <a:solidFill>
                          <a:schemeClr val="bg1"/>
                        </a:solidFill>
                        <a:latin typeface="Cambria Math" panose="02040503050406030204" pitchFamily="18" charset="0"/>
                      </a:rPr>
                      <m:t>. </m:t>
                    </m:r>
                  </m:oMath>
                </a14:m>
                <a:r>
                  <a:rPr lang="en-US" sz="2000" dirty="0">
                    <a:solidFill>
                      <a:schemeClr val="bg1"/>
                    </a:solidFill>
                  </a:rPr>
                  <a:t>In a large-</a:t>
                </a:r>
                <a14:m>
                  <m:oMath xmlns:m="http://schemas.openxmlformats.org/officeDocument/2006/math">
                    <m:r>
                      <a:rPr lang="en-US" sz="2000" b="0" i="1" smtClean="0">
                        <a:solidFill>
                          <a:schemeClr val="bg1"/>
                        </a:solidFill>
                        <a:latin typeface="Cambria Math" panose="02040503050406030204" pitchFamily="18" charset="0"/>
                      </a:rPr>
                      <m:t>𝑑</m:t>
                    </m:r>
                  </m:oMath>
                </a14:m>
                <a:r>
                  <a:rPr lang="en-US" sz="2000" dirty="0">
                    <a:solidFill>
                      <a:schemeClr val="bg1"/>
                    </a:solidFill>
                  </a:rPr>
                  <a:t> </a:t>
                </a:r>
                <a:r>
                  <a:rPr lang="en-US" sz="2000" b="1" dirty="0">
                    <a:solidFill>
                      <a:schemeClr val="bg1"/>
                    </a:solidFill>
                  </a:rPr>
                  <a:t>normal</a:t>
                </a:r>
                <a:r>
                  <a:rPr lang="en-US" sz="2000" dirty="0">
                    <a:solidFill>
                      <a:schemeClr val="bg1"/>
                    </a:solidFill>
                  </a:rPr>
                  <a:t> distribution, a single element is likely to be very </a:t>
                </a:r>
                <a:r>
                  <a:rPr lang="en-US" sz="2000" b="1" dirty="0">
                    <a:solidFill>
                      <a:schemeClr val="bg1"/>
                    </a:solidFill>
                  </a:rPr>
                  <a:t>abnormal</a:t>
                </a:r>
                <a:r>
                  <a:rPr lang="en-US" sz="2000" dirty="0">
                    <a:solidFill>
                      <a:schemeClr val="bg1"/>
                    </a:solidFill>
                  </a:rPr>
                  <a:t> (be </a:t>
                </a:r>
                <a14:m>
                  <m:oMath xmlns:m="http://schemas.openxmlformats.org/officeDocument/2006/math">
                    <m:r>
                      <a:rPr lang="en-US" sz="2000" i="1">
                        <a:solidFill>
                          <a:schemeClr val="bg1"/>
                        </a:solidFill>
                        <a:latin typeface="Cambria Math" panose="02040503050406030204" pitchFamily="18" charset="0"/>
                      </a:rPr>
                      <m:t>∼</m:t>
                    </m:r>
                    <m:rad>
                      <m:radPr>
                        <m:degHide m:val="on"/>
                        <m:ctrlPr>
                          <a:rPr lang="en-US" sz="2000" i="1">
                            <a:solidFill>
                              <a:schemeClr val="bg1"/>
                            </a:solidFill>
                            <a:latin typeface="Cambria Math" panose="02040503050406030204" pitchFamily="18" charset="0"/>
                          </a:rPr>
                        </m:ctrlPr>
                      </m:radPr>
                      <m:deg/>
                      <m:e>
                        <m:r>
                          <a:rPr lang="en-US" sz="2000" b="0" i="1" smtClean="0">
                            <a:solidFill>
                              <a:schemeClr val="bg1"/>
                            </a:solidFill>
                            <a:latin typeface="Cambria Math" panose="02040503050406030204" pitchFamily="18" charset="0"/>
                          </a:rPr>
                          <m:t>𝑑</m:t>
                        </m:r>
                      </m:e>
                    </m:rad>
                    <m:r>
                      <a:rPr lang="en-US" sz="2000">
                        <a:solidFill>
                          <a:schemeClr val="bg1"/>
                        </a:solidFill>
                        <a:latin typeface="Cambria Math" panose="02040503050406030204" pitchFamily="18" charset="0"/>
                      </a:rPr>
                      <m:t> </m:t>
                    </m:r>
                    <m:r>
                      <a:rPr lang="en-US" sz="2000" i="1">
                        <a:solidFill>
                          <a:schemeClr val="bg1"/>
                        </a:solidFill>
                        <a:latin typeface="Cambria Math" panose="02040503050406030204" pitchFamily="18" charset="0"/>
                      </a:rPr>
                      <m:t>𝜎</m:t>
                    </m:r>
                  </m:oMath>
                </a14:m>
                <a:r>
                  <a:rPr lang="en-US" sz="2000" dirty="0">
                    <a:solidFill>
                      <a:schemeClr val="bg1"/>
                    </a:solidFill>
                  </a:rPr>
                  <a:t> away from the “truth”) in some direction(s).</a:t>
                </a:r>
              </a:p>
            </p:txBody>
          </p:sp>
        </mc:Choice>
        <mc:Fallback xmlns="">
          <p:sp>
            <p:nvSpPr>
              <p:cNvPr id="8" name="TextBox 7">
                <a:extLst>
                  <a:ext uri="{FF2B5EF4-FFF2-40B4-BE49-F238E27FC236}">
                    <a16:creationId xmlns:a16="http://schemas.microsoft.com/office/drawing/2014/main" id="{5166DF2C-A0FD-69EB-C97F-4C798FFED41E}"/>
                  </a:ext>
                </a:extLst>
              </p:cNvPr>
              <p:cNvSpPr txBox="1">
                <a:spLocks noRot="1" noChangeAspect="1" noMove="1" noResize="1" noEditPoints="1" noAdjustHandles="1" noChangeArrowheads="1" noChangeShapeType="1" noTextEdit="1"/>
              </p:cNvSpPr>
              <p:nvPr/>
            </p:nvSpPr>
            <p:spPr>
              <a:xfrm>
                <a:off x="6330044" y="4814096"/>
                <a:ext cx="5597164" cy="1799275"/>
              </a:xfrm>
              <a:prstGeom prst="rect">
                <a:avLst/>
              </a:prstGeom>
              <a:blipFill>
                <a:blip r:embed="rId7"/>
                <a:stretch>
                  <a:fillRect l="-1131" t="-2113" b="-4930"/>
                </a:stretch>
              </a:blipFill>
            </p:spPr>
            <p:txBody>
              <a:bodyPr/>
              <a:lstStyle/>
              <a:p>
                <a:r>
                  <a:rPr lang="en-US">
                    <a:noFill/>
                  </a:rPr>
                  <a:t> </a:t>
                </a:r>
              </a:p>
            </p:txBody>
          </p:sp>
        </mc:Fallback>
      </mc:AlternateContent>
      <p:grpSp>
        <p:nvGrpSpPr>
          <p:cNvPr id="9" name="Group 8">
            <a:extLst>
              <a:ext uri="{FF2B5EF4-FFF2-40B4-BE49-F238E27FC236}">
                <a16:creationId xmlns:a16="http://schemas.microsoft.com/office/drawing/2014/main" id="{FB6E43F2-B87B-A9D6-A02E-BD6A0F152396}"/>
              </a:ext>
            </a:extLst>
          </p:cNvPr>
          <p:cNvGrpSpPr/>
          <p:nvPr/>
        </p:nvGrpSpPr>
        <p:grpSpPr>
          <a:xfrm>
            <a:off x="8803142" y="3640216"/>
            <a:ext cx="1377044" cy="1173880"/>
            <a:chOff x="2414833" y="4183403"/>
            <a:chExt cx="1377044" cy="1173880"/>
          </a:xfrm>
        </p:grpSpPr>
        <p:sp>
          <p:nvSpPr>
            <p:cNvPr id="10" name="Oval 9">
              <a:extLst>
                <a:ext uri="{FF2B5EF4-FFF2-40B4-BE49-F238E27FC236}">
                  <a16:creationId xmlns:a16="http://schemas.microsoft.com/office/drawing/2014/main" id="{18A6AE66-136F-78D1-8E5F-B06558D9E910}"/>
                </a:ext>
              </a:extLst>
            </p:cNvPr>
            <p:cNvSpPr/>
            <p:nvPr/>
          </p:nvSpPr>
          <p:spPr bwMode="auto">
            <a:xfrm>
              <a:off x="2414833" y="4183403"/>
              <a:ext cx="188536" cy="178370"/>
            </a:xfrm>
            <a:prstGeom prst="ellipse">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defTabSz="914400" fontAlgn="base">
                <a:spcBef>
                  <a:spcPct val="0"/>
                </a:spcBef>
                <a:spcAft>
                  <a:spcPct val="0"/>
                </a:spcAft>
              </a:pPr>
              <a:endParaRPr lang="en-US">
                <a:latin typeface="Arial" charset="0"/>
              </a:endParaRPr>
            </a:p>
          </p:txBody>
        </p:sp>
        <p:sp>
          <p:nvSpPr>
            <p:cNvPr id="13" name="Oval 12">
              <a:extLst>
                <a:ext uri="{FF2B5EF4-FFF2-40B4-BE49-F238E27FC236}">
                  <a16:creationId xmlns:a16="http://schemas.microsoft.com/office/drawing/2014/main" id="{0E488036-C855-DED6-BAFD-F8D9C109CFA3}"/>
                </a:ext>
              </a:extLst>
            </p:cNvPr>
            <p:cNvSpPr/>
            <p:nvPr/>
          </p:nvSpPr>
          <p:spPr bwMode="auto">
            <a:xfrm>
              <a:off x="3603341" y="5109620"/>
              <a:ext cx="188536" cy="178370"/>
            </a:xfrm>
            <a:prstGeom prst="ellipse">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defTabSz="914400" fontAlgn="base">
                <a:spcBef>
                  <a:spcPct val="0"/>
                </a:spcBef>
                <a:spcAft>
                  <a:spcPct val="0"/>
                </a:spcAft>
              </a:pPr>
              <a:endParaRPr lang="en-US">
                <a:latin typeface="Arial" charset="0"/>
              </a:endParaRPr>
            </a:p>
          </p:txBody>
        </p:sp>
        <p:cxnSp>
          <p:nvCxnSpPr>
            <p:cNvPr id="15" name="Straight Arrow Connector 14">
              <a:extLst>
                <a:ext uri="{FF2B5EF4-FFF2-40B4-BE49-F238E27FC236}">
                  <a16:creationId xmlns:a16="http://schemas.microsoft.com/office/drawing/2014/main" id="{7FA8E966-4E4E-5BA3-7334-89E12B1B3C2E}"/>
                </a:ext>
              </a:extLst>
            </p:cNvPr>
            <p:cNvCxnSpPr/>
            <p:nvPr/>
          </p:nvCxnSpPr>
          <p:spPr bwMode="auto">
            <a:xfrm>
              <a:off x="2569505" y="4335652"/>
              <a:ext cx="1094410" cy="824627"/>
            </a:xfrm>
            <a:prstGeom prst="straightConnector1">
              <a:avLst/>
            </a:prstGeom>
            <a:solidFill>
              <a:schemeClr val="accent1"/>
            </a:solidFill>
            <a:ln w="57150" cap="flat" cmpd="sng" algn="ctr">
              <a:solidFill>
                <a:srgbClr val="40E0D0"/>
              </a:solidFill>
              <a:prstDash val="solid"/>
              <a:round/>
              <a:headEnd type="triangle"/>
              <a:tailEnd type="triangle"/>
            </a:ln>
            <a:effectLst/>
          </p:spPr>
        </p:cxn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457BBA65-DBA5-1C5A-5F73-BD445B59B403}"/>
                    </a:ext>
                  </a:extLst>
                </p:cNvPr>
                <p:cNvSpPr txBox="1"/>
                <p:nvPr/>
              </p:nvSpPr>
              <p:spPr>
                <a:xfrm>
                  <a:off x="2662533" y="4850862"/>
                  <a:ext cx="499741" cy="506421"/>
                </a:xfrm>
                <a:prstGeom prst="rect">
                  <a:avLst/>
                </a:prstGeom>
                <a:solidFill>
                  <a:srgbClr val="40E0D0"/>
                </a:solidFill>
              </p:spPr>
              <p:txBody>
                <a:bodyPr wrap="square" rtlCol="0">
                  <a:spAutoFit/>
                </a:bodyPr>
                <a:lstStyle/>
                <a:p>
                  <a:pPr/>
                  <a14:m>
                    <m:oMathPara xmlns:m="http://schemas.openxmlformats.org/officeDocument/2006/math">
                      <m:oMathParaPr>
                        <m:jc m:val="centerGroup"/>
                      </m:oMathParaPr>
                      <m:oMath xmlns:m="http://schemas.openxmlformats.org/officeDocument/2006/math">
                        <m:acc>
                          <m:accPr>
                            <m:chr m:val="⃗"/>
                            <m:ctrlPr>
                              <a:rPr lang="en-US" sz="2400" i="1" smtClean="0">
                                <a:latin typeface="Cambria Math" panose="02040503050406030204" pitchFamily="18" charset="0"/>
                              </a:rPr>
                            </m:ctrlPr>
                          </m:accPr>
                          <m:e>
                            <m:r>
                              <a:rPr lang="en-US" sz="2400" b="0" i="1" smtClean="0">
                                <a:latin typeface="Cambria Math" panose="02040503050406030204" pitchFamily="18" charset="0"/>
                              </a:rPr>
                              <m:t>𝑋</m:t>
                            </m:r>
                          </m:e>
                        </m:acc>
                      </m:oMath>
                    </m:oMathPara>
                  </a14:m>
                  <a:endParaRPr lang="en-US" sz="2400" dirty="0"/>
                </a:p>
              </p:txBody>
            </p:sp>
          </mc:Choice>
          <mc:Fallback xmlns="">
            <p:sp>
              <p:nvSpPr>
                <p:cNvPr id="16" name="TextBox 15">
                  <a:extLst>
                    <a:ext uri="{FF2B5EF4-FFF2-40B4-BE49-F238E27FC236}">
                      <a16:creationId xmlns:a16="http://schemas.microsoft.com/office/drawing/2014/main" id="{457BBA65-DBA5-1C5A-5F73-BD445B59B403}"/>
                    </a:ext>
                  </a:extLst>
                </p:cNvPr>
                <p:cNvSpPr txBox="1">
                  <a:spLocks noRot="1" noChangeAspect="1" noMove="1" noResize="1" noEditPoints="1" noAdjustHandles="1" noChangeArrowheads="1" noChangeShapeType="1" noTextEdit="1"/>
                </p:cNvSpPr>
                <p:nvPr/>
              </p:nvSpPr>
              <p:spPr>
                <a:xfrm>
                  <a:off x="2662533" y="4850862"/>
                  <a:ext cx="499741" cy="506421"/>
                </a:xfrm>
                <a:prstGeom prst="rect">
                  <a:avLst/>
                </a:prstGeom>
                <a:blipFill>
                  <a:blip r:embed="rId8"/>
                  <a:stretch>
                    <a:fillRect/>
                  </a:stretch>
                </a:blipFill>
              </p:spPr>
              <p:txBody>
                <a:bodyPr/>
                <a:lstStyle/>
                <a:p>
                  <a:r>
                    <a:rPr lang="en-US">
                      <a:noFill/>
                    </a:rPr>
                    <a:t> </a:t>
                  </a:r>
                </a:p>
              </p:txBody>
            </p:sp>
          </mc:Fallback>
        </mc:AlternateContent>
      </p:grpSp>
    </p:spTree>
    <p:extLst>
      <p:ext uri="{BB962C8B-B14F-4D97-AF65-F5344CB8AC3E}">
        <p14:creationId xmlns:p14="http://schemas.microsoft.com/office/powerpoint/2010/main" val="1447830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8"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01C00A-2F9D-7B38-816F-760E2B661842}"/>
              </a:ext>
            </a:extLst>
          </p:cNvPr>
          <p:cNvSpPr>
            <a:spLocks noGrp="1"/>
          </p:cNvSpPr>
          <p:nvPr>
            <p:ph type="title"/>
          </p:nvPr>
        </p:nvSpPr>
        <p:spPr/>
        <p:txBody>
          <a:bodyPr/>
          <a:lstStyle/>
          <a:p>
            <a:r>
              <a:rPr lang="en-US" dirty="0"/>
              <a:t>Lessons from the Big Data Paradox</a:t>
            </a:r>
          </a:p>
        </p:txBody>
      </p:sp>
      <p:sp>
        <p:nvSpPr>
          <p:cNvPr id="3" name="Content Placeholder 2">
            <a:extLst>
              <a:ext uri="{FF2B5EF4-FFF2-40B4-BE49-F238E27FC236}">
                <a16:creationId xmlns:a16="http://schemas.microsoft.com/office/drawing/2014/main" id="{961BBB85-1ED5-4118-1BAE-B50A89C08A9F}"/>
              </a:ext>
            </a:extLst>
          </p:cNvPr>
          <p:cNvSpPr>
            <a:spLocks noGrp="1"/>
          </p:cNvSpPr>
          <p:nvPr>
            <p:ph idx="1"/>
          </p:nvPr>
        </p:nvSpPr>
        <p:spPr>
          <a:xfrm>
            <a:off x="838199" y="1556951"/>
            <a:ext cx="11036643" cy="4620012"/>
          </a:xfrm>
        </p:spPr>
        <p:txBody>
          <a:bodyPr>
            <a:noAutofit/>
          </a:bodyPr>
          <a:lstStyle/>
          <a:p>
            <a:pPr>
              <a:lnSpc>
                <a:spcPct val="130000"/>
              </a:lnSpc>
              <a:spcBef>
                <a:spcPts val="0"/>
              </a:spcBef>
              <a:spcAft>
                <a:spcPts val="600"/>
              </a:spcAft>
            </a:pPr>
            <a:r>
              <a:rPr lang="en-US" dirty="0"/>
              <a:t>Data quality is far more important than data quantity. </a:t>
            </a:r>
          </a:p>
          <a:p>
            <a:pPr>
              <a:lnSpc>
                <a:spcPct val="130000"/>
              </a:lnSpc>
              <a:spcBef>
                <a:spcPts val="0"/>
              </a:spcBef>
              <a:spcAft>
                <a:spcPts val="600"/>
              </a:spcAft>
            </a:pPr>
            <a:r>
              <a:rPr lang="en-US" dirty="0"/>
              <a:t>Compensating for quality with quantity is a doomed game. </a:t>
            </a:r>
          </a:p>
          <a:p>
            <a:pPr>
              <a:lnSpc>
                <a:spcPct val="130000"/>
              </a:lnSpc>
              <a:spcBef>
                <a:spcPts val="0"/>
              </a:spcBef>
              <a:spcAft>
                <a:spcPts val="600"/>
              </a:spcAft>
            </a:pPr>
            <a:r>
              <a:rPr lang="en-US" dirty="0"/>
              <a:t>It is far more important to reduce sampling and non-response biases than non-response rates. </a:t>
            </a:r>
          </a:p>
          <a:p>
            <a:pPr>
              <a:lnSpc>
                <a:spcPct val="130000"/>
              </a:lnSpc>
              <a:spcBef>
                <a:spcPts val="0"/>
              </a:spcBef>
              <a:spcAft>
                <a:spcPts val="600"/>
              </a:spcAft>
            </a:pPr>
            <a:r>
              <a:rPr lang="en-US" dirty="0"/>
              <a:t>Invest in small but very high quality surveys than large surveys with uncontrolled/unknown quality. </a:t>
            </a:r>
          </a:p>
        </p:txBody>
      </p:sp>
    </p:spTree>
    <p:extLst>
      <p:ext uri="{BB962C8B-B14F-4D97-AF65-F5344CB8AC3E}">
        <p14:creationId xmlns:p14="http://schemas.microsoft.com/office/powerpoint/2010/main" val="406678781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01C00A-2F9D-7B38-816F-760E2B661842}"/>
              </a:ext>
            </a:extLst>
          </p:cNvPr>
          <p:cNvSpPr>
            <a:spLocks noGrp="1"/>
          </p:cNvSpPr>
          <p:nvPr>
            <p:ph type="title"/>
          </p:nvPr>
        </p:nvSpPr>
        <p:spPr/>
        <p:txBody>
          <a:bodyPr/>
          <a:lstStyle/>
          <a:p>
            <a:r>
              <a:rPr lang="en-US" dirty="0"/>
              <a:t>Lessons from the Big Data Paradox (cont’d)</a:t>
            </a:r>
          </a:p>
        </p:txBody>
      </p:sp>
      <p:sp>
        <p:nvSpPr>
          <p:cNvPr id="3" name="Content Placeholder 2">
            <a:extLst>
              <a:ext uri="{FF2B5EF4-FFF2-40B4-BE49-F238E27FC236}">
                <a16:creationId xmlns:a16="http://schemas.microsoft.com/office/drawing/2014/main" id="{961BBB85-1ED5-4118-1BAE-B50A89C08A9F}"/>
              </a:ext>
            </a:extLst>
          </p:cNvPr>
          <p:cNvSpPr>
            <a:spLocks noGrp="1"/>
          </p:cNvSpPr>
          <p:nvPr>
            <p:ph idx="1"/>
          </p:nvPr>
        </p:nvSpPr>
        <p:spPr>
          <a:xfrm>
            <a:off x="838199" y="1556951"/>
            <a:ext cx="11036643" cy="4620012"/>
          </a:xfrm>
        </p:spPr>
        <p:txBody>
          <a:bodyPr>
            <a:noAutofit/>
          </a:bodyPr>
          <a:lstStyle/>
          <a:p>
            <a:pPr>
              <a:lnSpc>
                <a:spcPct val="130000"/>
              </a:lnSpc>
              <a:spcBef>
                <a:spcPts val="0"/>
              </a:spcBef>
              <a:spcAft>
                <a:spcPts val="600"/>
              </a:spcAft>
            </a:pPr>
            <a:r>
              <a:rPr lang="en-US" dirty="0"/>
              <a:t>When combining datasets, relatively tiny but higher quality ones should be given far more weights than suggested by their sizes. </a:t>
            </a:r>
          </a:p>
          <a:p>
            <a:pPr>
              <a:lnSpc>
                <a:spcPct val="130000"/>
              </a:lnSpc>
              <a:spcBef>
                <a:spcPts val="0"/>
              </a:spcBef>
              <a:spcAft>
                <a:spcPts val="600"/>
              </a:spcAft>
            </a:pPr>
            <a:r>
              <a:rPr lang="en-US" dirty="0"/>
              <a:t>For population inferences, “bigness” of ”Big Data” should be measured by their relative size, not absolute size. </a:t>
            </a:r>
          </a:p>
          <a:p>
            <a:pPr>
              <a:lnSpc>
                <a:spcPct val="130000"/>
              </a:lnSpc>
              <a:spcBef>
                <a:spcPts val="0"/>
              </a:spcBef>
              <a:spcAft>
                <a:spcPts val="600"/>
              </a:spcAft>
            </a:pPr>
            <a:r>
              <a:rPr lang="en-US" dirty="0"/>
              <a:t>Probability sampling is an extremely powerful tool for ensuring data quality, but it is not the only strategy.</a:t>
            </a:r>
          </a:p>
        </p:txBody>
      </p:sp>
    </p:spTree>
    <p:extLst>
      <p:ext uri="{BB962C8B-B14F-4D97-AF65-F5344CB8AC3E}">
        <p14:creationId xmlns:p14="http://schemas.microsoft.com/office/powerpoint/2010/main" val="114560403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F13C74B1-5B17-4795-BED0-7140497B44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9A590F8-5DAC-5AE2-6B1B-4C39AF774F90}"/>
              </a:ext>
            </a:extLst>
          </p:cNvPr>
          <p:cNvSpPr>
            <a:spLocks noGrp="1"/>
          </p:cNvSpPr>
          <p:nvPr>
            <p:ph type="title"/>
          </p:nvPr>
        </p:nvSpPr>
        <p:spPr>
          <a:xfrm>
            <a:off x="640080" y="325369"/>
            <a:ext cx="4368602" cy="1956841"/>
          </a:xfrm>
        </p:spPr>
        <p:txBody>
          <a:bodyPr anchor="b">
            <a:normAutofit/>
          </a:bodyPr>
          <a:lstStyle/>
          <a:p>
            <a:r>
              <a:rPr lang="en-US" sz="5400" strike="sngStrike"/>
              <a:t>The</a:t>
            </a:r>
            <a:r>
              <a:rPr lang="en-US" sz="5400"/>
              <a:t> A Solution?</a:t>
            </a:r>
          </a:p>
        </p:txBody>
      </p:sp>
      <p:sp>
        <p:nvSpPr>
          <p:cNvPr id="12" name="sketchy line">
            <a:extLst>
              <a:ext uri="{FF2B5EF4-FFF2-40B4-BE49-F238E27FC236}">
                <a16:creationId xmlns:a16="http://schemas.microsoft.com/office/drawing/2014/main" id="{D4974D33-8DC5-464E-8C6D-BE58F0669C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2586994"/>
            <a:ext cx="3474720" cy="18288"/>
          </a:xfrm>
          <a:custGeom>
            <a:avLst/>
            <a:gdLst>
              <a:gd name="csX0" fmla="*/ 0 w 3474720"/>
              <a:gd name="csY0" fmla="*/ 0 h 18288"/>
              <a:gd name="csX1" fmla="*/ 694944 w 3474720"/>
              <a:gd name="csY1" fmla="*/ 0 h 18288"/>
              <a:gd name="csX2" fmla="*/ 1355141 w 3474720"/>
              <a:gd name="csY2" fmla="*/ 0 h 18288"/>
              <a:gd name="csX3" fmla="*/ 2015338 w 3474720"/>
              <a:gd name="csY3" fmla="*/ 0 h 18288"/>
              <a:gd name="csX4" fmla="*/ 2779776 w 3474720"/>
              <a:gd name="csY4" fmla="*/ 0 h 18288"/>
              <a:gd name="csX5" fmla="*/ 3474720 w 3474720"/>
              <a:gd name="csY5" fmla="*/ 0 h 18288"/>
              <a:gd name="csX6" fmla="*/ 3474720 w 3474720"/>
              <a:gd name="csY6" fmla="*/ 18288 h 18288"/>
              <a:gd name="csX7" fmla="*/ 2779776 w 3474720"/>
              <a:gd name="csY7" fmla="*/ 18288 h 18288"/>
              <a:gd name="csX8" fmla="*/ 2189074 w 3474720"/>
              <a:gd name="csY8" fmla="*/ 18288 h 18288"/>
              <a:gd name="csX9" fmla="*/ 1528877 w 3474720"/>
              <a:gd name="csY9" fmla="*/ 18288 h 18288"/>
              <a:gd name="csX10" fmla="*/ 868680 w 3474720"/>
              <a:gd name="csY10" fmla="*/ 18288 h 18288"/>
              <a:gd name="csX11" fmla="*/ 0 w 3474720"/>
              <a:gd name="csY11" fmla="*/ 18288 h 18288"/>
              <a:gd name="csX12" fmla="*/ 0 w 3474720"/>
              <a:gd name="csY12"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3474720" h="18288" fill="none" extrusionOk="0">
                <a:moveTo>
                  <a:pt x="0" y="0"/>
                </a:moveTo>
                <a:cubicBezTo>
                  <a:pt x="224454" y="-14544"/>
                  <a:pt x="495407" y="26540"/>
                  <a:pt x="694944" y="0"/>
                </a:cubicBezTo>
                <a:cubicBezTo>
                  <a:pt x="894481" y="-26540"/>
                  <a:pt x="1130063" y="24713"/>
                  <a:pt x="1355141" y="0"/>
                </a:cubicBezTo>
                <a:cubicBezTo>
                  <a:pt x="1580219" y="-24713"/>
                  <a:pt x="1820099" y="26695"/>
                  <a:pt x="2015338" y="0"/>
                </a:cubicBezTo>
                <a:cubicBezTo>
                  <a:pt x="2210577" y="-26695"/>
                  <a:pt x="2402045" y="165"/>
                  <a:pt x="2779776" y="0"/>
                </a:cubicBezTo>
                <a:cubicBezTo>
                  <a:pt x="3157507" y="-165"/>
                  <a:pt x="3286859" y="-15571"/>
                  <a:pt x="3474720" y="0"/>
                </a:cubicBezTo>
                <a:cubicBezTo>
                  <a:pt x="3474286" y="7551"/>
                  <a:pt x="3474253" y="9822"/>
                  <a:pt x="3474720" y="18288"/>
                </a:cubicBezTo>
                <a:cubicBezTo>
                  <a:pt x="3233904" y="29845"/>
                  <a:pt x="2945134" y="-5256"/>
                  <a:pt x="2779776" y="18288"/>
                </a:cubicBezTo>
                <a:cubicBezTo>
                  <a:pt x="2614418" y="41832"/>
                  <a:pt x="2339768" y="22709"/>
                  <a:pt x="2189074" y="18288"/>
                </a:cubicBezTo>
                <a:cubicBezTo>
                  <a:pt x="2038380" y="13867"/>
                  <a:pt x="1817434" y="-4947"/>
                  <a:pt x="1528877" y="18288"/>
                </a:cubicBezTo>
                <a:cubicBezTo>
                  <a:pt x="1240320" y="41523"/>
                  <a:pt x="1042447" y="37198"/>
                  <a:pt x="868680" y="18288"/>
                </a:cubicBezTo>
                <a:cubicBezTo>
                  <a:pt x="694913" y="-622"/>
                  <a:pt x="233232" y="44909"/>
                  <a:pt x="0" y="18288"/>
                </a:cubicBezTo>
                <a:cubicBezTo>
                  <a:pt x="60" y="11696"/>
                  <a:pt x="66" y="3758"/>
                  <a:pt x="0" y="0"/>
                </a:cubicBezTo>
                <a:close/>
              </a:path>
              <a:path w="3474720" h="18288" stroke="0" extrusionOk="0">
                <a:moveTo>
                  <a:pt x="0" y="0"/>
                </a:moveTo>
                <a:cubicBezTo>
                  <a:pt x="202328" y="-14716"/>
                  <a:pt x="332722" y="-11499"/>
                  <a:pt x="625450" y="0"/>
                </a:cubicBezTo>
                <a:cubicBezTo>
                  <a:pt x="918178" y="11499"/>
                  <a:pt x="1096688" y="5123"/>
                  <a:pt x="1389888" y="0"/>
                </a:cubicBezTo>
                <a:cubicBezTo>
                  <a:pt x="1683088" y="-5123"/>
                  <a:pt x="1835981" y="-14038"/>
                  <a:pt x="1980590" y="0"/>
                </a:cubicBezTo>
                <a:cubicBezTo>
                  <a:pt x="2125199" y="14038"/>
                  <a:pt x="2396099" y="-7203"/>
                  <a:pt x="2571293" y="0"/>
                </a:cubicBezTo>
                <a:cubicBezTo>
                  <a:pt x="2746487" y="7203"/>
                  <a:pt x="3041609" y="-12036"/>
                  <a:pt x="3474720" y="0"/>
                </a:cubicBezTo>
                <a:cubicBezTo>
                  <a:pt x="3474638" y="4406"/>
                  <a:pt x="3474631" y="9982"/>
                  <a:pt x="3474720" y="18288"/>
                </a:cubicBezTo>
                <a:cubicBezTo>
                  <a:pt x="3324873" y="21876"/>
                  <a:pt x="3136771" y="12587"/>
                  <a:pt x="2814523" y="18288"/>
                </a:cubicBezTo>
                <a:cubicBezTo>
                  <a:pt x="2492275" y="23989"/>
                  <a:pt x="2294402" y="47111"/>
                  <a:pt x="2154326" y="18288"/>
                </a:cubicBezTo>
                <a:cubicBezTo>
                  <a:pt x="2014250" y="-10535"/>
                  <a:pt x="1820317" y="33903"/>
                  <a:pt x="1494130" y="18288"/>
                </a:cubicBezTo>
                <a:cubicBezTo>
                  <a:pt x="1167943" y="2673"/>
                  <a:pt x="948432" y="14868"/>
                  <a:pt x="729691" y="18288"/>
                </a:cubicBezTo>
                <a:cubicBezTo>
                  <a:pt x="510950" y="21708"/>
                  <a:pt x="264032" y="24354"/>
                  <a:pt x="0" y="18288"/>
                </a:cubicBezTo>
                <a:cubicBezTo>
                  <a:pt x="189" y="14288"/>
                  <a:pt x="-703" y="3747"/>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FD38984D-4CFE-27E4-D803-3C42A080193E}"/>
              </a:ext>
            </a:extLst>
          </p:cNvPr>
          <p:cNvSpPr>
            <a:spLocks noGrp="1"/>
          </p:cNvSpPr>
          <p:nvPr>
            <p:ph idx="1"/>
          </p:nvPr>
        </p:nvSpPr>
        <p:spPr>
          <a:xfrm>
            <a:off x="640079" y="2872899"/>
            <a:ext cx="5357949" cy="3320668"/>
          </a:xfrm>
        </p:spPr>
        <p:txBody>
          <a:bodyPr>
            <a:normAutofit/>
          </a:bodyPr>
          <a:lstStyle/>
          <a:p>
            <a:pPr>
              <a:lnSpc>
                <a:spcPct val="110000"/>
              </a:lnSpc>
              <a:spcBef>
                <a:spcPts val="0"/>
              </a:spcBef>
              <a:spcAft>
                <a:spcPts val="600"/>
              </a:spcAft>
            </a:pPr>
            <a:r>
              <a:rPr lang="en-US" sz="2400" dirty="0"/>
              <a:t>Would the conclusion be the same if you had made a different, equally reasonable, choice in parameter values or analysis strategy?</a:t>
            </a:r>
          </a:p>
          <a:p>
            <a:pPr>
              <a:lnSpc>
                <a:spcPct val="110000"/>
              </a:lnSpc>
              <a:spcBef>
                <a:spcPts val="0"/>
              </a:spcBef>
              <a:spcAft>
                <a:spcPts val="600"/>
              </a:spcAft>
            </a:pPr>
            <a:r>
              <a:rPr lang="en-US" sz="2400" dirty="0"/>
              <a:t>Veridical Data Science (</a:t>
            </a:r>
            <a:r>
              <a:rPr lang="en-US" sz="2400" dirty="0">
                <a:hlinkClick r:id="rId2"/>
              </a:rPr>
              <a:t>paper</a:t>
            </a:r>
            <a:r>
              <a:rPr lang="en-US" sz="2400" dirty="0"/>
              <a:t> &amp; </a:t>
            </a:r>
            <a:r>
              <a:rPr lang="en-US" sz="2400" dirty="0">
                <a:hlinkClick r:id="rId3"/>
              </a:rPr>
              <a:t>book</a:t>
            </a:r>
            <a:r>
              <a:rPr lang="en-US" sz="2400" dirty="0"/>
              <a:t>)</a:t>
            </a:r>
          </a:p>
          <a:p>
            <a:pPr>
              <a:lnSpc>
                <a:spcPct val="110000"/>
              </a:lnSpc>
              <a:spcBef>
                <a:spcPts val="0"/>
              </a:spcBef>
              <a:spcAft>
                <a:spcPts val="600"/>
              </a:spcAft>
            </a:pPr>
            <a:r>
              <a:rPr lang="en-US" sz="2400" dirty="0"/>
              <a:t>Spans the data science life cycle</a:t>
            </a:r>
            <a:endParaRPr lang="en-US" sz="2200" dirty="0"/>
          </a:p>
          <a:p>
            <a:endParaRPr lang="en-US" sz="2200" dirty="0"/>
          </a:p>
        </p:txBody>
      </p:sp>
      <p:pic>
        <p:nvPicPr>
          <p:cNvPr id="5" name="Picture 4" descr="A diagram of data science life cycle&#10;&#10;Description automatically generated">
            <a:extLst>
              <a:ext uri="{FF2B5EF4-FFF2-40B4-BE49-F238E27FC236}">
                <a16:creationId xmlns:a16="http://schemas.microsoft.com/office/drawing/2014/main" id="{551202C7-7908-615E-1A8F-42E2185279BC}"/>
              </a:ext>
            </a:extLst>
          </p:cNvPr>
          <p:cNvPicPr>
            <a:picLocks noChangeAspect="1"/>
          </p:cNvPicPr>
          <p:nvPr/>
        </p:nvPicPr>
        <p:blipFill rotWithShape="1">
          <a:blip r:embed="rId4">
            <a:extLst>
              <a:ext uri="{28A0092B-C50C-407E-A947-70E740481C1C}">
                <a14:useLocalDpi xmlns:a14="http://schemas.microsoft.com/office/drawing/2010/main" val="0"/>
              </a:ext>
            </a:extLst>
          </a:blip>
          <a:srcRect l="14109" r="16933" b="-1"/>
          <a:stretch/>
        </p:blipFill>
        <p:spPr>
          <a:xfrm>
            <a:off x="5783485" y="555559"/>
            <a:ext cx="5974505" cy="5956452"/>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
        <p:nvSpPr>
          <p:cNvPr id="7" name="Right Triangle 6">
            <a:extLst>
              <a:ext uri="{FF2B5EF4-FFF2-40B4-BE49-F238E27FC236}">
                <a16:creationId xmlns:a16="http://schemas.microsoft.com/office/drawing/2014/main" id="{F9F79A1E-5839-B609-E2DA-B8752907CAF5}"/>
              </a:ext>
            </a:extLst>
          </p:cNvPr>
          <p:cNvSpPr/>
          <p:nvPr/>
        </p:nvSpPr>
        <p:spPr>
          <a:xfrm flipH="1" flipV="1">
            <a:off x="6857999" y="345989"/>
            <a:ext cx="4693919" cy="5956452"/>
          </a:xfrm>
          <a:prstGeom prst="rtTriangle">
            <a:avLst/>
          </a:prstGeom>
          <a:solidFill>
            <a:srgbClr val="4472C4">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667227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5F839C-6CA8-E7B8-7C69-8807DC2937B0}"/>
              </a:ext>
            </a:extLst>
          </p:cNvPr>
          <p:cNvSpPr>
            <a:spLocks noGrp="1"/>
          </p:cNvSpPr>
          <p:nvPr>
            <p:ph type="title"/>
          </p:nvPr>
        </p:nvSpPr>
        <p:spPr/>
        <p:txBody>
          <a:bodyPr/>
          <a:lstStyle/>
          <a:p>
            <a:r>
              <a:rPr lang="en-US" dirty="0"/>
              <a:t>Don’t Hide – Document! Use PCS</a:t>
            </a:r>
          </a:p>
        </p:txBody>
      </p:sp>
      <p:sp>
        <p:nvSpPr>
          <p:cNvPr id="3" name="Content Placeholder 2">
            <a:extLst>
              <a:ext uri="{FF2B5EF4-FFF2-40B4-BE49-F238E27FC236}">
                <a16:creationId xmlns:a16="http://schemas.microsoft.com/office/drawing/2014/main" id="{A1CC0090-E3C6-0575-02E7-936F3C95F72F}"/>
              </a:ext>
            </a:extLst>
          </p:cNvPr>
          <p:cNvSpPr>
            <a:spLocks noGrp="1"/>
          </p:cNvSpPr>
          <p:nvPr>
            <p:ph idx="1"/>
          </p:nvPr>
        </p:nvSpPr>
        <p:spPr>
          <a:xfrm>
            <a:off x="838200" y="1505632"/>
            <a:ext cx="10515600" cy="4100512"/>
          </a:xfrm>
        </p:spPr>
        <p:txBody>
          <a:bodyPr>
            <a:normAutofit fontScale="92500"/>
          </a:bodyPr>
          <a:lstStyle/>
          <a:p>
            <a:pPr>
              <a:lnSpc>
                <a:spcPct val="110000"/>
              </a:lnSpc>
              <a:spcBef>
                <a:spcPts val="0"/>
              </a:spcBef>
              <a:spcAft>
                <a:spcPts val="600"/>
              </a:spcAft>
            </a:pPr>
            <a:r>
              <a:rPr lang="en-US" b="1" dirty="0"/>
              <a:t>P</a:t>
            </a:r>
            <a:r>
              <a:rPr lang="en-US" b="1" dirty="0">
                <a:effectLst/>
              </a:rPr>
              <a:t>redictability</a:t>
            </a:r>
            <a:r>
              <a:rPr lang="en-US" b="1" dirty="0"/>
              <a:t>: </a:t>
            </a:r>
            <a:r>
              <a:rPr lang="en-US" dirty="0"/>
              <a:t>demonstrate </a:t>
            </a:r>
            <a:r>
              <a:rPr lang="en-US" dirty="0">
                <a:effectLst/>
              </a:rPr>
              <a:t>computationally that results reemerge in relevant future data and are in line with domain knowledge (reality check)</a:t>
            </a:r>
          </a:p>
          <a:p>
            <a:pPr>
              <a:lnSpc>
                <a:spcPct val="110000"/>
              </a:lnSpc>
              <a:spcBef>
                <a:spcPts val="0"/>
              </a:spcBef>
              <a:spcAft>
                <a:spcPts val="600"/>
              </a:spcAft>
            </a:pPr>
            <a:r>
              <a:rPr lang="en-US" b="1" dirty="0"/>
              <a:t>C</a:t>
            </a:r>
            <a:r>
              <a:rPr lang="en-US" b="1" dirty="0">
                <a:effectLst/>
              </a:rPr>
              <a:t>omputability: </a:t>
            </a:r>
            <a:r>
              <a:rPr lang="en-US" sz="2900" dirty="0"/>
              <a:t>document the reasons that certain algorithmic restrictions were deemed appropriate and the impact they may have on conclusions</a:t>
            </a:r>
          </a:p>
          <a:p>
            <a:pPr>
              <a:lnSpc>
                <a:spcPct val="110000"/>
              </a:lnSpc>
              <a:spcBef>
                <a:spcPts val="0"/>
              </a:spcBef>
              <a:spcAft>
                <a:spcPts val="600"/>
              </a:spcAft>
            </a:pPr>
            <a:r>
              <a:rPr lang="en-US" b="1" dirty="0"/>
              <a:t>S</a:t>
            </a:r>
            <a:r>
              <a:rPr lang="en-US" b="1" dirty="0">
                <a:effectLst/>
              </a:rPr>
              <a:t>tability</a:t>
            </a:r>
            <a:r>
              <a:rPr lang="en-US" dirty="0">
                <a:effectLst/>
              </a:rPr>
              <a:t>: </a:t>
            </a:r>
            <a:r>
              <a:rPr lang="en-US" dirty="0"/>
              <a:t>A</a:t>
            </a:r>
            <a:r>
              <a:rPr lang="en-US" dirty="0">
                <a:effectLst/>
              </a:rPr>
              <a:t>ssess the trustworthiness of your results by examining a range of sources of uncertainty using a series of </a:t>
            </a:r>
            <a:r>
              <a:rPr lang="en-US" i="1" dirty="0">
                <a:effectLst/>
              </a:rPr>
              <a:t>stability</a:t>
            </a:r>
            <a:r>
              <a:rPr lang="en-US" dirty="0">
                <a:effectLst/>
              </a:rPr>
              <a:t> explorations </a:t>
            </a:r>
            <a:r>
              <a:rPr lang="en-US" dirty="0">
                <a:solidFill>
                  <a:srgbClr val="C00000"/>
                </a:solidFill>
                <a:effectLst/>
              </a:rPr>
              <a:t>throughout the DSLC</a:t>
            </a:r>
          </a:p>
        </p:txBody>
      </p:sp>
      <p:sp>
        <p:nvSpPr>
          <p:cNvPr id="4" name="TextBox 3">
            <a:extLst>
              <a:ext uri="{FF2B5EF4-FFF2-40B4-BE49-F238E27FC236}">
                <a16:creationId xmlns:a16="http://schemas.microsoft.com/office/drawing/2014/main" id="{DF2874D9-97ED-87D8-46C4-C1957A015B0C}"/>
              </a:ext>
            </a:extLst>
          </p:cNvPr>
          <p:cNvSpPr txBox="1"/>
          <p:nvPr/>
        </p:nvSpPr>
        <p:spPr>
          <a:xfrm>
            <a:off x="938947" y="5606145"/>
            <a:ext cx="10314106" cy="584775"/>
          </a:xfrm>
          <a:prstGeom prst="rect">
            <a:avLst/>
          </a:prstGeom>
        </p:spPr>
        <p:style>
          <a:lnRef idx="3">
            <a:schemeClr val="lt1"/>
          </a:lnRef>
          <a:fillRef idx="1">
            <a:schemeClr val="accent1"/>
          </a:fillRef>
          <a:effectRef idx="1">
            <a:schemeClr val="accent1"/>
          </a:effectRef>
          <a:fontRef idx="minor">
            <a:schemeClr val="lt1"/>
          </a:fontRef>
        </p:style>
        <p:txBody>
          <a:bodyPr wrap="none" rtlCol="0">
            <a:spAutoFit/>
          </a:bodyPr>
          <a:lstStyle/>
          <a:p>
            <a:r>
              <a:rPr lang="en-US" sz="3200" dirty="0">
                <a:effectLst/>
              </a:rPr>
              <a:t>Actively embrace imperfections within our data and analyses</a:t>
            </a:r>
          </a:p>
        </p:txBody>
      </p:sp>
    </p:spTree>
    <p:extLst>
      <p:ext uri="{BB962C8B-B14F-4D97-AF65-F5344CB8AC3E}">
        <p14:creationId xmlns:p14="http://schemas.microsoft.com/office/powerpoint/2010/main" val="20548257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665DBBEF-238B-476B-96AB-8AAC3224EC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9A590F8-5DAC-5AE2-6B1B-4C39AF774F90}"/>
              </a:ext>
            </a:extLst>
          </p:cNvPr>
          <p:cNvSpPr>
            <a:spLocks noGrp="1"/>
          </p:cNvSpPr>
          <p:nvPr>
            <p:ph type="title"/>
          </p:nvPr>
        </p:nvSpPr>
        <p:spPr>
          <a:xfrm>
            <a:off x="638882" y="639193"/>
            <a:ext cx="3571810" cy="3573516"/>
          </a:xfrm>
        </p:spPr>
        <p:txBody>
          <a:bodyPr vert="horz" lIns="91440" tIns="45720" rIns="91440" bIns="45720" rtlCol="0" anchor="b">
            <a:normAutofit/>
          </a:bodyPr>
          <a:lstStyle/>
          <a:p>
            <a:r>
              <a:rPr lang="en-US" sz="6600" kern="1200">
                <a:solidFill>
                  <a:schemeClr val="tx1"/>
                </a:solidFill>
                <a:latin typeface="+mj-lt"/>
                <a:ea typeface="+mj-ea"/>
                <a:cs typeface="+mj-cs"/>
              </a:rPr>
              <a:t>PCS Spans the DSLC</a:t>
            </a:r>
          </a:p>
        </p:txBody>
      </p:sp>
      <p:sp>
        <p:nvSpPr>
          <p:cNvPr id="19" name="sketch line">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4409267"/>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A diagram of data science life cycle&#10;&#10;Description automatically generated">
            <a:extLst>
              <a:ext uri="{FF2B5EF4-FFF2-40B4-BE49-F238E27FC236}">
                <a16:creationId xmlns:a16="http://schemas.microsoft.com/office/drawing/2014/main" id="{551202C7-7908-615E-1A8F-42E2185279BC}"/>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l="14109" r="16933" b="-1"/>
          <a:stretch/>
        </p:blipFill>
        <p:spPr>
          <a:xfrm>
            <a:off x="5478030" y="640080"/>
            <a:ext cx="5567147" cy="5550408"/>
          </a:xfrm>
          <a:prstGeom prst="rect">
            <a:avLst/>
          </a:prstGeom>
        </p:spPr>
      </p:pic>
    </p:spTree>
    <p:extLst>
      <p:ext uri="{BB962C8B-B14F-4D97-AF65-F5344CB8AC3E}">
        <p14:creationId xmlns:p14="http://schemas.microsoft.com/office/powerpoint/2010/main" val="230868594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71B2258F-86CA-4D4D-8270-BC05FCDEBF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7999"/>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259E5586-136C-410A-D75C-28E858A88647}"/>
              </a:ext>
            </a:extLst>
          </p:cNvPr>
          <p:cNvPicPr>
            <a:picLocks noChangeAspect="1"/>
          </p:cNvPicPr>
          <p:nvPr/>
        </p:nvPicPr>
        <p:blipFill rotWithShape="1">
          <a:blip r:embed="rId2">
            <a:alphaModFix amt="50000"/>
          </a:blip>
          <a:srcRect b="25000"/>
          <a:stretch/>
        </p:blipFill>
        <p:spPr>
          <a:xfrm>
            <a:off x="20" y="1"/>
            <a:ext cx="12191980" cy="6857999"/>
          </a:xfrm>
          <a:prstGeom prst="rect">
            <a:avLst/>
          </a:prstGeom>
        </p:spPr>
      </p:pic>
      <p:sp>
        <p:nvSpPr>
          <p:cNvPr id="4" name="Title 3">
            <a:extLst>
              <a:ext uri="{FF2B5EF4-FFF2-40B4-BE49-F238E27FC236}">
                <a16:creationId xmlns:a16="http://schemas.microsoft.com/office/drawing/2014/main" id="{0B32887A-8F89-692F-55DB-A7145C6078B0}"/>
              </a:ext>
            </a:extLst>
          </p:cNvPr>
          <p:cNvSpPr>
            <a:spLocks noGrp="1"/>
          </p:cNvSpPr>
          <p:nvPr>
            <p:ph type="ctrTitle"/>
          </p:nvPr>
        </p:nvSpPr>
        <p:spPr>
          <a:xfrm>
            <a:off x="1524000" y="1122362"/>
            <a:ext cx="9144000" cy="2900518"/>
          </a:xfrm>
        </p:spPr>
        <p:txBody>
          <a:bodyPr>
            <a:normAutofit/>
          </a:bodyPr>
          <a:lstStyle/>
          <a:p>
            <a:r>
              <a:rPr lang="en-US">
                <a:solidFill>
                  <a:srgbClr val="FFFFFF"/>
                </a:solidFill>
              </a:rPr>
              <a:t>Thank you!</a:t>
            </a:r>
          </a:p>
        </p:txBody>
      </p:sp>
      <p:sp>
        <p:nvSpPr>
          <p:cNvPr id="5" name="Subtitle 4">
            <a:extLst>
              <a:ext uri="{FF2B5EF4-FFF2-40B4-BE49-F238E27FC236}">
                <a16:creationId xmlns:a16="http://schemas.microsoft.com/office/drawing/2014/main" id="{A222B584-5FA0-FBD6-9FB0-B2B4A9DDD7E8}"/>
              </a:ext>
            </a:extLst>
          </p:cNvPr>
          <p:cNvSpPr>
            <a:spLocks noGrp="1"/>
          </p:cNvSpPr>
          <p:nvPr>
            <p:ph type="subTitle" idx="1"/>
          </p:nvPr>
        </p:nvSpPr>
        <p:spPr>
          <a:xfrm>
            <a:off x="1524000" y="4159404"/>
            <a:ext cx="9144000" cy="1098395"/>
          </a:xfrm>
        </p:spPr>
        <p:txBody>
          <a:bodyPr>
            <a:normAutofit/>
          </a:bodyPr>
          <a:lstStyle/>
          <a:p>
            <a:r>
              <a:rPr lang="en-US">
                <a:solidFill>
                  <a:srgbClr val="FFFFFF"/>
                </a:solidFill>
              </a:rPr>
              <a:t>Questions?</a:t>
            </a:r>
          </a:p>
        </p:txBody>
      </p:sp>
    </p:spTree>
    <p:extLst>
      <p:ext uri="{BB962C8B-B14F-4D97-AF65-F5344CB8AC3E}">
        <p14:creationId xmlns:p14="http://schemas.microsoft.com/office/powerpoint/2010/main" val="2983077725"/>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400"/>
                                        <p:tgtEl>
                                          <p:spTgt spid="4"/>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5">
                                            <p:txEl>
                                              <p:pRg st="0" end="0"/>
                                            </p:txEl>
                                          </p:spTgt>
                                        </p:tgtEl>
                                        <p:attrNameLst>
                                          <p:attrName>style.visibility</p:attrName>
                                        </p:attrNameLst>
                                      </p:cBhvr>
                                      <p:to>
                                        <p:strVal val="visible"/>
                                      </p:to>
                                    </p:set>
                                    <p:animEffect transition="in" filter="fade">
                                      <p:cBhvr>
                                        <p:cTn id="10" dur="400"/>
                                        <p:tgtEl>
                                          <p:spTgt spid="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build="p"/>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4970</TotalTime>
  <Words>2761</Words>
  <Application>Microsoft Macintosh PowerPoint</Application>
  <PresentationFormat>Widescreen</PresentationFormat>
  <Paragraphs>203</Paragraphs>
  <Slides>32</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32</vt:i4>
      </vt:variant>
    </vt:vector>
  </HeadingPairs>
  <TitlesOfParts>
    <vt:vector size="39" baseType="lpstr">
      <vt:lpstr>Arial</vt:lpstr>
      <vt:lpstr>Calibri</vt:lpstr>
      <vt:lpstr>Calibri Light</vt:lpstr>
      <vt:lpstr>Cambria Math</vt:lpstr>
      <vt:lpstr>Nueva Std Cond</vt:lpstr>
      <vt:lpstr>Open Sans</vt:lpstr>
      <vt:lpstr>Office Theme</vt:lpstr>
      <vt:lpstr>What is Reproducibility and Why do we care?</vt:lpstr>
      <vt:lpstr>What is Research?</vt:lpstr>
      <vt:lpstr>How do we know whether something no one has done before is correct?</vt:lpstr>
      <vt:lpstr>PowerPoint Presentation</vt:lpstr>
      <vt:lpstr>Replication “crisis” Increasing rates of non-replicability in scientific studies</vt:lpstr>
      <vt:lpstr>Studies on Reproducibility</vt:lpstr>
      <vt:lpstr>Why is that happening?</vt:lpstr>
      <vt:lpstr>Ioannidis (2005) “Corollaries”</vt:lpstr>
      <vt:lpstr>Reproducible research</vt:lpstr>
      <vt:lpstr>“doing reproducible research” in practice</vt:lpstr>
      <vt:lpstr>Reproducible Research Benefits</vt:lpstr>
      <vt:lpstr>Three Stages of Computational Research</vt:lpstr>
      <vt:lpstr>Three Stages of Computational Research</vt:lpstr>
      <vt:lpstr>Three Stages of Computational Research</vt:lpstr>
      <vt:lpstr>Three Stages of Computational Research</vt:lpstr>
      <vt:lpstr>PowerPoint Presentation</vt:lpstr>
      <vt:lpstr>Documenting Decisions</vt:lpstr>
      <vt:lpstr>Some Experimental Design Decisions</vt:lpstr>
      <vt:lpstr>Variable choice, the p-value, differing results If the variable choice isn’t documented, be suspicious</vt:lpstr>
      <vt:lpstr>A is for Analysis Choice</vt:lpstr>
      <vt:lpstr>Particularly a problem for high dimensional data</vt:lpstr>
      <vt:lpstr>Geometry of multivariate probability distributions is weird</vt:lpstr>
      <vt:lpstr>PowerPoint Presentation</vt:lpstr>
      <vt:lpstr>Volume of a unit ball in n dimensions</vt:lpstr>
      <vt:lpstr>Compare </vt:lpstr>
      <vt:lpstr>Standard Normal distributions</vt:lpstr>
      <vt:lpstr>Lessons from the Big Data Paradox</vt:lpstr>
      <vt:lpstr>Lessons from the Big Data Paradox (cont’d)</vt:lpstr>
      <vt:lpstr>The A Solution?</vt:lpstr>
      <vt:lpstr>Don’t Hide – Document! Use PCS</vt:lpstr>
      <vt:lpstr>PCS Spans the DSLC</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Federal Statistical System</dc:title>
  <dc:creator>Stokes, Lynne</dc:creator>
  <cp:lastModifiedBy>McGee, Monnie</cp:lastModifiedBy>
  <cp:revision>33</cp:revision>
  <dcterms:created xsi:type="dcterms:W3CDTF">2022-06-09T15:50:27Z</dcterms:created>
  <dcterms:modified xsi:type="dcterms:W3CDTF">2026-06-05T17:28:55Z</dcterms:modified>
</cp:coreProperties>
</file>