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93" r:id="rId2"/>
    <p:sldId id="330" r:id="rId3"/>
    <p:sldId id="331" r:id="rId4"/>
    <p:sldId id="332" r:id="rId5"/>
    <p:sldId id="316" r:id="rId6"/>
    <p:sldId id="1356" r:id="rId7"/>
    <p:sldId id="328" r:id="rId8"/>
    <p:sldId id="1352" r:id="rId9"/>
    <p:sldId id="317" r:id="rId10"/>
    <p:sldId id="318" r:id="rId11"/>
    <p:sldId id="333" r:id="rId12"/>
    <p:sldId id="320" r:id="rId13"/>
    <p:sldId id="334" r:id="rId14"/>
    <p:sldId id="336" r:id="rId15"/>
    <p:sldId id="337" r:id="rId16"/>
    <p:sldId id="327" r:id="rId17"/>
    <p:sldId id="339" r:id="rId18"/>
    <p:sldId id="1351" r:id="rId19"/>
    <p:sldId id="340" r:id="rId20"/>
    <p:sldId id="343" r:id="rId21"/>
    <p:sldId id="341" r:id="rId22"/>
    <p:sldId id="1337" r:id="rId23"/>
    <p:sldId id="1348" r:id="rId24"/>
    <p:sldId id="1339" r:id="rId25"/>
    <p:sldId id="1340" r:id="rId26"/>
    <p:sldId id="1341" r:id="rId27"/>
    <p:sldId id="1353" r:id="rId28"/>
    <p:sldId id="1354" r:id="rId29"/>
    <p:sldId id="342" r:id="rId30"/>
    <p:sldId id="1349" r:id="rId31"/>
    <p:sldId id="1350" r:id="rId32"/>
    <p:sldId id="1355"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22" autoAdjust="0"/>
    <p:restoredTop sz="94658"/>
  </p:normalViewPr>
  <p:slideViewPr>
    <p:cSldViewPr snapToGrid="0">
      <p:cViewPr varScale="1">
        <p:scale>
          <a:sx n="116" d="100"/>
          <a:sy n="116" d="100"/>
        </p:scale>
        <p:origin x="904"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42E20EA-8F17-944D-9BC1-5610BC4E0ABB}" type="doc">
      <dgm:prSet loTypeId="urn:microsoft.com/office/officeart/2005/8/layout/hList1" loCatId="" qsTypeId="urn:microsoft.com/office/officeart/2005/8/quickstyle/simple1" qsCatId="simple" csTypeId="urn:microsoft.com/office/officeart/2005/8/colors/accent1_2" csCatId="accent1" phldr="1"/>
      <dgm:spPr/>
      <dgm:t>
        <a:bodyPr/>
        <a:lstStyle/>
        <a:p>
          <a:endParaRPr lang="en-US"/>
        </a:p>
      </dgm:t>
    </dgm:pt>
    <dgm:pt modelId="{E208E3F2-684A-1D4E-A3EA-F3596D9E6250}">
      <dgm:prSet phldrT="[Text]"/>
      <dgm:spPr/>
      <dgm:t>
        <a:bodyPr/>
        <a:lstStyle/>
        <a:p>
          <a:r>
            <a:rPr lang="en-US" dirty="0"/>
            <a:t>You</a:t>
          </a:r>
        </a:p>
      </dgm:t>
    </dgm:pt>
    <dgm:pt modelId="{EBC5C7DC-5338-3A46-9EFC-347C6DBC9F07}" type="parTrans" cxnId="{A94AE04B-CE0D-AF4B-AB94-9F06197ADEA7}">
      <dgm:prSet/>
      <dgm:spPr/>
      <dgm:t>
        <a:bodyPr/>
        <a:lstStyle/>
        <a:p>
          <a:endParaRPr lang="en-US"/>
        </a:p>
      </dgm:t>
    </dgm:pt>
    <dgm:pt modelId="{9AF21A0E-3AAA-9F48-BFFA-4BBF6C310F79}" type="sibTrans" cxnId="{A94AE04B-CE0D-AF4B-AB94-9F06197ADEA7}">
      <dgm:prSet/>
      <dgm:spPr/>
      <dgm:t>
        <a:bodyPr/>
        <a:lstStyle/>
        <a:p>
          <a:endParaRPr lang="en-US"/>
        </a:p>
      </dgm:t>
    </dgm:pt>
    <dgm:pt modelId="{1E1F8FE6-ACD3-8C43-8231-2D0C7D91F561}">
      <dgm:prSet phldrT="[Text]"/>
      <dgm:spPr/>
      <dgm:t>
        <a:bodyPr/>
        <a:lstStyle/>
        <a:p>
          <a:r>
            <a:rPr lang="en-US" dirty="0"/>
            <a:t>Memory</a:t>
          </a:r>
        </a:p>
      </dgm:t>
    </dgm:pt>
    <dgm:pt modelId="{A9B1E668-4489-9345-8072-8835A126E42C}" type="parTrans" cxnId="{8271FF1F-F524-9D41-8482-EF72BDF49089}">
      <dgm:prSet/>
      <dgm:spPr/>
      <dgm:t>
        <a:bodyPr/>
        <a:lstStyle/>
        <a:p>
          <a:endParaRPr lang="en-US"/>
        </a:p>
      </dgm:t>
    </dgm:pt>
    <dgm:pt modelId="{4732EA0C-6F16-1C4C-80F2-0765A621DA66}" type="sibTrans" cxnId="{8271FF1F-F524-9D41-8482-EF72BDF49089}">
      <dgm:prSet/>
      <dgm:spPr/>
      <dgm:t>
        <a:bodyPr/>
        <a:lstStyle/>
        <a:p>
          <a:endParaRPr lang="en-US"/>
        </a:p>
      </dgm:t>
    </dgm:pt>
    <dgm:pt modelId="{119426E6-D061-0A49-A56A-8D936A21820B}">
      <dgm:prSet phldrT="[Text]"/>
      <dgm:spPr/>
      <dgm:t>
        <a:bodyPr/>
        <a:lstStyle/>
        <a:p>
          <a:r>
            <a:rPr lang="en-US" dirty="0"/>
            <a:t>Modification</a:t>
          </a:r>
        </a:p>
      </dgm:t>
    </dgm:pt>
    <dgm:pt modelId="{F0B6C81A-DA66-734A-89EA-906197DA2F86}" type="parTrans" cxnId="{4FE5143C-C231-CC49-B86D-AF45E7024E75}">
      <dgm:prSet/>
      <dgm:spPr/>
      <dgm:t>
        <a:bodyPr/>
        <a:lstStyle/>
        <a:p>
          <a:endParaRPr lang="en-US"/>
        </a:p>
      </dgm:t>
    </dgm:pt>
    <dgm:pt modelId="{0023C93C-F40D-CD49-B496-348E639274EC}" type="sibTrans" cxnId="{4FE5143C-C231-CC49-B86D-AF45E7024E75}">
      <dgm:prSet/>
      <dgm:spPr/>
      <dgm:t>
        <a:bodyPr/>
        <a:lstStyle/>
        <a:p>
          <a:endParaRPr lang="en-US"/>
        </a:p>
      </dgm:t>
    </dgm:pt>
    <dgm:pt modelId="{1DC23C4A-358B-AD42-B5C6-4D76BFC299E5}">
      <dgm:prSet phldrT="[Text]"/>
      <dgm:spPr/>
      <dgm:t>
        <a:bodyPr/>
        <a:lstStyle/>
        <a:p>
          <a:r>
            <a:rPr lang="en-US" dirty="0"/>
            <a:t>Science</a:t>
          </a:r>
        </a:p>
      </dgm:t>
    </dgm:pt>
    <dgm:pt modelId="{E8880205-6860-624A-ACC4-5117D4C92836}" type="parTrans" cxnId="{B15CB167-81CF-514F-934D-C13B2F98E56B}">
      <dgm:prSet/>
      <dgm:spPr/>
      <dgm:t>
        <a:bodyPr/>
        <a:lstStyle/>
        <a:p>
          <a:endParaRPr lang="en-US"/>
        </a:p>
      </dgm:t>
    </dgm:pt>
    <dgm:pt modelId="{572BB5F6-2381-9A42-9D17-A13E2270B43F}" type="sibTrans" cxnId="{B15CB167-81CF-514F-934D-C13B2F98E56B}">
      <dgm:prSet/>
      <dgm:spPr/>
      <dgm:t>
        <a:bodyPr/>
        <a:lstStyle/>
        <a:p>
          <a:endParaRPr lang="en-US"/>
        </a:p>
      </dgm:t>
    </dgm:pt>
    <dgm:pt modelId="{BC0A5273-A05E-B44D-B810-AA81FC55DFDF}">
      <dgm:prSet phldrT="[Text]"/>
      <dgm:spPr/>
      <dgm:t>
        <a:bodyPr/>
        <a:lstStyle/>
        <a:p>
          <a:r>
            <a:rPr lang="en-US" dirty="0"/>
            <a:t>Build on your work</a:t>
          </a:r>
        </a:p>
      </dgm:t>
    </dgm:pt>
    <dgm:pt modelId="{6DC06760-80B6-BC4B-B5B3-4B869E062885}" type="parTrans" cxnId="{4C38B03D-6FD4-E648-8319-6663CE037C27}">
      <dgm:prSet/>
      <dgm:spPr/>
      <dgm:t>
        <a:bodyPr/>
        <a:lstStyle/>
        <a:p>
          <a:endParaRPr lang="en-US"/>
        </a:p>
      </dgm:t>
    </dgm:pt>
    <dgm:pt modelId="{FFD2515D-26E1-214B-9932-9CED10087A9D}" type="sibTrans" cxnId="{4C38B03D-6FD4-E648-8319-6663CE037C27}">
      <dgm:prSet/>
      <dgm:spPr/>
      <dgm:t>
        <a:bodyPr/>
        <a:lstStyle/>
        <a:p>
          <a:endParaRPr lang="en-US"/>
        </a:p>
      </dgm:t>
    </dgm:pt>
    <dgm:pt modelId="{04997517-CAFD-A44A-B011-9E3705915798}">
      <dgm:prSet phldrT="[Text]"/>
      <dgm:spPr/>
      <dgm:t>
        <a:bodyPr/>
        <a:lstStyle/>
        <a:p>
          <a:r>
            <a:rPr lang="en-US" dirty="0"/>
            <a:t>Easy follow-up</a:t>
          </a:r>
        </a:p>
      </dgm:t>
    </dgm:pt>
    <dgm:pt modelId="{C79ACF11-6374-9745-90FC-6F5B016ED77E}" type="parTrans" cxnId="{8103DF27-347F-7045-B7C6-E41ABFF1C9D2}">
      <dgm:prSet/>
      <dgm:spPr/>
      <dgm:t>
        <a:bodyPr/>
        <a:lstStyle/>
        <a:p>
          <a:endParaRPr lang="en-US"/>
        </a:p>
      </dgm:t>
    </dgm:pt>
    <dgm:pt modelId="{E23CE3BB-6B5F-7F42-AFD6-6BE614D4311E}" type="sibTrans" cxnId="{8103DF27-347F-7045-B7C6-E41ABFF1C9D2}">
      <dgm:prSet/>
      <dgm:spPr/>
      <dgm:t>
        <a:bodyPr/>
        <a:lstStyle/>
        <a:p>
          <a:endParaRPr lang="en-US"/>
        </a:p>
      </dgm:t>
    </dgm:pt>
    <dgm:pt modelId="{841E1067-2C9B-0546-8722-1711B0B928C3}">
      <dgm:prSet phldrT="[Text]"/>
      <dgm:spPr/>
      <dgm:t>
        <a:bodyPr/>
        <a:lstStyle/>
        <a:p>
          <a:r>
            <a:rPr lang="en-US" dirty="0"/>
            <a:t>Consumers</a:t>
          </a:r>
        </a:p>
      </dgm:t>
    </dgm:pt>
    <dgm:pt modelId="{DEF9797A-E879-694D-8D35-D29660C3A7BC}" type="parTrans" cxnId="{863317BD-19CA-AF45-BCFA-0ECC2EE477DD}">
      <dgm:prSet/>
      <dgm:spPr/>
      <dgm:t>
        <a:bodyPr/>
        <a:lstStyle/>
        <a:p>
          <a:endParaRPr lang="en-US"/>
        </a:p>
      </dgm:t>
    </dgm:pt>
    <dgm:pt modelId="{69DFBC8E-77D8-E942-B10E-27320A4E0F8D}" type="sibTrans" cxnId="{863317BD-19CA-AF45-BCFA-0ECC2EE477DD}">
      <dgm:prSet/>
      <dgm:spPr/>
      <dgm:t>
        <a:bodyPr/>
        <a:lstStyle/>
        <a:p>
          <a:endParaRPr lang="en-US"/>
        </a:p>
      </dgm:t>
    </dgm:pt>
    <dgm:pt modelId="{9B9996DD-2342-F048-A782-7644CDFD43F6}">
      <dgm:prSet phldrT="[Text]"/>
      <dgm:spPr/>
      <dgm:t>
        <a:bodyPr/>
        <a:lstStyle/>
        <a:p>
          <a:r>
            <a:rPr lang="en-US" dirty="0"/>
            <a:t>Learn from your work</a:t>
          </a:r>
        </a:p>
      </dgm:t>
    </dgm:pt>
    <dgm:pt modelId="{91DB738F-9535-A54A-8609-BB9E932AAA54}" type="parTrans" cxnId="{FA3BAEAE-3086-8147-93D0-84C91112360C}">
      <dgm:prSet/>
      <dgm:spPr/>
      <dgm:t>
        <a:bodyPr/>
        <a:lstStyle/>
        <a:p>
          <a:endParaRPr lang="en-US"/>
        </a:p>
      </dgm:t>
    </dgm:pt>
    <dgm:pt modelId="{78910BC4-C68D-934D-92E2-A815F1344388}" type="sibTrans" cxnId="{FA3BAEAE-3086-8147-93D0-84C91112360C}">
      <dgm:prSet/>
      <dgm:spPr/>
      <dgm:t>
        <a:bodyPr/>
        <a:lstStyle/>
        <a:p>
          <a:endParaRPr lang="en-US"/>
        </a:p>
      </dgm:t>
    </dgm:pt>
    <dgm:pt modelId="{0416519F-FC8B-AD4C-B15C-BA933D867891}">
      <dgm:prSet phldrT="[Text]"/>
      <dgm:spPr/>
      <dgm:t>
        <a:bodyPr/>
        <a:lstStyle/>
        <a:p>
          <a:r>
            <a:rPr lang="en-US" dirty="0"/>
            <a:t>Builds trust</a:t>
          </a:r>
        </a:p>
      </dgm:t>
    </dgm:pt>
    <dgm:pt modelId="{80471665-62A0-204A-976F-EDCF006377B0}" type="parTrans" cxnId="{FE46ECFF-744B-3B47-B4EE-3CD49B3F740D}">
      <dgm:prSet/>
      <dgm:spPr/>
      <dgm:t>
        <a:bodyPr/>
        <a:lstStyle/>
        <a:p>
          <a:endParaRPr lang="en-US"/>
        </a:p>
      </dgm:t>
    </dgm:pt>
    <dgm:pt modelId="{FEB7484B-E8B8-6B40-82E2-76DE57232B7E}" type="sibTrans" cxnId="{FE46ECFF-744B-3B47-B4EE-3CD49B3F740D}">
      <dgm:prSet/>
      <dgm:spPr/>
      <dgm:t>
        <a:bodyPr/>
        <a:lstStyle/>
        <a:p>
          <a:endParaRPr lang="en-US"/>
        </a:p>
      </dgm:t>
    </dgm:pt>
    <dgm:pt modelId="{34F22871-BA52-D440-88FB-DC4EF7C9AFEA}">
      <dgm:prSet phldrT="[Text]"/>
      <dgm:spPr/>
      <dgm:t>
        <a:bodyPr/>
        <a:lstStyle/>
        <a:p>
          <a:r>
            <a:rPr lang="en-US" dirty="0"/>
            <a:t>Reconfiguration</a:t>
          </a:r>
        </a:p>
      </dgm:t>
    </dgm:pt>
    <dgm:pt modelId="{561E3CF0-F93F-CA47-9909-5F0FE315DC2B}" type="parTrans" cxnId="{C4449596-A748-514B-AA1A-E029304F7B35}">
      <dgm:prSet/>
      <dgm:spPr/>
    </dgm:pt>
    <dgm:pt modelId="{1CAB793F-FD67-324F-ACCE-E9B20AE96006}" type="sibTrans" cxnId="{C4449596-A748-514B-AA1A-E029304F7B35}">
      <dgm:prSet/>
      <dgm:spPr/>
    </dgm:pt>
    <dgm:pt modelId="{44854E98-47A8-BA45-AFC3-4BA2CE8FB0FE}">
      <dgm:prSet phldrT="[Text]"/>
      <dgm:spPr/>
      <dgm:t>
        <a:bodyPr/>
        <a:lstStyle/>
        <a:p>
          <a:r>
            <a:rPr lang="en-US" dirty="0"/>
            <a:t>Citation</a:t>
          </a:r>
        </a:p>
      </dgm:t>
    </dgm:pt>
    <dgm:pt modelId="{0124F6BE-2855-FC49-B915-5FC4C4B06431}" type="parTrans" cxnId="{7AE8B55A-EBE3-A54E-B888-CCE66B5E1C59}">
      <dgm:prSet/>
      <dgm:spPr/>
    </dgm:pt>
    <dgm:pt modelId="{F2D95FEA-C6A4-4643-81BA-F35A1901854E}" type="sibTrans" cxnId="{7AE8B55A-EBE3-A54E-B888-CCE66B5E1C59}">
      <dgm:prSet/>
      <dgm:spPr/>
    </dgm:pt>
    <dgm:pt modelId="{F87F90BB-EA8D-0D4F-A269-6FCC71A2E967}">
      <dgm:prSet phldrT="[Text]"/>
      <dgm:spPr/>
      <dgm:t>
        <a:bodyPr/>
        <a:lstStyle/>
        <a:p>
          <a:r>
            <a:rPr lang="en-US" dirty="0"/>
            <a:t>Verification</a:t>
          </a:r>
        </a:p>
      </dgm:t>
    </dgm:pt>
    <dgm:pt modelId="{CD4E26FB-D06D-1042-902D-9385065F51BB}" type="parTrans" cxnId="{1A187DA3-ACBB-E244-9993-8ED4FCF80D27}">
      <dgm:prSet/>
      <dgm:spPr/>
    </dgm:pt>
    <dgm:pt modelId="{B00CF626-3EFD-6B4F-9525-04B426F8EB2C}" type="sibTrans" cxnId="{1A187DA3-ACBB-E244-9993-8ED4FCF80D27}">
      <dgm:prSet/>
      <dgm:spPr/>
    </dgm:pt>
    <dgm:pt modelId="{E7BB8964-6EFD-2B49-A1B4-A9E5CA33B09B}">
      <dgm:prSet phldrT="[Text]"/>
      <dgm:spPr/>
      <dgm:t>
        <a:bodyPr/>
        <a:lstStyle/>
        <a:p>
          <a:r>
            <a:rPr lang="en-US" dirty="0"/>
            <a:t>Consistency of results</a:t>
          </a:r>
        </a:p>
      </dgm:t>
    </dgm:pt>
    <dgm:pt modelId="{712206B3-A421-084A-9A3D-D3E336BB387A}" type="parTrans" cxnId="{DBE55BDC-9E4E-4748-BBAF-292A989F30DA}">
      <dgm:prSet/>
      <dgm:spPr/>
    </dgm:pt>
    <dgm:pt modelId="{4927053E-6F9E-3D4A-AECE-953BA5EB1840}" type="sibTrans" cxnId="{DBE55BDC-9E4E-4748-BBAF-292A989F30DA}">
      <dgm:prSet/>
      <dgm:spPr/>
    </dgm:pt>
    <dgm:pt modelId="{C57C8AB8-6FBA-F946-9670-597F5BBE5DB8}">
      <dgm:prSet phldrT="[Text]"/>
      <dgm:spPr/>
      <dgm:t>
        <a:bodyPr/>
        <a:lstStyle/>
        <a:p>
          <a:r>
            <a:rPr lang="en-US" dirty="0"/>
            <a:t>Increased consistency</a:t>
          </a:r>
        </a:p>
      </dgm:t>
    </dgm:pt>
    <dgm:pt modelId="{649986ED-BB66-CB43-9770-D455796D3FD8}" type="parTrans" cxnId="{28121D44-1D71-2744-BAA3-394C2E6C2B83}">
      <dgm:prSet/>
      <dgm:spPr/>
    </dgm:pt>
    <dgm:pt modelId="{6A7B0E1C-A0CB-304D-86E7-725605023986}" type="sibTrans" cxnId="{28121D44-1D71-2744-BAA3-394C2E6C2B83}">
      <dgm:prSet/>
      <dgm:spPr/>
    </dgm:pt>
    <dgm:pt modelId="{2BA24FE2-594F-DD4F-926C-BE14B474D136}" type="pres">
      <dgm:prSet presAssocID="{C42E20EA-8F17-944D-9BC1-5610BC4E0ABB}" presName="Name0" presStyleCnt="0">
        <dgm:presLayoutVars>
          <dgm:dir/>
          <dgm:animLvl val="lvl"/>
          <dgm:resizeHandles val="exact"/>
        </dgm:presLayoutVars>
      </dgm:prSet>
      <dgm:spPr/>
    </dgm:pt>
    <dgm:pt modelId="{AC134048-AD6E-194F-BBA6-8204894493AC}" type="pres">
      <dgm:prSet presAssocID="{E208E3F2-684A-1D4E-A3EA-F3596D9E6250}" presName="composite" presStyleCnt="0"/>
      <dgm:spPr/>
    </dgm:pt>
    <dgm:pt modelId="{A415B681-72AD-F346-921C-AA61D43685D7}" type="pres">
      <dgm:prSet presAssocID="{E208E3F2-684A-1D4E-A3EA-F3596D9E6250}" presName="parTx" presStyleLbl="alignNode1" presStyleIdx="0" presStyleCnt="3">
        <dgm:presLayoutVars>
          <dgm:chMax val="0"/>
          <dgm:chPref val="0"/>
          <dgm:bulletEnabled val="1"/>
        </dgm:presLayoutVars>
      </dgm:prSet>
      <dgm:spPr/>
    </dgm:pt>
    <dgm:pt modelId="{1A53CE11-8449-AD49-8F69-E2A0C71668FE}" type="pres">
      <dgm:prSet presAssocID="{E208E3F2-684A-1D4E-A3EA-F3596D9E6250}" presName="desTx" presStyleLbl="alignAccFollowNode1" presStyleIdx="0" presStyleCnt="3">
        <dgm:presLayoutVars>
          <dgm:bulletEnabled val="1"/>
        </dgm:presLayoutVars>
      </dgm:prSet>
      <dgm:spPr/>
    </dgm:pt>
    <dgm:pt modelId="{FFA5A82A-5B7E-B141-937E-ED5725D81E64}" type="pres">
      <dgm:prSet presAssocID="{9AF21A0E-3AAA-9F48-BFFA-4BBF6C310F79}" presName="space" presStyleCnt="0"/>
      <dgm:spPr/>
    </dgm:pt>
    <dgm:pt modelId="{DFB13F5F-3546-B546-B158-0843BC20DAB7}" type="pres">
      <dgm:prSet presAssocID="{1DC23C4A-358B-AD42-B5C6-4D76BFC299E5}" presName="composite" presStyleCnt="0"/>
      <dgm:spPr/>
    </dgm:pt>
    <dgm:pt modelId="{29556DE1-A7A6-2D48-B842-C471B124DA36}" type="pres">
      <dgm:prSet presAssocID="{1DC23C4A-358B-AD42-B5C6-4D76BFC299E5}" presName="parTx" presStyleLbl="alignNode1" presStyleIdx="1" presStyleCnt="3">
        <dgm:presLayoutVars>
          <dgm:chMax val="0"/>
          <dgm:chPref val="0"/>
          <dgm:bulletEnabled val="1"/>
        </dgm:presLayoutVars>
      </dgm:prSet>
      <dgm:spPr/>
    </dgm:pt>
    <dgm:pt modelId="{84564F11-C176-F343-A74E-CFE0EC991455}" type="pres">
      <dgm:prSet presAssocID="{1DC23C4A-358B-AD42-B5C6-4D76BFC299E5}" presName="desTx" presStyleLbl="alignAccFollowNode1" presStyleIdx="1" presStyleCnt="3">
        <dgm:presLayoutVars>
          <dgm:bulletEnabled val="1"/>
        </dgm:presLayoutVars>
      </dgm:prSet>
      <dgm:spPr/>
    </dgm:pt>
    <dgm:pt modelId="{BFFAE80A-E2D5-E04E-88A7-ECF6A9C29BF8}" type="pres">
      <dgm:prSet presAssocID="{572BB5F6-2381-9A42-9D17-A13E2270B43F}" presName="space" presStyleCnt="0"/>
      <dgm:spPr/>
    </dgm:pt>
    <dgm:pt modelId="{6A98C589-344E-2845-9753-BAC8EDB32239}" type="pres">
      <dgm:prSet presAssocID="{841E1067-2C9B-0546-8722-1711B0B928C3}" presName="composite" presStyleCnt="0"/>
      <dgm:spPr/>
    </dgm:pt>
    <dgm:pt modelId="{E51BA973-5132-3A41-8877-38E62FD0EEE1}" type="pres">
      <dgm:prSet presAssocID="{841E1067-2C9B-0546-8722-1711B0B928C3}" presName="parTx" presStyleLbl="alignNode1" presStyleIdx="2" presStyleCnt="3">
        <dgm:presLayoutVars>
          <dgm:chMax val="0"/>
          <dgm:chPref val="0"/>
          <dgm:bulletEnabled val="1"/>
        </dgm:presLayoutVars>
      </dgm:prSet>
      <dgm:spPr/>
    </dgm:pt>
    <dgm:pt modelId="{77E2A5F3-3663-8445-B361-0DA7AD1DF3DC}" type="pres">
      <dgm:prSet presAssocID="{841E1067-2C9B-0546-8722-1711B0B928C3}" presName="desTx" presStyleLbl="alignAccFollowNode1" presStyleIdx="2" presStyleCnt="3">
        <dgm:presLayoutVars>
          <dgm:bulletEnabled val="1"/>
        </dgm:presLayoutVars>
      </dgm:prSet>
      <dgm:spPr/>
    </dgm:pt>
  </dgm:ptLst>
  <dgm:cxnLst>
    <dgm:cxn modelId="{9CF4F30C-CFA0-6F4B-898C-6644B4D261AC}" type="presOf" srcId="{BC0A5273-A05E-B44D-B810-AA81FC55DFDF}" destId="{84564F11-C176-F343-A74E-CFE0EC991455}" srcOrd="0" destOrd="0" presId="urn:microsoft.com/office/officeart/2005/8/layout/hList1"/>
    <dgm:cxn modelId="{D72B210F-C32D-FC4E-AAB1-96DF5279741A}" type="presOf" srcId="{1DC23C4A-358B-AD42-B5C6-4D76BFC299E5}" destId="{29556DE1-A7A6-2D48-B842-C471B124DA36}" srcOrd="0" destOrd="0" presId="urn:microsoft.com/office/officeart/2005/8/layout/hList1"/>
    <dgm:cxn modelId="{BF47DD17-686C-3547-BC65-CFC4DE44B380}" type="presOf" srcId="{F87F90BB-EA8D-0D4F-A269-6FCC71A2E967}" destId="{1A53CE11-8449-AD49-8F69-E2A0C71668FE}" srcOrd="0" destOrd="3" presId="urn:microsoft.com/office/officeart/2005/8/layout/hList1"/>
    <dgm:cxn modelId="{8271FF1F-F524-9D41-8482-EF72BDF49089}" srcId="{E208E3F2-684A-1D4E-A3EA-F3596D9E6250}" destId="{1E1F8FE6-ACD3-8C43-8231-2D0C7D91F561}" srcOrd="0" destOrd="0" parTransId="{A9B1E668-4489-9345-8072-8835A126E42C}" sibTransId="{4732EA0C-6F16-1C4C-80F2-0765A621DA66}"/>
    <dgm:cxn modelId="{65BE6820-877F-8242-A008-442002399F51}" type="presOf" srcId="{44854E98-47A8-BA45-AFC3-4BA2CE8FB0FE}" destId="{1A53CE11-8449-AD49-8F69-E2A0C71668FE}" srcOrd="0" destOrd="4" presId="urn:microsoft.com/office/officeart/2005/8/layout/hList1"/>
    <dgm:cxn modelId="{D05EA124-96FE-024A-BFF9-D3D84E6C10D8}" type="presOf" srcId="{1E1F8FE6-ACD3-8C43-8231-2D0C7D91F561}" destId="{1A53CE11-8449-AD49-8F69-E2A0C71668FE}" srcOrd="0" destOrd="0" presId="urn:microsoft.com/office/officeart/2005/8/layout/hList1"/>
    <dgm:cxn modelId="{8103DF27-347F-7045-B7C6-E41ABFF1C9D2}" srcId="{1DC23C4A-358B-AD42-B5C6-4D76BFC299E5}" destId="{04997517-CAFD-A44A-B011-9E3705915798}" srcOrd="1" destOrd="0" parTransId="{C79ACF11-6374-9745-90FC-6F5B016ED77E}" sibTransId="{E23CE3BB-6B5F-7F42-AFD6-6BE614D4311E}"/>
    <dgm:cxn modelId="{CEFF4433-6014-3241-A0C2-DBD1EF0A63D3}" type="presOf" srcId="{0416519F-FC8B-AD4C-B15C-BA933D867891}" destId="{77E2A5F3-3663-8445-B361-0DA7AD1DF3DC}" srcOrd="0" destOrd="1" presId="urn:microsoft.com/office/officeart/2005/8/layout/hList1"/>
    <dgm:cxn modelId="{4FE5143C-C231-CC49-B86D-AF45E7024E75}" srcId="{E208E3F2-684A-1D4E-A3EA-F3596D9E6250}" destId="{119426E6-D061-0A49-A56A-8D936A21820B}" srcOrd="1" destOrd="0" parTransId="{F0B6C81A-DA66-734A-89EA-906197DA2F86}" sibTransId="{0023C93C-F40D-CD49-B496-348E639274EC}"/>
    <dgm:cxn modelId="{4C38B03D-6FD4-E648-8319-6663CE037C27}" srcId="{1DC23C4A-358B-AD42-B5C6-4D76BFC299E5}" destId="{BC0A5273-A05E-B44D-B810-AA81FC55DFDF}" srcOrd="0" destOrd="0" parTransId="{6DC06760-80B6-BC4B-B5B3-4B869E062885}" sibTransId="{FFD2515D-26E1-214B-9932-9CED10087A9D}"/>
    <dgm:cxn modelId="{28121D44-1D71-2744-BAA3-394C2E6C2B83}" srcId="{1DC23C4A-358B-AD42-B5C6-4D76BFC299E5}" destId="{C57C8AB8-6FBA-F946-9670-597F5BBE5DB8}" srcOrd="2" destOrd="0" parTransId="{649986ED-BB66-CB43-9770-D455796D3FD8}" sibTransId="{6A7B0E1C-A0CB-304D-86E7-725605023986}"/>
    <dgm:cxn modelId="{CD8C6C46-E254-5F49-AA40-A188A8C92DCF}" type="presOf" srcId="{119426E6-D061-0A49-A56A-8D936A21820B}" destId="{1A53CE11-8449-AD49-8F69-E2A0C71668FE}" srcOrd="0" destOrd="1" presId="urn:microsoft.com/office/officeart/2005/8/layout/hList1"/>
    <dgm:cxn modelId="{A94AE04B-CE0D-AF4B-AB94-9F06197ADEA7}" srcId="{C42E20EA-8F17-944D-9BC1-5610BC4E0ABB}" destId="{E208E3F2-684A-1D4E-A3EA-F3596D9E6250}" srcOrd="0" destOrd="0" parTransId="{EBC5C7DC-5338-3A46-9EFC-347C6DBC9F07}" sibTransId="{9AF21A0E-3AAA-9F48-BFFA-4BBF6C310F79}"/>
    <dgm:cxn modelId="{EC8F6C51-BE6E-A048-BCDD-5759569D5061}" type="presOf" srcId="{9B9996DD-2342-F048-A782-7644CDFD43F6}" destId="{77E2A5F3-3663-8445-B361-0DA7AD1DF3DC}" srcOrd="0" destOrd="0" presId="urn:microsoft.com/office/officeart/2005/8/layout/hList1"/>
    <dgm:cxn modelId="{7AE8B55A-EBE3-A54E-B888-CCE66B5E1C59}" srcId="{E208E3F2-684A-1D4E-A3EA-F3596D9E6250}" destId="{44854E98-47A8-BA45-AFC3-4BA2CE8FB0FE}" srcOrd="4" destOrd="0" parTransId="{0124F6BE-2855-FC49-B915-5FC4C4B06431}" sibTransId="{F2D95FEA-C6A4-4643-81BA-F35A1901854E}"/>
    <dgm:cxn modelId="{B15CB167-81CF-514F-934D-C13B2F98E56B}" srcId="{C42E20EA-8F17-944D-9BC1-5610BC4E0ABB}" destId="{1DC23C4A-358B-AD42-B5C6-4D76BFC299E5}" srcOrd="1" destOrd="0" parTransId="{E8880205-6860-624A-ACC4-5117D4C92836}" sibTransId="{572BB5F6-2381-9A42-9D17-A13E2270B43F}"/>
    <dgm:cxn modelId="{8E656975-2BDC-9E48-BCC0-CEAF40F60833}" type="presOf" srcId="{C57C8AB8-6FBA-F946-9670-597F5BBE5DB8}" destId="{84564F11-C176-F343-A74E-CFE0EC991455}" srcOrd="0" destOrd="2" presId="urn:microsoft.com/office/officeart/2005/8/layout/hList1"/>
    <dgm:cxn modelId="{74040981-9910-5240-90D7-E40DF40A03FB}" type="presOf" srcId="{E208E3F2-684A-1D4E-A3EA-F3596D9E6250}" destId="{A415B681-72AD-F346-921C-AA61D43685D7}" srcOrd="0" destOrd="0" presId="urn:microsoft.com/office/officeart/2005/8/layout/hList1"/>
    <dgm:cxn modelId="{71244D88-E79B-8F47-84CC-700F10C61744}" type="presOf" srcId="{C42E20EA-8F17-944D-9BC1-5610BC4E0ABB}" destId="{2BA24FE2-594F-DD4F-926C-BE14B474D136}" srcOrd="0" destOrd="0" presId="urn:microsoft.com/office/officeart/2005/8/layout/hList1"/>
    <dgm:cxn modelId="{C4449596-A748-514B-AA1A-E029304F7B35}" srcId="{E208E3F2-684A-1D4E-A3EA-F3596D9E6250}" destId="{34F22871-BA52-D440-88FB-DC4EF7C9AFEA}" srcOrd="2" destOrd="0" parTransId="{561E3CF0-F93F-CA47-9909-5F0FE315DC2B}" sibTransId="{1CAB793F-FD67-324F-ACCE-E9B20AE96006}"/>
    <dgm:cxn modelId="{533A429F-CD45-B247-ABB4-1D7642727D9A}" type="presOf" srcId="{E7BB8964-6EFD-2B49-A1B4-A9E5CA33B09B}" destId="{77E2A5F3-3663-8445-B361-0DA7AD1DF3DC}" srcOrd="0" destOrd="2" presId="urn:microsoft.com/office/officeart/2005/8/layout/hList1"/>
    <dgm:cxn modelId="{1A187DA3-ACBB-E244-9993-8ED4FCF80D27}" srcId="{E208E3F2-684A-1D4E-A3EA-F3596D9E6250}" destId="{F87F90BB-EA8D-0D4F-A269-6FCC71A2E967}" srcOrd="3" destOrd="0" parTransId="{CD4E26FB-D06D-1042-902D-9385065F51BB}" sibTransId="{B00CF626-3EFD-6B4F-9525-04B426F8EB2C}"/>
    <dgm:cxn modelId="{FA3BAEAE-3086-8147-93D0-84C91112360C}" srcId="{841E1067-2C9B-0546-8722-1711B0B928C3}" destId="{9B9996DD-2342-F048-A782-7644CDFD43F6}" srcOrd="0" destOrd="0" parTransId="{91DB738F-9535-A54A-8609-BB9E932AAA54}" sibTransId="{78910BC4-C68D-934D-92E2-A815F1344388}"/>
    <dgm:cxn modelId="{863317BD-19CA-AF45-BCFA-0ECC2EE477DD}" srcId="{C42E20EA-8F17-944D-9BC1-5610BC4E0ABB}" destId="{841E1067-2C9B-0546-8722-1711B0B928C3}" srcOrd="2" destOrd="0" parTransId="{DEF9797A-E879-694D-8D35-D29660C3A7BC}" sibTransId="{69DFBC8E-77D8-E942-B10E-27320A4E0F8D}"/>
    <dgm:cxn modelId="{715722C9-2EEB-C849-80E6-786AB7CD6940}" type="presOf" srcId="{841E1067-2C9B-0546-8722-1711B0B928C3}" destId="{E51BA973-5132-3A41-8877-38E62FD0EEE1}" srcOrd="0" destOrd="0" presId="urn:microsoft.com/office/officeart/2005/8/layout/hList1"/>
    <dgm:cxn modelId="{801242CF-B8C8-9F41-8F1A-95E823CA08BD}" type="presOf" srcId="{34F22871-BA52-D440-88FB-DC4EF7C9AFEA}" destId="{1A53CE11-8449-AD49-8F69-E2A0C71668FE}" srcOrd="0" destOrd="2" presId="urn:microsoft.com/office/officeart/2005/8/layout/hList1"/>
    <dgm:cxn modelId="{DBE55BDC-9E4E-4748-BBAF-292A989F30DA}" srcId="{841E1067-2C9B-0546-8722-1711B0B928C3}" destId="{E7BB8964-6EFD-2B49-A1B4-A9E5CA33B09B}" srcOrd="2" destOrd="0" parTransId="{712206B3-A421-084A-9A3D-D3E336BB387A}" sibTransId="{4927053E-6F9E-3D4A-AECE-953BA5EB1840}"/>
    <dgm:cxn modelId="{A08454FF-97CB-0042-89F9-DBFD5AF8066E}" type="presOf" srcId="{04997517-CAFD-A44A-B011-9E3705915798}" destId="{84564F11-C176-F343-A74E-CFE0EC991455}" srcOrd="0" destOrd="1" presId="urn:microsoft.com/office/officeart/2005/8/layout/hList1"/>
    <dgm:cxn modelId="{FE46ECFF-744B-3B47-B4EE-3CD49B3F740D}" srcId="{841E1067-2C9B-0546-8722-1711B0B928C3}" destId="{0416519F-FC8B-AD4C-B15C-BA933D867891}" srcOrd="1" destOrd="0" parTransId="{80471665-62A0-204A-976F-EDCF006377B0}" sibTransId="{FEB7484B-E8B8-6B40-82E2-76DE57232B7E}"/>
    <dgm:cxn modelId="{B86DDF3E-ED1E-3540-AD3D-09195A7DB63E}" type="presParOf" srcId="{2BA24FE2-594F-DD4F-926C-BE14B474D136}" destId="{AC134048-AD6E-194F-BBA6-8204894493AC}" srcOrd="0" destOrd="0" presId="urn:microsoft.com/office/officeart/2005/8/layout/hList1"/>
    <dgm:cxn modelId="{B029FDF6-267A-A840-926A-2C6979D09869}" type="presParOf" srcId="{AC134048-AD6E-194F-BBA6-8204894493AC}" destId="{A415B681-72AD-F346-921C-AA61D43685D7}" srcOrd="0" destOrd="0" presId="urn:microsoft.com/office/officeart/2005/8/layout/hList1"/>
    <dgm:cxn modelId="{E7BF4ADB-ECF6-A04D-BF56-FD7E212759D1}" type="presParOf" srcId="{AC134048-AD6E-194F-BBA6-8204894493AC}" destId="{1A53CE11-8449-AD49-8F69-E2A0C71668FE}" srcOrd="1" destOrd="0" presId="urn:microsoft.com/office/officeart/2005/8/layout/hList1"/>
    <dgm:cxn modelId="{EF929DCC-7AC3-B044-986E-39D4717AD010}" type="presParOf" srcId="{2BA24FE2-594F-DD4F-926C-BE14B474D136}" destId="{FFA5A82A-5B7E-B141-937E-ED5725D81E64}" srcOrd="1" destOrd="0" presId="urn:microsoft.com/office/officeart/2005/8/layout/hList1"/>
    <dgm:cxn modelId="{C252132A-6262-524F-BCB4-9C5BA87E8DB0}" type="presParOf" srcId="{2BA24FE2-594F-DD4F-926C-BE14B474D136}" destId="{DFB13F5F-3546-B546-B158-0843BC20DAB7}" srcOrd="2" destOrd="0" presId="urn:microsoft.com/office/officeart/2005/8/layout/hList1"/>
    <dgm:cxn modelId="{77C5C9D5-82DD-AB45-B572-A1C20D28FE59}" type="presParOf" srcId="{DFB13F5F-3546-B546-B158-0843BC20DAB7}" destId="{29556DE1-A7A6-2D48-B842-C471B124DA36}" srcOrd="0" destOrd="0" presId="urn:microsoft.com/office/officeart/2005/8/layout/hList1"/>
    <dgm:cxn modelId="{58124EA1-16B3-2848-8E9E-DD32C3F0BDF1}" type="presParOf" srcId="{DFB13F5F-3546-B546-B158-0843BC20DAB7}" destId="{84564F11-C176-F343-A74E-CFE0EC991455}" srcOrd="1" destOrd="0" presId="urn:microsoft.com/office/officeart/2005/8/layout/hList1"/>
    <dgm:cxn modelId="{9FD32895-1A23-7044-8C3D-6202A15B1DCC}" type="presParOf" srcId="{2BA24FE2-594F-DD4F-926C-BE14B474D136}" destId="{BFFAE80A-E2D5-E04E-88A7-ECF6A9C29BF8}" srcOrd="3" destOrd="0" presId="urn:microsoft.com/office/officeart/2005/8/layout/hList1"/>
    <dgm:cxn modelId="{0CDE231D-E12A-DD4B-BEFF-61D083537B7F}" type="presParOf" srcId="{2BA24FE2-594F-DD4F-926C-BE14B474D136}" destId="{6A98C589-344E-2845-9753-BAC8EDB32239}" srcOrd="4" destOrd="0" presId="urn:microsoft.com/office/officeart/2005/8/layout/hList1"/>
    <dgm:cxn modelId="{1C082492-30B3-4D4D-9561-AD2061BAD907}" type="presParOf" srcId="{6A98C589-344E-2845-9753-BAC8EDB32239}" destId="{E51BA973-5132-3A41-8877-38E62FD0EEE1}" srcOrd="0" destOrd="0" presId="urn:microsoft.com/office/officeart/2005/8/layout/hList1"/>
    <dgm:cxn modelId="{BB691562-9EC2-3D4D-81C4-6610908BCEBB}" type="presParOf" srcId="{6A98C589-344E-2845-9753-BAC8EDB32239}" destId="{77E2A5F3-3663-8445-B361-0DA7AD1DF3DC}"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EBEFF0B-60EE-4208-8F5F-133C3813B21D}"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44D6C70-72D3-4D1C-8F2A-F6F837EEBC1D}">
      <dgm:prSet/>
      <dgm:spPr/>
      <dgm:t>
        <a:bodyPr/>
        <a:lstStyle/>
        <a:p>
          <a:r>
            <a:rPr lang="en-US"/>
            <a:t>Data Gathering</a:t>
          </a:r>
        </a:p>
      </dgm:t>
    </dgm:pt>
    <dgm:pt modelId="{EBFC132D-2866-46AB-9349-60DC6B9E8832}" type="parTrans" cxnId="{E9CCE209-584A-4028-A90C-725B91F8EBCB}">
      <dgm:prSet/>
      <dgm:spPr/>
      <dgm:t>
        <a:bodyPr/>
        <a:lstStyle/>
        <a:p>
          <a:endParaRPr lang="en-US"/>
        </a:p>
      </dgm:t>
    </dgm:pt>
    <dgm:pt modelId="{79148480-1677-4BCA-8E1C-A2F936A7DA46}" type="sibTrans" cxnId="{E9CCE209-584A-4028-A90C-725B91F8EBCB}">
      <dgm:prSet/>
      <dgm:spPr/>
      <dgm:t>
        <a:bodyPr/>
        <a:lstStyle/>
        <a:p>
          <a:endParaRPr lang="en-US"/>
        </a:p>
      </dgm:t>
    </dgm:pt>
    <dgm:pt modelId="{FF1396C0-6A54-4F7A-84C1-569D831F8ED8}">
      <dgm:prSet/>
      <dgm:spPr/>
      <dgm:t>
        <a:bodyPr/>
        <a:lstStyle/>
        <a:p>
          <a:r>
            <a:rPr lang="en-US"/>
            <a:t>Data Analysis</a:t>
          </a:r>
        </a:p>
      </dgm:t>
    </dgm:pt>
    <dgm:pt modelId="{96117AB0-1571-4C59-9545-F141214BA470}" type="parTrans" cxnId="{767E15F6-C8A5-4C9E-9EAD-4D06161CEA72}">
      <dgm:prSet/>
      <dgm:spPr/>
      <dgm:t>
        <a:bodyPr/>
        <a:lstStyle/>
        <a:p>
          <a:endParaRPr lang="en-US"/>
        </a:p>
      </dgm:t>
    </dgm:pt>
    <dgm:pt modelId="{3A7E7678-74C2-4D87-B55A-3D5B7898B7D8}" type="sibTrans" cxnId="{767E15F6-C8A5-4C9E-9EAD-4D06161CEA72}">
      <dgm:prSet/>
      <dgm:spPr/>
      <dgm:t>
        <a:bodyPr/>
        <a:lstStyle/>
        <a:p>
          <a:endParaRPr lang="en-US"/>
        </a:p>
      </dgm:t>
    </dgm:pt>
    <dgm:pt modelId="{4DCA352D-5D16-4EEF-B6BE-3AE44E96CB68}">
      <dgm:prSet/>
      <dgm:spPr/>
      <dgm:t>
        <a:bodyPr/>
        <a:lstStyle/>
        <a:p>
          <a:r>
            <a:rPr lang="en-US"/>
            <a:t>Presenting results</a:t>
          </a:r>
        </a:p>
      </dgm:t>
    </dgm:pt>
    <dgm:pt modelId="{718354D4-FD0F-4416-A919-96368F5BD591}" type="parTrans" cxnId="{5F5E1A17-7DFD-47CA-A390-7255B3733103}">
      <dgm:prSet/>
      <dgm:spPr/>
      <dgm:t>
        <a:bodyPr/>
        <a:lstStyle/>
        <a:p>
          <a:endParaRPr lang="en-US"/>
        </a:p>
      </dgm:t>
    </dgm:pt>
    <dgm:pt modelId="{45B08C5E-BE60-4ACC-9700-ECED0826BE13}" type="sibTrans" cxnId="{5F5E1A17-7DFD-47CA-A390-7255B3733103}">
      <dgm:prSet/>
      <dgm:spPr/>
      <dgm:t>
        <a:bodyPr/>
        <a:lstStyle/>
        <a:p>
          <a:endParaRPr lang="en-US"/>
        </a:p>
      </dgm:t>
    </dgm:pt>
    <dgm:pt modelId="{0AA250D4-DB4E-5447-8310-ABBC37CCD949}" type="pres">
      <dgm:prSet presAssocID="{DEBEFF0B-60EE-4208-8F5F-133C3813B21D}" presName="linear" presStyleCnt="0">
        <dgm:presLayoutVars>
          <dgm:animLvl val="lvl"/>
          <dgm:resizeHandles val="exact"/>
        </dgm:presLayoutVars>
      </dgm:prSet>
      <dgm:spPr/>
    </dgm:pt>
    <dgm:pt modelId="{9CAEF409-3E38-C842-9ED3-EE07223D3EDB}" type="pres">
      <dgm:prSet presAssocID="{D44D6C70-72D3-4D1C-8F2A-F6F837EEBC1D}" presName="parentText" presStyleLbl="node1" presStyleIdx="0" presStyleCnt="3">
        <dgm:presLayoutVars>
          <dgm:chMax val="0"/>
          <dgm:bulletEnabled val="1"/>
        </dgm:presLayoutVars>
      </dgm:prSet>
      <dgm:spPr/>
    </dgm:pt>
    <dgm:pt modelId="{27D078BD-D4DF-454F-B96D-38CFB9714BC1}" type="pres">
      <dgm:prSet presAssocID="{79148480-1677-4BCA-8E1C-A2F936A7DA46}" presName="spacer" presStyleCnt="0"/>
      <dgm:spPr/>
    </dgm:pt>
    <dgm:pt modelId="{BA0A9F6B-234D-A042-A9A1-BD99ACEFD30F}" type="pres">
      <dgm:prSet presAssocID="{FF1396C0-6A54-4F7A-84C1-569D831F8ED8}" presName="parentText" presStyleLbl="node1" presStyleIdx="1" presStyleCnt="3">
        <dgm:presLayoutVars>
          <dgm:chMax val="0"/>
          <dgm:bulletEnabled val="1"/>
        </dgm:presLayoutVars>
      </dgm:prSet>
      <dgm:spPr/>
    </dgm:pt>
    <dgm:pt modelId="{48A15FF2-3E59-8C46-9BF0-B1C6031DE9B0}" type="pres">
      <dgm:prSet presAssocID="{3A7E7678-74C2-4D87-B55A-3D5B7898B7D8}" presName="spacer" presStyleCnt="0"/>
      <dgm:spPr/>
    </dgm:pt>
    <dgm:pt modelId="{A46F04C1-3CAB-AC43-8D3F-D045AF9782E4}" type="pres">
      <dgm:prSet presAssocID="{4DCA352D-5D16-4EEF-B6BE-3AE44E96CB68}" presName="parentText" presStyleLbl="node1" presStyleIdx="2" presStyleCnt="3">
        <dgm:presLayoutVars>
          <dgm:chMax val="0"/>
          <dgm:bulletEnabled val="1"/>
        </dgm:presLayoutVars>
      </dgm:prSet>
      <dgm:spPr/>
    </dgm:pt>
  </dgm:ptLst>
  <dgm:cxnLst>
    <dgm:cxn modelId="{B44A4304-5418-1F46-AB40-BA27A3F01E87}" type="presOf" srcId="{FF1396C0-6A54-4F7A-84C1-569D831F8ED8}" destId="{BA0A9F6B-234D-A042-A9A1-BD99ACEFD30F}" srcOrd="0" destOrd="0" presId="urn:microsoft.com/office/officeart/2005/8/layout/vList2"/>
    <dgm:cxn modelId="{E9CCE209-584A-4028-A90C-725B91F8EBCB}" srcId="{DEBEFF0B-60EE-4208-8F5F-133C3813B21D}" destId="{D44D6C70-72D3-4D1C-8F2A-F6F837EEBC1D}" srcOrd="0" destOrd="0" parTransId="{EBFC132D-2866-46AB-9349-60DC6B9E8832}" sibTransId="{79148480-1677-4BCA-8E1C-A2F936A7DA46}"/>
    <dgm:cxn modelId="{5F5E1A17-7DFD-47CA-A390-7255B3733103}" srcId="{DEBEFF0B-60EE-4208-8F5F-133C3813B21D}" destId="{4DCA352D-5D16-4EEF-B6BE-3AE44E96CB68}" srcOrd="2" destOrd="0" parTransId="{718354D4-FD0F-4416-A919-96368F5BD591}" sibTransId="{45B08C5E-BE60-4ACC-9700-ECED0826BE13}"/>
    <dgm:cxn modelId="{AD3B3F38-3079-1B40-A23A-38ECFA9B5B3A}" type="presOf" srcId="{D44D6C70-72D3-4D1C-8F2A-F6F837EEBC1D}" destId="{9CAEF409-3E38-C842-9ED3-EE07223D3EDB}" srcOrd="0" destOrd="0" presId="urn:microsoft.com/office/officeart/2005/8/layout/vList2"/>
    <dgm:cxn modelId="{49C80545-F7C1-8649-BD9D-C5D9A06EE10B}" type="presOf" srcId="{DEBEFF0B-60EE-4208-8F5F-133C3813B21D}" destId="{0AA250D4-DB4E-5447-8310-ABBC37CCD949}" srcOrd="0" destOrd="0" presId="urn:microsoft.com/office/officeart/2005/8/layout/vList2"/>
    <dgm:cxn modelId="{81B2E0F1-73DB-4348-9A9D-90D27873D3EC}" type="presOf" srcId="{4DCA352D-5D16-4EEF-B6BE-3AE44E96CB68}" destId="{A46F04C1-3CAB-AC43-8D3F-D045AF9782E4}" srcOrd="0" destOrd="0" presId="urn:microsoft.com/office/officeart/2005/8/layout/vList2"/>
    <dgm:cxn modelId="{767E15F6-C8A5-4C9E-9EAD-4D06161CEA72}" srcId="{DEBEFF0B-60EE-4208-8F5F-133C3813B21D}" destId="{FF1396C0-6A54-4F7A-84C1-569D831F8ED8}" srcOrd="1" destOrd="0" parTransId="{96117AB0-1571-4C59-9545-F141214BA470}" sibTransId="{3A7E7678-74C2-4D87-B55A-3D5B7898B7D8}"/>
    <dgm:cxn modelId="{B0EB18D6-A0E3-AE41-8BCB-C6DEEA1CB494}" type="presParOf" srcId="{0AA250D4-DB4E-5447-8310-ABBC37CCD949}" destId="{9CAEF409-3E38-C842-9ED3-EE07223D3EDB}" srcOrd="0" destOrd="0" presId="urn:microsoft.com/office/officeart/2005/8/layout/vList2"/>
    <dgm:cxn modelId="{89DF9DCD-74F8-954A-89AA-F2F92B93863E}" type="presParOf" srcId="{0AA250D4-DB4E-5447-8310-ABBC37CCD949}" destId="{27D078BD-D4DF-454F-B96D-38CFB9714BC1}" srcOrd="1" destOrd="0" presId="urn:microsoft.com/office/officeart/2005/8/layout/vList2"/>
    <dgm:cxn modelId="{42B5EB78-7032-9748-9C81-2CB2CE1C8927}" type="presParOf" srcId="{0AA250D4-DB4E-5447-8310-ABBC37CCD949}" destId="{BA0A9F6B-234D-A042-A9A1-BD99ACEFD30F}" srcOrd="2" destOrd="0" presId="urn:microsoft.com/office/officeart/2005/8/layout/vList2"/>
    <dgm:cxn modelId="{2A2B5559-1BAE-3548-A050-98E80246FC1C}" type="presParOf" srcId="{0AA250D4-DB4E-5447-8310-ABBC37CCD949}" destId="{48A15FF2-3E59-8C46-9BF0-B1C6031DE9B0}" srcOrd="3" destOrd="0" presId="urn:microsoft.com/office/officeart/2005/8/layout/vList2"/>
    <dgm:cxn modelId="{0AD147A0-412F-2445-9CFA-8E8513703C91}" type="presParOf" srcId="{0AA250D4-DB4E-5447-8310-ABBC37CCD949}" destId="{A46F04C1-3CAB-AC43-8D3F-D045AF9782E4}"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15B681-72AD-F346-921C-AA61D43685D7}">
      <dsp:nvSpPr>
        <dsp:cNvPr id="0" name=""/>
        <dsp:cNvSpPr/>
      </dsp:nvSpPr>
      <dsp:spPr>
        <a:xfrm>
          <a:off x="3286"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You</a:t>
          </a:r>
        </a:p>
      </dsp:txBody>
      <dsp:txXfrm>
        <a:off x="3286" y="282654"/>
        <a:ext cx="3203971" cy="892800"/>
      </dsp:txXfrm>
    </dsp:sp>
    <dsp:sp modelId="{1A53CE11-8449-AD49-8F69-E2A0C71668FE}">
      <dsp:nvSpPr>
        <dsp:cNvPr id="0" name=""/>
        <dsp:cNvSpPr/>
      </dsp:nvSpPr>
      <dsp:spPr>
        <a:xfrm>
          <a:off x="3286"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Memory</a:t>
          </a:r>
        </a:p>
        <a:p>
          <a:pPr marL="285750" lvl="1" indent="-285750" algn="l" defTabSz="1377950">
            <a:lnSpc>
              <a:spcPct val="90000"/>
            </a:lnSpc>
            <a:spcBef>
              <a:spcPct val="0"/>
            </a:spcBef>
            <a:spcAft>
              <a:spcPct val="15000"/>
            </a:spcAft>
            <a:buChar char="•"/>
          </a:pPr>
          <a:r>
            <a:rPr lang="en-US" sz="3100" kern="1200" dirty="0"/>
            <a:t>Modification</a:t>
          </a:r>
        </a:p>
        <a:p>
          <a:pPr marL="285750" lvl="1" indent="-285750" algn="l" defTabSz="1377950">
            <a:lnSpc>
              <a:spcPct val="90000"/>
            </a:lnSpc>
            <a:spcBef>
              <a:spcPct val="0"/>
            </a:spcBef>
            <a:spcAft>
              <a:spcPct val="15000"/>
            </a:spcAft>
            <a:buChar char="•"/>
          </a:pPr>
          <a:r>
            <a:rPr lang="en-US" sz="3100" kern="1200" dirty="0"/>
            <a:t>Reconfiguration</a:t>
          </a:r>
        </a:p>
        <a:p>
          <a:pPr marL="285750" lvl="1" indent="-285750" algn="l" defTabSz="1377950">
            <a:lnSpc>
              <a:spcPct val="90000"/>
            </a:lnSpc>
            <a:spcBef>
              <a:spcPct val="0"/>
            </a:spcBef>
            <a:spcAft>
              <a:spcPct val="15000"/>
            </a:spcAft>
            <a:buChar char="•"/>
          </a:pPr>
          <a:r>
            <a:rPr lang="en-US" sz="3100" kern="1200" dirty="0"/>
            <a:t>Verification</a:t>
          </a:r>
        </a:p>
        <a:p>
          <a:pPr marL="285750" lvl="1" indent="-285750" algn="l" defTabSz="1377950">
            <a:lnSpc>
              <a:spcPct val="90000"/>
            </a:lnSpc>
            <a:spcBef>
              <a:spcPct val="0"/>
            </a:spcBef>
            <a:spcAft>
              <a:spcPct val="15000"/>
            </a:spcAft>
            <a:buChar char="•"/>
          </a:pPr>
          <a:r>
            <a:rPr lang="en-US" sz="3100" kern="1200" dirty="0"/>
            <a:t>Citation</a:t>
          </a:r>
        </a:p>
      </dsp:txBody>
      <dsp:txXfrm>
        <a:off x="3286" y="1175454"/>
        <a:ext cx="3203971" cy="2893230"/>
      </dsp:txXfrm>
    </dsp:sp>
    <dsp:sp modelId="{29556DE1-A7A6-2D48-B842-C471B124DA36}">
      <dsp:nvSpPr>
        <dsp:cNvPr id="0" name=""/>
        <dsp:cNvSpPr/>
      </dsp:nvSpPr>
      <dsp:spPr>
        <a:xfrm>
          <a:off x="3655814"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Science</a:t>
          </a:r>
        </a:p>
      </dsp:txBody>
      <dsp:txXfrm>
        <a:off x="3655814" y="282654"/>
        <a:ext cx="3203971" cy="892800"/>
      </dsp:txXfrm>
    </dsp:sp>
    <dsp:sp modelId="{84564F11-C176-F343-A74E-CFE0EC991455}">
      <dsp:nvSpPr>
        <dsp:cNvPr id="0" name=""/>
        <dsp:cNvSpPr/>
      </dsp:nvSpPr>
      <dsp:spPr>
        <a:xfrm>
          <a:off x="3655814"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Build on your work</a:t>
          </a:r>
        </a:p>
        <a:p>
          <a:pPr marL="285750" lvl="1" indent="-285750" algn="l" defTabSz="1377950">
            <a:lnSpc>
              <a:spcPct val="90000"/>
            </a:lnSpc>
            <a:spcBef>
              <a:spcPct val="0"/>
            </a:spcBef>
            <a:spcAft>
              <a:spcPct val="15000"/>
            </a:spcAft>
            <a:buChar char="•"/>
          </a:pPr>
          <a:r>
            <a:rPr lang="en-US" sz="3100" kern="1200" dirty="0"/>
            <a:t>Easy follow-up</a:t>
          </a:r>
        </a:p>
        <a:p>
          <a:pPr marL="285750" lvl="1" indent="-285750" algn="l" defTabSz="1377950">
            <a:lnSpc>
              <a:spcPct val="90000"/>
            </a:lnSpc>
            <a:spcBef>
              <a:spcPct val="0"/>
            </a:spcBef>
            <a:spcAft>
              <a:spcPct val="15000"/>
            </a:spcAft>
            <a:buChar char="•"/>
          </a:pPr>
          <a:r>
            <a:rPr lang="en-US" sz="3100" kern="1200" dirty="0"/>
            <a:t>Increased consistency</a:t>
          </a:r>
        </a:p>
      </dsp:txBody>
      <dsp:txXfrm>
        <a:off x="3655814" y="1175454"/>
        <a:ext cx="3203971" cy="2893230"/>
      </dsp:txXfrm>
    </dsp:sp>
    <dsp:sp modelId="{E51BA973-5132-3A41-8877-38E62FD0EEE1}">
      <dsp:nvSpPr>
        <dsp:cNvPr id="0" name=""/>
        <dsp:cNvSpPr/>
      </dsp:nvSpPr>
      <dsp:spPr>
        <a:xfrm>
          <a:off x="7308342" y="282654"/>
          <a:ext cx="3203971" cy="892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0472" tIns="125984" rIns="220472" bIns="125984" numCol="1" spcCol="1270" anchor="ctr" anchorCtr="0">
          <a:noAutofit/>
        </a:bodyPr>
        <a:lstStyle/>
        <a:p>
          <a:pPr marL="0" lvl="0" indent="0" algn="ctr" defTabSz="1377950">
            <a:lnSpc>
              <a:spcPct val="90000"/>
            </a:lnSpc>
            <a:spcBef>
              <a:spcPct val="0"/>
            </a:spcBef>
            <a:spcAft>
              <a:spcPct val="35000"/>
            </a:spcAft>
            <a:buNone/>
          </a:pPr>
          <a:r>
            <a:rPr lang="en-US" sz="3100" kern="1200" dirty="0"/>
            <a:t>Consumers</a:t>
          </a:r>
        </a:p>
      </dsp:txBody>
      <dsp:txXfrm>
        <a:off x="7308342" y="282654"/>
        <a:ext cx="3203971" cy="892800"/>
      </dsp:txXfrm>
    </dsp:sp>
    <dsp:sp modelId="{77E2A5F3-3663-8445-B361-0DA7AD1DF3DC}">
      <dsp:nvSpPr>
        <dsp:cNvPr id="0" name=""/>
        <dsp:cNvSpPr/>
      </dsp:nvSpPr>
      <dsp:spPr>
        <a:xfrm>
          <a:off x="7308342" y="1175454"/>
          <a:ext cx="3203971" cy="289323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5354" tIns="165354" rIns="220472" bIns="248031" numCol="1" spcCol="1270" anchor="t" anchorCtr="0">
          <a:noAutofit/>
        </a:bodyPr>
        <a:lstStyle/>
        <a:p>
          <a:pPr marL="285750" lvl="1" indent="-285750" algn="l" defTabSz="1377950">
            <a:lnSpc>
              <a:spcPct val="90000"/>
            </a:lnSpc>
            <a:spcBef>
              <a:spcPct val="0"/>
            </a:spcBef>
            <a:spcAft>
              <a:spcPct val="15000"/>
            </a:spcAft>
            <a:buChar char="•"/>
          </a:pPr>
          <a:r>
            <a:rPr lang="en-US" sz="3100" kern="1200" dirty="0"/>
            <a:t>Learn from your work</a:t>
          </a:r>
        </a:p>
        <a:p>
          <a:pPr marL="285750" lvl="1" indent="-285750" algn="l" defTabSz="1377950">
            <a:lnSpc>
              <a:spcPct val="90000"/>
            </a:lnSpc>
            <a:spcBef>
              <a:spcPct val="0"/>
            </a:spcBef>
            <a:spcAft>
              <a:spcPct val="15000"/>
            </a:spcAft>
            <a:buChar char="•"/>
          </a:pPr>
          <a:r>
            <a:rPr lang="en-US" sz="3100" kern="1200" dirty="0"/>
            <a:t>Builds trust</a:t>
          </a:r>
        </a:p>
        <a:p>
          <a:pPr marL="285750" lvl="1" indent="-285750" algn="l" defTabSz="1377950">
            <a:lnSpc>
              <a:spcPct val="90000"/>
            </a:lnSpc>
            <a:spcBef>
              <a:spcPct val="0"/>
            </a:spcBef>
            <a:spcAft>
              <a:spcPct val="15000"/>
            </a:spcAft>
            <a:buChar char="•"/>
          </a:pPr>
          <a:r>
            <a:rPr lang="en-US" sz="3100" kern="1200" dirty="0"/>
            <a:t>Consistency of results</a:t>
          </a:r>
        </a:p>
      </dsp:txBody>
      <dsp:txXfrm>
        <a:off x="7308342" y="1175454"/>
        <a:ext cx="3203971" cy="28932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AEF409-3E38-C842-9ED3-EE07223D3EDB}">
      <dsp:nvSpPr>
        <dsp:cNvPr id="0" name=""/>
        <dsp:cNvSpPr/>
      </dsp:nvSpPr>
      <dsp:spPr>
        <a:xfrm>
          <a:off x="0" y="38506"/>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Data Gathering</a:t>
          </a:r>
        </a:p>
      </dsp:txBody>
      <dsp:txXfrm>
        <a:off x="64397" y="102903"/>
        <a:ext cx="10386806" cy="1190381"/>
      </dsp:txXfrm>
    </dsp:sp>
    <dsp:sp modelId="{BA0A9F6B-234D-A042-A9A1-BD99ACEFD30F}">
      <dsp:nvSpPr>
        <dsp:cNvPr id="0" name=""/>
        <dsp:cNvSpPr/>
      </dsp:nvSpPr>
      <dsp:spPr>
        <a:xfrm>
          <a:off x="0" y="1516081"/>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Data Analysis</a:t>
          </a:r>
        </a:p>
      </dsp:txBody>
      <dsp:txXfrm>
        <a:off x="64397" y="1580478"/>
        <a:ext cx="10386806" cy="1190381"/>
      </dsp:txXfrm>
    </dsp:sp>
    <dsp:sp modelId="{A46F04C1-3CAB-AC43-8D3F-D045AF9782E4}">
      <dsp:nvSpPr>
        <dsp:cNvPr id="0" name=""/>
        <dsp:cNvSpPr/>
      </dsp:nvSpPr>
      <dsp:spPr>
        <a:xfrm>
          <a:off x="0" y="2993656"/>
          <a:ext cx="10515600" cy="131917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a:t>Presenting results</a:t>
          </a:r>
        </a:p>
      </dsp:txBody>
      <dsp:txXfrm>
        <a:off x="64397" y="3058053"/>
        <a:ext cx="10386806" cy="1190381"/>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2633F6-4A0A-44D9-AC09-9A68D7C2CFBA}" type="datetimeFigureOut">
              <a:rPr lang="en-US" smtClean="0"/>
              <a:t>6/5/26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9AAC80-EE02-47E4-A9C3-876D23B25953}" type="slidenum">
              <a:rPr lang="en-US" smtClean="0"/>
              <a:t>‹#›</a:t>
            </a:fld>
            <a:endParaRPr lang="en-US"/>
          </a:p>
        </p:txBody>
      </p:sp>
    </p:spTree>
    <p:extLst>
      <p:ext uri="{BB962C8B-B14F-4D97-AF65-F5344CB8AC3E}">
        <p14:creationId xmlns:p14="http://schemas.microsoft.com/office/powerpoint/2010/main" val="39472220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PlaceHolder 1"/>
          <p:cNvSpPr>
            <a:spLocks noGrp="1" noRot="1" noChangeAspect="1"/>
          </p:cNvSpPr>
          <p:nvPr>
            <p:ph type="sldImg"/>
          </p:nvPr>
        </p:nvSpPr>
        <p:spPr>
          <a:xfrm>
            <a:off x="823913" y="1006475"/>
            <a:ext cx="6124575" cy="3446463"/>
          </a:xfrm>
          <a:prstGeom prst="rect">
            <a:avLst/>
          </a:prstGeom>
        </p:spPr>
      </p:sp>
      <p:sp>
        <p:nvSpPr>
          <p:cNvPr id="49" name="PlaceHolder 2"/>
          <p:cNvSpPr>
            <a:spLocks noGrp="1"/>
          </p:cNvSpPr>
          <p:nvPr>
            <p:ph type="body"/>
          </p:nvPr>
        </p:nvSpPr>
        <p:spPr>
          <a:xfrm>
            <a:off x="1185120" y="4787640"/>
            <a:ext cx="5407560" cy="5950080"/>
          </a:xfrm>
          <a:prstGeom prst="rect">
            <a:avLst/>
          </a:prstGeom>
        </p:spPr>
        <p:txBody>
          <a:bodyPr lIns="0" tIns="0" rIns="0" bIns="0"/>
          <a:lstStyle/>
          <a:p>
            <a:r>
              <a:rPr lang="en-US" sz="2000" b="0" strike="noStrike" spc="-1" dirty="0">
                <a:latin typeface="Arial"/>
              </a:rPr>
              <a:t>A 10‐point checklist to guide researchers toward greater reproducibility in their research. Researchers should give careful thought before, during, and after analysis to ensure reproducibility of their work.</a:t>
            </a:r>
          </a:p>
          <a:p>
            <a:r>
              <a:rPr lang="en-US" sz="2000" b="0" strike="noStrike" spc="-1" dirty="0">
                <a:latin typeface="Arial"/>
              </a:rPr>
              <a:t>IF THIS IMAGE HAS BEEN PROVIDED BY OR IS OWNED BY A THIRD PARTY, AS INDICATED IN THE CAPTION LINE, THEN FURTHER PERMISSION MAY BE NEEDED BEFORE ANY FURTHER USE. PLEASE CONTACT WILEY'S PERMISSIONS DEPARTMENT ON PERMISSIONS@WILEY.COM OR USE THE RIGHTSLINK SERVICE BY CLICKING ON THE 'REQUEST PERMISSIONS' LINK ACCOMPANYING THIS ARTICLE. WILEY OR AUTHOR OWNED IMAGES MAY BE USED FOR NON-COMMERCIAL PURPOSES, SUBJECT TO PROPER CITATION OF THE ARTICLE, AUTHOR, AND PUBLISHER.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6AD4-AF7A-0D8D-A16B-596E23FB567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3AD111C-5F85-5E44-B8A3-6DB336D9FF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AB639AC-5979-DEAA-E03A-BF9A16B2B586}"/>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9208BC3A-97D7-3882-7616-0B390B430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C8F822-EC7C-FC55-CD34-0E441B3A2F42}"/>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2895783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34A44-24C0-C5EF-2DF3-DB0ACB93CB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D466E9-FB5C-36A1-8E8D-0C0E534197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CAE36F-EA03-84AB-9DB4-DC7F2B377F59}"/>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D8CB0AFC-E3FD-BEA8-0AC8-4C0CFE0F6A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2C235-56E4-2AFF-124C-7AF918CEF6EC}"/>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4924998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D2BC-34CE-60C9-169F-3541D87498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1ADF78-B0DC-D27B-A122-AD159BCB49B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8999656-51C9-A197-4AE0-BD2214177629}"/>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E85A9F27-A9CD-094F-0745-544C0EE088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BFEC14-4574-4149-E62A-AF9BA40F2224}"/>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41124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C0952-B28C-2CDD-5FF3-FEBD66577D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5A3852C-A94A-44F1-E60D-9A6DBED0558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DEB4D5F-78E6-E028-7018-42C6B56BCDD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FDC21B-9215-9537-DDCA-B66AD5F4120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5ED002C8-F3CE-B2E9-D341-222A253C6E4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E4683E-98BC-D72D-59D5-07971EFC1BCB}"/>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3708320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7D74C-1DBC-2B8D-BD86-AC1983DB8FC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0CF6FF-0F28-393B-EAB0-8E0A83176F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88C982-F0D7-D6CE-7605-6D66694E585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319831-A4D8-1B65-485B-EB343E9D3C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C0C818-87C7-DC76-796F-D80EC4C02EA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65C156-A3D1-9B37-946C-BDBD0B537661}"/>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8" name="Footer Placeholder 7">
            <a:extLst>
              <a:ext uri="{FF2B5EF4-FFF2-40B4-BE49-F238E27FC236}">
                <a16:creationId xmlns:a16="http://schemas.microsoft.com/office/drawing/2014/main" id="{8FBDE413-EFE6-9FF6-036A-14DCBEB61D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988E6A2-E4AB-5AC8-2073-D068CE39C7C5}"/>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3054976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EC11-6DFE-07AE-CFFB-68AA6684D2D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B20418-F4B7-F7DF-48B3-24E1A55E75D0}"/>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4" name="Footer Placeholder 3">
            <a:extLst>
              <a:ext uri="{FF2B5EF4-FFF2-40B4-BE49-F238E27FC236}">
                <a16:creationId xmlns:a16="http://schemas.microsoft.com/office/drawing/2014/main" id="{E17DA720-AB08-5FE1-4BCD-B0890EAC09A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83F6B21-78BF-7AFE-2A66-D29DD323AB97}"/>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2551048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8A106B-9FCB-9AFC-7912-86BB133AEB4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3" name="Footer Placeholder 2">
            <a:extLst>
              <a:ext uri="{FF2B5EF4-FFF2-40B4-BE49-F238E27FC236}">
                <a16:creationId xmlns:a16="http://schemas.microsoft.com/office/drawing/2014/main" id="{EC0C6EF8-8A16-A371-152C-B53F02D2465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6F9AD6-2712-0865-1459-3B1481726820}"/>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4936018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A02EE-ACED-6C49-B223-6CFEC29714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E355A2-C04F-1CD0-39AD-E3FD3FC11A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B2C83FB-EBD0-0863-F91C-1AAB331C3E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9DC817-D32C-36EE-8B80-A21E5F3CE90D}"/>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7DD50674-DD00-C74E-91E2-98DBA0AC48B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E64525-9F6C-B605-6868-A46D53B483F0}"/>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5571554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F75E0-3CFE-3CA2-3A9A-2A2EAB30C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6014FC-C196-3229-9D85-6F7A264B62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8737AE7-3FBF-9D2E-F304-3120654DF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49688-D1A1-AB90-76D9-9AEC1D71D1DB}"/>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6" name="Footer Placeholder 5">
            <a:extLst>
              <a:ext uri="{FF2B5EF4-FFF2-40B4-BE49-F238E27FC236}">
                <a16:creationId xmlns:a16="http://schemas.microsoft.com/office/drawing/2014/main" id="{6CA12545-D6D2-3F23-E476-85C72C8D27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70B977-61A2-6139-BFF8-45B954C8ACDB}"/>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0923702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23265-8F5B-FA82-E38E-8193B2C47AE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83F2F4B-6F21-7D0E-516D-C869D5FDA6A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2789C7-F2C4-7E91-16C2-8F0697417993}"/>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889E7AF8-9D41-29C3-0395-905F6CC920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073BE-70C6-D86D-1C45-4BF97FFC5494}"/>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13660875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6E4263-4395-E3E8-0011-2A54A7E04F4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A61113-6D7E-83AD-C077-6EA0C152D4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B3607B-B661-E150-D668-F585F7ECF2EE}"/>
              </a:ext>
            </a:extLst>
          </p:cNvPr>
          <p:cNvSpPr>
            <a:spLocks noGrp="1"/>
          </p:cNvSpPr>
          <p:nvPr>
            <p:ph type="dt" sz="half" idx="10"/>
          </p:nvPr>
        </p:nvSpPr>
        <p:spPr/>
        <p:txBody>
          <a:body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990752A4-E5A1-C6C9-01D8-6C7E5A0856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406C21-70B4-3C83-358E-5925F1AD325E}"/>
              </a:ext>
            </a:extLst>
          </p:cNvPr>
          <p:cNvSpPr>
            <a:spLocks noGrp="1"/>
          </p:cNvSpPr>
          <p:nvPr>
            <p:ph type="sldNum" sz="quarter" idx="12"/>
          </p:nvPr>
        </p:nvSpPr>
        <p:spPr/>
        <p:txBody>
          <a:bodyPr/>
          <a:lstStyle/>
          <a:p>
            <a:fld id="{7ACA5435-6333-47B3-863D-D49C87EBF0F3}" type="slidenum">
              <a:rPr lang="en-US" smtClean="0"/>
              <a:t>‹#›</a:t>
            </a:fld>
            <a:endParaRPr lang="en-US"/>
          </a:p>
        </p:txBody>
      </p:sp>
    </p:spTree>
    <p:extLst>
      <p:ext uri="{BB962C8B-B14F-4D97-AF65-F5344CB8AC3E}">
        <p14:creationId xmlns:p14="http://schemas.microsoft.com/office/powerpoint/2010/main" val="6766828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609600" y="1604520"/>
            <a:ext cx="1097232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2605350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563" y="273353"/>
            <a:ext cx="10971684" cy="1145009"/>
          </a:xfrm>
          <a:prstGeom prst="rect">
            <a:avLst/>
          </a:prstGeom>
        </p:spPr>
        <p:txBody>
          <a:bodyPr lIns="0" tIns="0" rIns="0" bIns="0" anchor="ctr"/>
          <a:lstStyle/>
          <a:p>
            <a:pPr algn="ctr"/>
            <a:endParaRPr lang="en-US" sz="3991" b="0" strike="noStrike" spc="-1">
              <a:latin typeface="Arial"/>
            </a:endParaRPr>
          </a:p>
        </p:txBody>
      </p:sp>
      <p:sp>
        <p:nvSpPr>
          <p:cNvPr id="8" name="PlaceHolder 2"/>
          <p:cNvSpPr>
            <a:spLocks noGrp="1"/>
          </p:cNvSpPr>
          <p:nvPr>
            <p:ph type="body"/>
          </p:nvPr>
        </p:nvSpPr>
        <p:spPr>
          <a:xfrm>
            <a:off x="609563" y="1604841"/>
            <a:ext cx="10971684" cy="3977484"/>
          </a:xfrm>
          <a:prstGeom prst="rect">
            <a:avLst/>
          </a:prstGeom>
        </p:spPr>
        <p:txBody>
          <a:bodyPr lIns="0" tIns="0" rIns="0" bIns="0">
            <a:normAutofit/>
          </a:bodyPr>
          <a:lstStyle/>
          <a:p>
            <a:endParaRPr lang="en-US" sz="2903" b="0" strike="noStrike" spc="-1">
              <a:latin typeface="Arial"/>
            </a:endParaRPr>
          </a:p>
        </p:txBody>
      </p:sp>
    </p:spTree>
    <p:extLst>
      <p:ext uri="{BB962C8B-B14F-4D97-AF65-F5344CB8AC3E}">
        <p14:creationId xmlns:p14="http://schemas.microsoft.com/office/powerpoint/2010/main" val="39132643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22DD7-D581-6B1D-0686-7EE336906BB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B82172-241D-A893-FE0E-30C602CA15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02F63C-4DD7-2533-7944-A82BF75375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D6E051-96AE-49E8-97FE-2A788E7595F9}" type="datetimeFigureOut">
              <a:rPr lang="en-US" smtClean="0"/>
              <a:t>6/5/26</a:t>
            </a:fld>
            <a:endParaRPr lang="en-US"/>
          </a:p>
        </p:txBody>
      </p:sp>
      <p:sp>
        <p:nvSpPr>
          <p:cNvPr id="5" name="Footer Placeholder 4">
            <a:extLst>
              <a:ext uri="{FF2B5EF4-FFF2-40B4-BE49-F238E27FC236}">
                <a16:creationId xmlns:a16="http://schemas.microsoft.com/office/drawing/2014/main" id="{76D819A6-9237-A132-95F9-B285B3A4C3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B07529F-7AD6-8F2E-B24F-8E135AA365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ACA5435-6333-47B3-863D-D49C87EBF0F3}" type="slidenum">
              <a:rPr lang="en-US" smtClean="0"/>
              <a:t>‹#›</a:t>
            </a:fld>
            <a:endParaRPr lang="en-US"/>
          </a:p>
        </p:txBody>
      </p:sp>
    </p:spTree>
    <p:extLst>
      <p:ext uri="{BB962C8B-B14F-4D97-AF65-F5344CB8AC3E}">
        <p14:creationId xmlns:p14="http://schemas.microsoft.com/office/powerpoint/2010/main" val="30133572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tandfonline.com/doi/pdf/10.1080/01621459.2016.1240079"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pnas.org/doi/10.1073/pnas.2524747123" TargetMode="External"/><Relationship Id="rId2" Type="http://schemas.openxmlformats.org/officeDocument/2006/relationships/hyperlink" Target="https://pmc.ncbi.nlm.nih.gov/articles/PMC5976261/"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esajournals.onlinelibrary.wiley.com/doi/full/10.1002/bes2.1801#:~:text=Research%20is%20reproducible%20when%20others,2020)."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s://fivethirtyeight.com/features/statisticians-found-one-thing-they-can-agree-on-its-time-to-stop-misusing-p-values/" TargetMode="External"/><Relationship Id="rId2" Type="http://schemas.openxmlformats.org/officeDocument/2006/relationships/hyperlink" Target="https://link.springer.com/article/10.3758/s13423-016-1128-0" TargetMode="External"/><Relationship Id="rId1" Type="http://schemas.openxmlformats.org/officeDocument/2006/relationships/slideLayout" Target="../slideLayouts/slideLayout2.xml"/><Relationship Id="rId4" Type="http://schemas.openxmlformats.org/officeDocument/2006/relationships/hyperlink" Target="https://www.nature.com/articles/s41586-020-2314-9" TargetMode="External"/></Relationships>
</file>

<file path=ppt/slides/_rels/slide20.xml.rels><?xml version="1.0" encoding="UTF-8" standalone="yes"?>
<Relationships xmlns="http://schemas.openxmlformats.org/package/2006/relationships"><Relationship Id="rId2" Type="http://schemas.openxmlformats.org/officeDocument/2006/relationships/hyperlink" Target="https://fivethirtyeight.com/features/science-isnt-broken/#part2"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civilstat.com/2018/10/mengs-big-data-paradox-and-an-extreme-example/" TargetMode="External"/><Relationship Id="rId2" Type="http://schemas.openxmlformats.org/officeDocument/2006/relationships/hyperlink" Target="https://projecteuclid.org/journals/annals-of-applied-statistics/volume-12/issue-2/Statistical-paradises-and-paradoxes-in-big-data-I--Law/10.1214/18-AOAS1161SF.full" TargetMode="External"/><Relationship Id="rId1" Type="http://schemas.openxmlformats.org/officeDocument/2006/relationships/slideLayout" Target="../slideLayouts/slideLayout13.xml"/><Relationship Id="rId5" Type="http://schemas.openxmlformats.org/officeDocument/2006/relationships/image" Target="../media/image5.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6.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jpe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0.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7.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vdsbook.com/" TargetMode="External"/><Relationship Id="rId2" Type="http://schemas.openxmlformats.org/officeDocument/2006/relationships/hyperlink" Target="https://www.pnas.org/doi/10.1073/pnas.1901326117" TargetMode="Externa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89ED1AA-8684-4D37-B208-8777E1A77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Graphic 33">
            <a:extLst>
              <a:ext uri="{FF2B5EF4-FFF2-40B4-BE49-F238E27FC236}">
                <a16:creationId xmlns:a16="http://schemas.microsoft.com/office/drawing/2014/main" id="{4180E01B-B1F4-437C-807D-1C930718E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10784" y="0"/>
            <a:ext cx="9570431" cy="6858000"/>
          </a:xfrm>
          <a:custGeom>
            <a:avLst/>
            <a:gdLst>
              <a:gd name="connsiteX0" fmla="*/ 7178288 w 7187261"/>
              <a:gd name="connsiteY0" fmla="*/ 2604802 h 5150263"/>
              <a:gd name="connsiteX1" fmla="*/ 7169335 w 7187261"/>
              <a:gd name="connsiteY1" fmla="*/ 2328577 h 5150263"/>
              <a:gd name="connsiteX2" fmla="*/ 7060845 w 7187261"/>
              <a:gd name="connsiteY2" fmla="*/ 1661160 h 5150263"/>
              <a:gd name="connsiteX3" fmla="*/ 6212263 w 7187261"/>
              <a:gd name="connsiteY3" fmla="*/ 243840 h 5150263"/>
              <a:gd name="connsiteX4" fmla="*/ 5953564 w 7187261"/>
              <a:gd name="connsiteY4" fmla="*/ 0 h 5150263"/>
              <a:gd name="connsiteX5" fmla="*/ 1408615 w 7187261"/>
              <a:gd name="connsiteY5" fmla="*/ 0 h 5150263"/>
              <a:gd name="connsiteX6" fmla="*/ 805111 w 7187261"/>
              <a:gd name="connsiteY6" fmla="*/ 676275 h 5150263"/>
              <a:gd name="connsiteX7" fmla="*/ 104928 w 7187261"/>
              <a:gd name="connsiteY7" fmla="*/ 2183035 h 5150263"/>
              <a:gd name="connsiteX8" fmla="*/ 51588 w 7187261"/>
              <a:gd name="connsiteY8" fmla="*/ 2400014 h 5150263"/>
              <a:gd name="connsiteX9" fmla="*/ 41301 w 7187261"/>
              <a:gd name="connsiteY9" fmla="*/ 2424208 h 5150263"/>
              <a:gd name="connsiteX10" fmla="*/ 119692 w 7187261"/>
              <a:gd name="connsiteY10" fmla="*/ 1834801 h 5150263"/>
              <a:gd name="connsiteX11" fmla="*/ 870071 w 7187261"/>
              <a:gd name="connsiteY11" fmla="*/ 462248 h 5150263"/>
              <a:gd name="connsiteX12" fmla="*/ 1389279 w 7187261"/>
              <a:gd name="connsiteY12" fmla="*/ 476 h 5150263"/>
              <a:gd name="connsiteX13" fmla="*/ 1320223 w 7187261"/>
              <a:gd name="connsiteY13" fmla="*/ 476 h 5150263"/>
              <a:gd name="connsiteX14" fmla="*/ 423158 w 7187261"/>
              <a:gd name="connsiteY14" fmla="*/ 989743 h 5150263"/>
              <a:gd name="connsiteX15" fmla="*/ 25585 w 7187261"/>
              <a:gd name="connsiteY15" fmla="*/ 2113693 h 5150263"/>
              <a:gd name="connsiteX16" fmla="*/ 2344 w 7187261"/>
              <a:gd name="connsiteY16" fmla="*/ 2725865 h 5150263"/>
              <a:gd name="connsiteX17" fmla="*/ 447256 w 7187261"/>
              <a:gd name="connsiteY17" fmla="*/ 4210717 h 5150263"/>
              <a:gd name="connsiteX18" fmla="*/ 1138962 w 7187261"/>
              <a:gd name="connsiteY18" fmla="*/ 4988910 h 5150263"/>
              <a:gd name="connsiteX19" fmla="*/ 1348512 w 7187261"/>
              <a:gd name="connsiteY19" fmla="*/ 5146834 h 5150263"/>
              <a:gd name="connsiteX20" fmla="*/ 1422712 w 7187261"/>
              <a:gd name="connsiteY20" fmla="*/ 5146834 h 5150263"/>
              <a:gd name="connsiteX21" fmla="*/ 480594 w 7187261"/>
              <a:gd name="connsiteY21" fmla="*/ 4187952 h 5150263"/>
              <a:gd name="connsiteX22" fmla="*/ 398679 w 7187261"/>
              <a:gd name="connsiteY22" fmla="*/ 4046125 h 5150263"/>
              <a:gd name="connsiteX23" fmla="*/ 411823 w 7187261"/>
              <a:gd name="connsiteY23" fmla="*/ 4053078 h 5150263"/>
              <a:gd name="connsiteX24" fmla="*/ 1439380 w 7187261"/>
              <a:gd name="connsiteY24" fmla="*/ 5147405 h 5150263"/>
              <a:gd name="connsiteX25" fmla="*/ 5710010 w 7187261"/>
              <a:gd name="connsiteY25" fmla="*/ 5150263 h 5150263"/>
              <a:gd name="connsiteX26" fmla="*/ 5999665 w 7187261"/>
              <a:gd name="connsiteY26" fmla="*/ 4910900 h 5150263"/>
              <a:gd name="connsiteX27" fmla="*/ 6954165 w 7187261"/>
              <a:gd name="connsiteY27" fmla="*/ 3545777 h 5150263"/>
              <a:gd name="connsiteX28" fmla="*/ 7137712 w 7187261"/>
              <a:gd name="connsiteY28" fmla="*/ 2799207 h 5150263"/>
              <a:gd name="connsiteX29" fmla="*/ 7142951 w 7187261"/>
              <a:gd name="connsiteY29" fmla="*/ 2754535 h 5150263"/>
              <a:gd name="connsiteX30" fmla="*/ 7149428 w 7187261"/>
              <a:gd name="connsiteY30" fmla="*/ 2774823 h 5150263"/>
              <a:gd name="connsiteX31" fmla="*/ 7066465 w 7187261"/>
              <a:gd name="connsiteY31" fmla="*/ 3465672 h 5150263"/>
              <a:gd name="connsiteX32" fmla="*/ 6452578 w 7187261"/>
              <a:gd name="connsiteY32" fmla="*/ 4552760 h 5150263"/>
              <a:gd name="connsiteX33" fmla="*/ 5752110 w 7187261"/>
              <a:gd name="connsiteY33" fmla="*/ 5150263 h 5150263"/>
              <a:gd name="connsiteX34" fmla="*/ 5827643 w 7187261"/>
              <a:gd name="connsiteY34" fmla="*/ 5150263 h 5150263"/>
              <a:gd name="connsiteX35" fmla="*/ 6642793 w 7187261"/>
              <a:gd name="connsiteY35" fmla="*/ 4389406 h 5150263"/>
              <a:gd name="connsiteX36" fmla="*/ 7102469 w 7187261"/>
              <a:gd name="connsiteY36" fmla="*/ 3490817 h 5150263"/>
              <a:gd name="connsiteX37" fmla="*/ 7187242 w 7187261"/>
              <a:gd name="connsiteY37" fmla="*/ 2990183 h 5150263"/>
              <a:gd name="connsiteX38" fmla="*/ 7178288 w 7187261"/>
              <a:gd name="connsiteY38" fmla="*/ 2604802 h 5150263"/>
              <a:gd name="connsiteX39" fmla="*/ 6342565 w 7187261"/>
              <a:gd name="connsiteY39" fmla="*/ 441389 h 5150263"/>
              <a:gd name="connsiteX40" fmla="*/ 7126567 w 7187261"/>
              <a:gd name="connsiteY40" fmla="*/ 2355056 h 5150263"/>
              <a:gd name="connsiteX41" fmla="*/ 6342565 w 7187261"/>
              <a:gd name="connsiteY41" fmla="*/ 441389 h 5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87261" h="5150263">
                <a:moveTo>
                  <a:pt x="7178288" y="2604802"/>
                </a:moveTo>
                <a:cubicBezTo>
                  <a:pt x="7168763" y="2513076"/>
                  <a:pt x="7174478" y="2420684"/>
                  <a:pt x="7169335" y="2328577"/>
                </a:cubicBezTo>
                <a:cubicBezTo>
                  <a:pt x="7156952" y="2102882"/>
                  <a:pt x="7120586" y="1879149"/>
                  <a:pt x="7060845" y="1661160"/>
                </a:cubicBezTo>
                <a:cubicBezTo>
                  <a:pt x="6910588" y="1121007"/>
                  <a:pt x="6617428" y="631374"/>
                  <a:pt x="6212263" y="243840"/>
                </a:cubicBezTo>
                <a:cubicBezTo>
                  <a:pt x="6126538" y="162496"/>
                  <a:pt x="6040813" y="80201"/>
                  <a:pt x="5953564" y="0"/>
                </a:cubicBezTo>
                <a:lnTo>
                  <a:pt x="1408615" y="0"/>
                </a:lnTo>
                <a:cubicBezTo>
                  <a:pt x="1180967" y="200316"/>
                  <a:pt x="978332" y="427387"/>
                  <a:pt x="805111" y="676275"/>
                </a:cubicBezTo>
                <a:cubicBezTo>
                  <a:pt x="481261" y="1136523"/>
                  <a:pt x="252089" y="1640872"/>
                  <a:pt x="104928" y="2183035"/>
                </a:cubicBezTo>
                <a:cubicBezTo>
                  <a:pt x="85878" y="2254853"/>
                  <a:pt x="69495" y="2327720"/>
                  <a:pt x="51588" y="2400014"/>
                </a:cubicBezTo>
                <a:cubicBezTo>
                  <a:pt x="49683" y="2407634"/>
                  <a:pt x="51588" y="2416969"/>
                  <a:pt x="41301" y="2424208"/>
                </a:cubicBezTo>
                <a:cubicBezTo>
                  <a:pt x="45900" y="2225469"/>
                  <a:pt x="72186" y="2027834"/>
                  <a:pt x="119692" y="1834801"/>
                </a:cubicBezTo>
                <a:cubicBezTo>
                  <a:pt x="247993" y="1310926"/>
                  <a:pt x="506121" y="857726"/>
                  <a:pt x="870071" y="462248"/>
                </a:cubicBezTo>
                <a:cubicBezTo>
                  <a:pt x="1027729" y="291823"/>
                  <a:pt x="1201617" y="137169"/>
                  <a:pt x="1389279" y="476"/>
                </a:cubicBezTo>
                <a:lnTo>
                  <a:pt x="1320223" y="476"/>
                </a:lnTo>
                <a:cubicBezTo>
                  <a:pt x="960844" y="274320"/>
                  <a:pt x="656330" y="599123"/>
                  <a:pt x="423158" y="989743"/>
                </a:cubicBezTo>
                <a:cubicBezTo>
                  <a:pt x="215608" y="1337596"/>
                  <a:pt x="80258" y="1711357"/>
                  <a:pt x="25585" y="2113693"/>
                </a:cubicBezTo>
                <a:cubicBezTo>
                  <a:pt x="-2705" y="2316480"/>
                  <a:pt x="-2228" y="2521077"/>
                  <a:pt x="2344" y="2725865"/>
                </a:cubicBezTo>
                <a:cubicBezTo>
                  <a:pt x="14155" y="3261932"/>
                  <a:pt x="170650" y="3754565"/>
                  <a:pt x="447256" y="4210717"/>
                </a:cubicBezTo>
                <a:cubicBezTo>
                  <a:pt x="629851" y="4511612"/>
                  <a:pt x="866356" y="4767167"/>
                  <a:pt x="1138962" y="4988910"/>
                </a:cubicBezTo>
                <a:cubicBezTo>
                  <a:pt x="1207161" y="5044345"/>
                  <a:pt x="1277008" y="5096990"/>
                  <a:pt x="1348512" y="5146834"/>
                </a:cubicBezTo>
                <a:lnTo>
                  <a:pt x="1422712" y="5146834"/>
                </a:lnTo>
                <a:cubicBezTo>
                  <a:pt x="1043426" y="4892802"/>
                  <a:pt x="724720" y="4577334"/>
                  <a:pt x="480594" y="4187952"/>
                </a:cubicBezTo>
                <a:cubicBezTo>
                  <a:pt x="452019" y="4141851"/>
                  <a:pt x="423444" y="4095179"/>
                  <a:pt x="398679" y="4046125"/>
                </a:cubicBezTo>
                <a:cubicBezTo>
                  <a:pt x="407442" y="4043267"/>
                  <a:pt x="409156" y="4048982"/>
                  <a:pt x="411823" y="4053078"/>
                </a:cubicBezTo>
                <a:cubicBezTo>
                  <a:pt x="683572" y="4484656"/>
                  <a:pt x="1033139" y="4842701"/>
                  <a:pt x="1439380" y="5147405"/>
                </a:cubicBezTo>
                <a:lnTo>
                  <a:pt x="5710010" y="5150263"/>
                </a:lnTo>
                <a:cubicBezTo>
                  <a:pt x="5810594" y="5075482"/>
                  <a:pt x="5907272" y="4995587"/>
                  <a:pt x="5999665" y="4910900"/>
                </a:cubicBezTo>
                <a:cubicBezTo>
                  <a:pt x="6418765" y="4526661"/>
                  <a:pt x="6746901" y="4078129"/>
                  <a:pt x="6954165" y="3545777"/>
                </a:cubicBezTo>
                <a:cubicBezTo>
                  <a:pt x="7048234" y="3306175"/>
                  <a:pt x="7109956" y="3055115"/>
                  <a:pt x="7137712" y="2799207"/>
                </a:cubicBezTo>
                <a:cubicBezTo>
                  <a:pt x="7139236" y="2784920"/>
                  <a:pt x="7141046" y="2770632"/>
                  <a:pt x="7142951" y="2754535"/>
                </a:cubicBezTo>
                <a:cubicBezTo>
                  <a:pt x="7151714" y="2760440"/>
                  <a:pt x="7149237" y="2768441"/>
                  <a:pt x="7149428" y="2774823"/>
                </a:cubicBezTo>
                <a:cubicBezTo>
                  <a:pt x="7156743" y="3007967"/>
                  <a:pt x="7128777" y="3240881"/>
                  <a:pt x="7066465" y="3465672"/>
                </a:cubicBezTo>
                <a:cubicBezTo>
                  <a:pt x="6952165" y="3878580"/>
                  <a:pt x="6737948" y="4235863"/>
                  <a:pt x="6452578" y="4552760"/>
                </a:cubicBezTo>
                <a:cubicBezTo>
                  <a:pt x="6244553" y="4783836"/>
                  <a:pt x="6008809" y="4980242"/>
                  <a:pt x="5752110" y="5150263"/>
                </a:cubicBezTo>
                <a:lnTo>
                  <a:pt x="5827643" y="5150263"/>
                </a:lnTo>
                <a:cubicBezTo>
                  <a:pt x="6136539" y="4938904"/>
                  <a:pt x="6412192" y="4689348"/>
                  <a:pt x="6642793" y="4389406"/>
                </a:cubicBezTo>
                <a:cubicBezTo>
                  <a:pt x="6851295" y="4118324"/>
                  <a:pt x="7009125" y="3820859"/>
                  <a:pt x="7102469" y="3490817"/>
                </a:cubicBezTo>
                <a:cubicBezTo>
                  <a:pt x="7148646" y="3327473"/>
                  <a:pt x="7177069" y="3159624"/>
                  <a:pt x="7187242" y="2990183"/>
                </a:cubicBezTo>
                <a:cubicBezTo>
                  <a:pt x="7187623" y="2984087"/>
                  <a:pt x="7182384" y="2642330"/>
                  <a:pt x="7178288" y="2604802"/>
                </a:cubicBezTo>
                <a:close/>
                <a:moveTo>
                  <a:pt x="6342565" y="441389"/>
                </a:moveTo>
                <a:cubicBezTo>
                  <a:pt x="6829797" y="986533"/>
                  <a:pt x="7091135" y="1624422"/>
                  <a:pt x="7126567" y="2355056"/>
                </a:cubicBezTo>
                <a:cubicBezTo>
                  <a:pt x="7001123" y="1661827"/>
                  <a:pt x="6756426" y="1017365"/>
                  <a:pt x="6342565" y="441389"/>
                </a:cubicBezTo>
                <a:close/>
              </a:path>
            </a:pathLst>
          </a:custGeom>
          <a:solidFill>
            <a:schemeClr val="accent2"/>
          </a:solidFill>
          <a:ln w="9525" cap="flat">
            <a:noFill/>
            <a:prstDash val="solid"/>
            <a:miter/>
          </a:ln>
        </p:spPr>
        <p:txBody>
          <a:bodyPr rtlCol="0" anchor="ctr"/>
          <a:lstStyle/>
          <a:p>
            <a:endParaRPr lang="en-US"/>
          </a:p>
        </p:txBody>
      </p:sp>
      <p:sp>
        <p:nvSpPr>
          <p:cNvPr id="2" name="Title 1"/>
          <p:cNvSpPr>
            <a:spLocks noGrp="1"/>
          </p:cNvSpPr>
          <p:nvPr>
            <p:ph type="ctrTitle"/>
          </p:nvPr>
        </p:nvSpPr>
        <p:spPr>
          <a:xfrm>
            <a:off x="2558716" y="955309"/>
            <a:ext cx="7074568" cy="2898975"/>
          </a:xfrm>
        </p:spPr>
        <p:txBody>
          <a:bodyPr>
            <a:normAutofit/>
          </a:bodyPr>
          <a:lstStyle/>
          <a:p>
            <a:r>
              <a:rPr lang="en-US" sz="6600">
                <a:solidFill>
                  <a:srgbClr val="FFFFFF"/>
                </a:solidFill>
              </a:rPr>
              <a:t>What is Reproducibility and Why do we care?</a:t>
            </a:r>
          </a:p>
        </p:txBody>
      </p:sp>
      <p:sp>
        <p:nvSpPr>
          <p:cNvPr id="3" name="Subtitle 2"/>
          <p:cNvSpPr>
            <a:spLocks noGrp="1"/>
          </p:cNvSpPr>
          <p:nvPr>
            <p:ph type="subTitle" idx="1"/>
          </p:nvPr>
        </p:nvSpPr>
        <p:spPr>
          <a:xfrm>
            <a:off x="2634916" y="4533813"/>
            <a:ext cx="6930189" cy="938463"/>
          </a:xfrm>
        </p:spPr>
        <p:txBody>
          <a:bodyPr>
            <a:normAutofit fontScale="92500"/>
          </a:bodyPr>
          <a:lstStyle/>
          <a:p>
            <a:r>
              <a:rPr lang="en-US" b="1" dirty="0">
                <a:solidFill>
                  <a:srgbClr val="FFFFFF"/>
                </a:solidFill>
              </a:rPr>
              <a:t>REU Site: Advancing Data Science in the Public Interest</a:t>
            </a:r>
          </a:p>
          <a:p>
            <a:r>
              <a:rPr lang="en-US" b="1" dirty="0">
                <a:solidFill>
                  <a:srgbClr val="FFFFFF"/>
                </a:solidFill>
              </a:rPr>
              <a:t>6/05/2026</a:t>
            </a:r>
          </a:p>
        </p:txBody>
      </p:sp>
      <p:sp>
        <p:nvSpPr>
          <p:cNvPr id="12" name="sketch line">
            <a:extLst>
              <a:ext uri="{FF2B5EF4-FFF2-40B4-BE49-F238E27FC236}">
                <a16:creationId xmlns:a16="http://schemas.microsoft.com/office/drawing/2014/main" id="{41F77738-2AF0-4750-A0C7-F97C2C175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56888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6AECE6E-0EDE-EDD4-7EC0-887911C82750}"/>
              </a:ext>
            </a:extLst>
          </p:cNvPr>
          <p:cNvSpPr>
            <a:spLocks noGrp="1"/>
          </p:cNvSpPr>
          <p:nvPr>
            <p:ph type="ctrTitle"/>
          </p:nvPr>
        </p:nvSpPr>
        <p:spPr/>
        <p:txBody>
          <a:bodyPr/>
          <a:lstStyle/>
          <a:p>
            <a:r>
              <a:rPr lang="en-US" dirty="0"/>
              <a:t>What is Research?</a:t>
            </a:r>
          </a:p>
        </p:txBody>
      </p:sp>
      <p:sp>
        <p:nvSpPr>
          <p:cNvPr id="5" name="Subtitle 4">
            <a:extLst>
              <a:ext uri="{FF2B5EF4-FFF2-40B4-BE49-F238E27FC236}">
                <a16:creationId xmlns:a16="http://schemas.microsoft.com/office/drawing/2014/main" id="{9977EBDD-1F48-EAA0-C64C-B104412A098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71411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02D05CB-BE4A-4ED8-A986-40D99EDCF7AF}"/>
              </a:ext>
            </a:extLst>
          </p:cNvPr>
          <p:cNvSpPr>
            <a:spLocks noGrp="1"/>
          </p:cNvSpPr>
          <p:nvPr>
            <p:ph type="ctrTitle"/>
          </p:nvPr>
        </p:nvSpPr>
        <p:spPr/>
        <p:txBody>
          <a:bodyPr>
            <a:normAutofit fontScale="90000"/>
          </a:bodyPr>
          <a:lstStyle/>
          <a:p>
            <a:r>
              <a:rPr lang="en-US" dirty="0"/>
              <a:t>How do we know whether something no one has done before is correct?</a:t>
            </a:r>
          </a:p>
        </p:txBody>
      </p:sp>
      <p:sp>
        <p:nvSpPr>
          <p:cNvPr id="5" name="Subtitle 4">
            <a:extLst>
              <a:ext uri="{FF2B5EF4-FFF2-40B4-BE49-F238E27FC236}">
                <a16:creationId xmlns:a16="http://schemas.microsoft.com/office/drawing/2014/main" id="{B389E3D5-E4A5-F45A-43AF-13C89189F36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16498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descr="A diagram of a process&#10;&#10;Description automatically generated">
            <a:extLst>
              <a:ext uri="{FF2B5EF4-FFF2-40B4-BE49-F238E27FC236}">
                <a16:creationId xmlns:a16="http://schemas.microsoft.com/office/drawing/2014/main" id="{04AC1AD3-AD1D-BE7F-2ADC-FC0A0B0D121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14082" y="643466"/>
            <a:ext cx="6963836" cy="5571067"/>
          </a:xfrm>
          <a:prstGeom prst="rect">
            <a:avLst/>
          </a:prstGeom>
        </p:spPr>
      </p:pic>
      <p:sp>
        <p:nvSpPr>
          <p:cNvPr id="7" name="TextBox 6">
            <a:extLst>
              <a:ext uri="{FF2B5EF4-FFF2-40B4-BE49-F238E27FC236}">
                <a16:creationId xmlns:a16="http://schemas.microsoft.com/office/drawing/2014/main" id="{79890DF2-94EB-FBCF-B009-6B8F96280F2B}"/>
              </a:ext>
            </a:extLst>
          </p:cNvPr>
          <p:cNvSpPr txBox="1"/>
          <p:nvPr/>
        </p:nvSpPr>
        <p:spPr>
          <a:xfrm>
            <a:off x="283028" y="6324992"/>
            <a:ext cx="6096000" cy="369332"/>
          </a:xfrm>
          <a:prstGeom prst="rect">
            <a:avLst/>
          </a:prstGeom>
          <a:noFill/>
        </p:spPr>
        <p:txBody>
          <a:bodyPr wrap="square">
            <a:spAutoFit/>
          </a:bodyPr>
          <a:lstStyle/>
          <a:p>
            <a:r>
              <a:rPr lang="en-US" dirty="0"/>
              <a:t>https://</a:t>
            </a:r>
            <a:r>
              <a:rPr lang="en-US" dirty="0" err="1"/>
              <a:t>theory.labster.com</a:t>
            </a:r>
            <a:r>
              <a:rPr lang="en-US" dirty="0"/>
              <a:t>/</a:t>
            </a:r>
            <a:r>
              <a:rPr lang="en-US" dirty="0" err="1"/>
              <a:t>scientific_method</a:t>
            </a:r>
            <a:r>
              <a:rPr lang="en-US" dirty="0"/>
              <a:t>/</a:t>
            </a:r>
          </a:p>
        </p:txBody>
      </p:sp>
      <p:grpSp>
        <p:nvGrpSpPr>
          <p:cNvPr id="16" name="Group 15">
            <a:extLst>
              <a:ext uri="{FF2B5EF4-FFF2-40B4-BE49-F238E27FC236}">
                <a16:creationId xmlns:a16="http://schemas.microsoft.com/office/drawing/2014/main" id="{F39A5AB0-6B06-5F39-9DB1-B1C4EEF03DBF}"/>
              </a:ext>
            </a:extLst>
          </p:cNvPr>
          <p:cNvGrpSpPr/>
          <p:nvPr/>
        </p:nvGrpSpPr>
        <p:grpSpPr>
          <a:xfrm>
            <a:off x="7217229" y="2852057"/>
            <a:ext cx="4659086" cy="2111829"/>
            <a:chOff x="7217229" y="2852057"/>
            <a:chExt cx="4659086" cy="2111829"/>
          </a:xfrm>
        </p:grpSpPr>
        <p:sp>
          <p:nvSpPr>
            <p:cNvPr id="8" name="TextBox 7">
              <a:extLst>
                <a:ext uri="{FF2B5EF4-FFF2-40B4-BE49-F238E27FC236}">
                  <a16:creationId xmlns:a16="http://schemas.microsoft.com/office/drawing/2014/main" id="{8A7C3D8F-4AF6-D27E-84CE-CBC6E90214E7}"/>
                </a:ext>
              </a:extLst>
            </p:cNvPr>
            <p:cNvSpPr txBox="1"/>
            <p:nvPr/>
          </p:nvSpPr>
          <p:spPr>
            <a:xfrm>
              <a:off x="10014858" y="3755572"/>
              <a:ext cx="1861457"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US" sz="4000" dirty="0"/>
                <a:t>Iterate</a:t>
              </a:r>
            </a:p>
          </p:txBody>
        </p:sp>
        <p:cxnSp>
          <p:nvCxnSpPr>
            <p:cNvPr id="12" name="Straight Arrow Connector 11">
              <a:extLst>
                <a:ext uri="{FF2B5EF4-FFF2-40B4-BE49-F238E27FC236}">
                  <a16:creationId xmlns:a16="http://schemas.microsoft.com/office/drawing/2014/main" id="{A9D643C1-1F93-C15C-B06C-5B4C2781A043}"/>
                </a:ext>
              </a:extLst>
            </p:cNvPr>
            <p:cNvCxnSpPr/>
            <p:nvPr/>
          </p:nvCxnSpPr>
          <p:spPr>
            <a:xfrm flipH="1" flipV="1">
              <a:off x="7217229" y="2852057"/>
              <a:ext cx="2797629" cy="1099457"/>
            </a:xfrm>
            <a:prstGeom prst="straightConnector1">
              <a:avLst/>
            </a:prstGeom>
            <a:ln w="3810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57F8859-829D-683B-EFCF-6BD13194B155}"/>
                </a:ext>
              </a:extLst>
            </p:cNvPr>
            <p:cNvCxnSpPr>
              <a:cxnSpLocks/>
              <a:stCxn id="8" idx="1"/>
            </p:cNvCxnSpPr>
            <p:nvPr/>
          </p:nvCxnSpPr>
          <p:spPr>
            <a:xfrm flipH="1">
              <a:off x="7217229" y="4109515"/>
              <a:ext cx="2797629" cy="854371"/>
            </a:xfrm>
            <a:prstGeom prst="straightConnector1">
              <a:avLst/>
            </a:prstGeom>
            <a:ln w="38100">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68067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Replication “crisis”</a:t>
            </a:r>
            <a:br>
              <a:rPr lang="en-US" dirty="0"/>
            </a:br>
            <a:r>
              <a:rPr lang="en-US" sz="3100" dirty="0"/>
              <a:t>Increasing rates of non-replicability in scientific studies</a:t>
            </a:r>
          </a:p>
        </p:txBody>
      </p:sp>
      <p:sp>
        <p:nvSpPr>
          <p:cNvPr id="3" name="Content Placeholder 2"/>
          <p:cNvSpPr>
            <a:spLocks noGrp="1"/>
          </p:cNvSpPr>
          <p:nvPr>
            <p:ph idx="1"/>
          </p:nvPr>
        </p:nvSpPr>
        <p:spPr/>
        <p:txBody>
          <a:bodyPr>
            <a:normAutofit/>
          </a:bodyPr>
          <a:lstStyle/>
          <a:p>
            <a:pPr>
              <a:lnSpc>
                <a:spcPct val="110000"/>
              </a:lnSpc>
            </a:pPr>
            <a:r>
              <a:rPr lang="en-US" dirty="0">
                <a:solidFill>
                  <a:srgbClr val="1C1D1E"/>
                </a:solidFill>
                <a:latin typeface="Open Sans" panose="020B0606030504020204" pitchFamily="34" charset="0"/>
              </a:rPr>
              <a:t>The crisis is especially prevalent in </a:t>
            </a:r>
            <a:r>
              <a:rPr lang="en-US" dirty="0">
                <a:solidFill>
                  <a:srgbClr val="1C1D1E"/>
                </a:solidFill>
                <a:latin typeface="Open Sans" panose="020B0606030504020204" pitchFamily="34" charset="0"/>
                <a:hlinkClick r:id="rId2"/>
              </a:rPr>
              <a:t>social sciences </a:t>
            </a:r>
            <a:endParaRPr lang="en-US" dirty="0">
              <a:solidFill>
                <a:srgbClr val="1C1D1E"/>
              </a:solidFill>
              <a:latin typeface="Open Sans" panose="020B0606030504020204" pitchFamily="34" charset="0"/>
            </a:endParaRPr>
          </a:p>
          <a:p>
            <a:pPr>
              <a:lnSpc>
                <a:spcPct val="110000"/>
              </a:lnSpc>
            </a:pPr>
            <a:r>
              <a:rPr lang="en-US" b="0" i="0" dirty="0">
                <a:solidFill>
                  <a:srgbClr val="1C1D1E"/>
                </a:solidFill>
                <a:effectLst/>
                <a:latin typeface="Open Sans" panose="020B0606030504020204" pitchFamily="34" charset="0"/>
              </a:rPr>
              <a:t>Replication means to reproduce the findings of a study with </a:t>
            </a:r>
            <a:r>
              <a:rPr lang="en-US" b="0" i="1" dirty="0">
                <a:solidFill>
                  <a:schemeClr val="accent6">
                    <a:lumMod val="75000"/>
                  </a:schemeClr>
                </a:solidFill>
                <a:effectLst/>
                <a:latin typeface="Open Sans" panose="020B0606030504020204" pitchFamily="34" charset="0"/>
              </a:rPr>
              <a:t>new data</a:t>
            </a:r>
            <a:r>
              <a:rPr lang="en-US" b="0" i="0" dirty="0">
                <a:solidFill>
                  <a:srgbClr val="1C1D1E"/>
                </a:solidFill>
                <a:effectLst/>
                <a:latin typeface="Open Sans" panose="020B0606030504020204" pitchFamily="34" charset="0"/>
              </a:rPr>
              <a:t>.</a:t>
            </a:r>
          </a:p>
          <a:p>
            <a:pPr>
              <a:lnSpc>
                <a:spcPct val="110000"/>
              </a:lnSpc>
            </a:pPr>
            <a:r>
              <a:rPr lang="en-US" dirty="0">
                <a:solidFill>
                  <a:srgbClr val="1C1D1E"/>
                </a:solidFill>
                <a:latin typeface="Open Sans" panose="020B0606030504020204" pitchFamily="34" charset="0"/>
              </a:rPr>
              <a:t>Replication is a fundamental tenet of science, including social science.</a:t>
            </a:r>
          </a:p>
          <a:p>
            <a:pPr>
              <a:lnSpc>
                <a:spcPct val="110000"/>
              </a:lnSpc>
            </a:pPr>
            <a:r>
              <a:rPr lang="en-US" b="0" i="0" dirty="0">
                <a:solidFill>
                  <a:srgbClr val="1C1D1E"/>
                </a:solidFill>
                <a:effectLst/>
                <a:latin typeface="Open Sans" panose="020B0606030504020204" pitchFamily="34" charset="0"/>
              </a:rPr>
              <a:t>Replicating studies with new independent data is </a:t>
            </a:r>
            <a:r>
              <a:rPr lang="en-US" i="1" dirty="0">
                <a:solidFill>
                  <a:schemeClr val="accent6">
                    <a:lumMod val="75000"/>
                  </a:schemeClr>
                </a:solidFill>
                <a:latin typeface="Open Sans" panose="020B0606030504020204" pitchFamily="34" charset="0"/>
              </a:rPr>
              <a:t>expensive</a:t>
            </a:r>
            <a:r>
              <a:rPr lang="en-US" b="0" i="0" dirty="0">
                <a:solidFill>
                  <a:srgbClr val="1C1D1E"/>
                </a:solidFill>
                <a:effectLst/>
                <a:latin typeface="Open Sans" panose="020B0606030504020204" pitchFamily="34" charset="0"/>
              </a:rPr>
              <a:t>, rarely published in </a:t>
            </a:r>
            <a:r>
              <a:rPr lang="en-US" i="1" dirty="0">
                <a:solidFill>
                  <a:schemeClr val="accent6">
                    <a:lumMod val="75000"/>
                  </a:schemeClr>
                </a:solidFill>
                <a:latin typeface="Open Sans" panose="020B0606030504020204" pitchFamily="34" charset="0"/>
              </a:rPr>
              <a:t>high-impact journals</a:t>
            </a:r>
          </a:p>
          <a:p>
            <a:pPr lvl="1">
              <a:lnSpc>
                <a:spcPct val="110000"/>
              </a:lnSpc>
            </a:pPr>
            <a:endParaRPr lang="en-US" sz="1200" dirty="0"/>
          </a:p>
        </p:txBody>
      </p:sp>
    </p:spTree>
    <p:extLst>
      <p:ext uri="{BB962C8B-B14F-4D97-AF65-F5344CB8AC3E}">
        <p14:creationId xmlns:p14="http://schemas.microsoft.com/office/powerpoint/2010/main" val="907982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79741-50B7-3117-0689-7DB7517990C4}"/>
              </a:ext>
            </a:extLst>
          </p:cNvPr>
          <p:cNvSpPr>
            <a:spLocks noGrp="1"/>
          </p:cNvSpPr>
          <p:nvPr>
            <p:ph type="title"/>
          </p:nvPr>
        </p:nvSpPr>
        <p:spPr/>
        <p:txBody>
          <a:bodyPr/>
          <a:lstStyle/>
          <a:p>
            <a:r>
              <a:rPr lang="en-US" dirty="0"/>
              <a:t>Studies on Reproducibility</a:t>
            </a:r>
          </a:p>
        </p:txBody>
      </p:sp>
      <p:sp>
        <p:nvSpPr>
          <p:cNvPr id="3" name="Content Placeholder 2">
            <a:extLst>
              <a:ext uri="{FF2B5EF4-FFF2-40B4-BE49-F238E27FC236}">
                <a16:creationId xmlns:a16="http://schemas.microsoft.com/office/drawing/2014/main" id="{1400A238-861B-EE7F-722D-BC6B4E98AE43}"/>
              </a:ext>
            </a:extLst>
          </p:cNvPr>
          <p:cNvSpPr>
            <a:spLocks noGrp="1"/>
          </p:cNvSpPr>
          <p:nvPr>
            <p:ph idx="1"/>
          </p:nvPr>
        </p:nvSpPr>
        <p:spPr/>
        <p:txBody>
          <a:bodyPr>
            <a:normAutofit fontScale="25000" lnSpcReduction="20000"/>
          </a:bodyPr>
          <a:lstStyle/>
          <a:p>
            <a:pPr>
              <a:lnSpc>
                <a:spcPct val="120000"/>
              </a:lnSpc>
              <a:spcBef>
                <a:spcPts val="0"/>
              </a:spcBef>
            </a:pPr>
            <a:r>
              <a:rPr lang="en-US" sz="4400" dirty="0"/>
              <a:t>Johnson VE, Payne RD, Wang T, Asher A, Mandal S. </a:t>
            </a:r>
            <a:r>
              <a:rPr lang="en-US" sz="4400" dirty="0">
                <a:hlinkClick r:id="rId2"/>
              </a:rPr>
              <a:t>On the Reproducibility of Psychological Science</a:t>
            </a:r>
            <a:r>
              <a:rPr lang="en-US" sz="4400" dirty="0"/>
              <a:t>. J Am Stat Assoc. 2017; 112(517): 1-10. </a:t>
            </a:r>
            <a:r>
              <a:rPr lang="en-US" sz="4400" dirty="0" err="1"/>
              <a:t>doi</a:t>
            </a:r>
            <a:r>
              <a:rPr lang="en-US" sz="4400" dirty="0"/>
              <a:t>: 10.1080/01621459.2016.1240079. </a:t>
            </a:r>
          </a:p>
          <a:p>
            <a:pPr>
              <a:lnSpc>
                <a:spcPct val="120000"/>
              </a:lnSpc>
              <a:spcBef>
                <a:spcPts val="0"/>
              </a:spcBef>
            </a:pPr>
            <a:endParaRPr lang="en-US" sz="4400" dirty="0"/>
          </a:p>
          <a:p>
            <a:pPr>
              <a:lnSpc>
                <a:spcPct val="120000"/>
              </a:lnSpc>
              <a:spcBef>
                <a:spcPts val="0"/>
              </a:spcBef>
            </a:pPr>
            <a:r>
              <a:rPr lang="en-US" sz="4400" dirty="0"/>
              <a:t>A. Brodeur, D. Valenta, A. </a:t>
            </a:r>
            <a:r>
              <a:rPr lang="en-US" sz="4400" dirty="0" err="1"/>
              <a:t>Marcoci</a:t>
            </a:r>
            <a:r>
              <a:rPr lang="en-US" sz="4400" dirty="0"/>
              <a:t>, J.P. Aparicio, D. Mikola, B. </a:t>
            </a:r>
            <a:r>
              <a:rPr lang="en-US" sz="4400" dirty="0" err="1"/>
              <a:t>Barbarioli</a:t>
            </a:r>
            <a:r>
              <a:rPr lang="en-US" sz="4400" dirty="0"/>
              <a:t>, R. Alexander, L. Deer, T. Stafford, L. </a:t>
            </a:r>
            <a:r>
              <a:rPr lang="en-US" sz="4400" dirty="0" err="1"/>
              <a:t>Vilhuber</a:t>
            </a:r>
            <a:r>
              <a:rPr lang="en-US" sz="4400" dirty="0"/>
              <a:t>, G. Bensch, F. Motoki, M. Abdelhady, Y. </a:t>
            </a:r>
            <a:r>
              <a:rPr lang="en-US" sz="4400" dirty="0" err="1"/>
              <a:t>Abdelmoula</a:t>
            </a:r>
            <a:r>
              <a:rPr lang="en-US" sz="4400" dirty="0"/>
              <a:t>, G.A. Baki, T. Aguirre, S. Aiyer, S. Akhtar, F. Akhtar, M.R. </a:t>
            </a:r>
            <a:r>
              <a:rPr lang="en-US" sz="4400" dirty="0" err="1"/>
              <a:t>Albada</a:t>
            </a:r>
            <a:r>
              <a:rPr lang="en-US" sz="4400" dirty="0"/>
              <a:t>, M. Altman, D. </a:t>
            </a:r>
            <a:r>
              <a:rPr lang="en-US" sz="4400" dirty="0" err="1"/>
              <a:t>Angenendt</a:t>
            </a:r>
            <a:r>
              <a:rPr lang="en-US" sz="4400" dirty="0"/>
              <a:t>, Z. </a:t>
            </a:r>
            <a:r>
              <a:rPr lang="en-US" sz="4400" dirty="0" err="1"/>
              <a:t>Arjmandi</a:t>
            </a:r>
            <a:r>
              <a:rPr lang="en-US" sz="4400" dirty="0"/>
              <a:t> Lari, J.A. De León Tejada, D.R. Arana, I. </a:t>
            </a:r>
            <a:r>
              <a:rPr lang="en-US" sz="4400" dirty="0" err="1"/>
              <a:t>Asanov</a:t>
            </a:r>
            <a:r>
              <a:rPr lang="en-US" sz="4400" dirty="0"/>
              <a:t>, A. Noha, R. Ashong, T. Auer, F.J. Bahamonde-Birke, B.J. Baker, S.M. Bartram, D. Bao, L. </a:t>
            </a:r>
            <a:r>
              <a:rPr lang="en-US" sz="4400" dirty="0" err="1"/>
              <a:t>Batinovic</a:t>
            </a:r>
            <a:r>
              <a:rPr lang="en-US" sz="4400" dirty="0"/>
              <a:t>, T. </a:t>
            </a:r>
            <a:r>
              <a:rPr lang="en-US" sz="4400" dirty="0" err="1"/>
              <a:t>Batistoni</a:t>
            </a:r>
            <a:r>
              <a:rPr lang="en-US" sz="4400" dirty="0"/>
              <a:t>, M. </a:t>
            </a:r>
            <a:r>
              <a:rPr lang="en-US" sz="4400" dirty="0" err="1"/>
              <a:t>Beeder</a:t>
            </a:r>
            <a:r>
              <a:rPr lang="en-US" sz="4400" dirty="0"/>
              <a:t>, L. Beland, C. Gero Bienz, C.B. </a:t>
            </a:r>
            <a:r>
              <a:rPr lang="en-US" sz="4400" dirty="0" err="1"/>
              <a:t>Aryanto</a:t>
            </a:r>
            <a:r>
              <a:rPr lang="en-US" sz="4400" dirty="0"/>
              <a:t>, C. </a:t>
            </a:r>
            <a:r>
              <a:rPr lang="en-US" sz="4400" dirty="0" err="1"/>
              <a:t>Bolibaugh</a:t>
            </a:r>
            <a:r>
              <a:rPr lang="en-US" sz="4400" dirty="0"/>
              <a:t>, C. Bonander, R. Bravo, E. Bronnikov, S. Bruns, N. </a:t>
            </a:r>
            <a:r>
              <a:rPr lang="en-US" sz="4400" dirty="0" err="1"/>
              <a:t>Buliskeria</a:t>
            </a:r>
            <a:r>
              <a:rPr lang="en-US" sz="4400" dirty="0"/>
              <a:t>, S. Caicedo-Silva, A. Calef, J. Sebastian </a:t>
            </a:r>
            <a:r>
              <a:rPr lang="en-US" sz="4400" dirty="0" err="1"/>
              <a:t>Cano</a:t>
            </a:r>
            <a:r>
              <a:rPr lang="en-US" sz="4400" dirty="0"/>
              <a:t> Arias, G. A. Castillo Alvarez, S. Caulker, S. </a:t>
            </a:r>
            <a:r>
              <a:rPr lang="en-US" sz="4400" dirty="0" err="1"/>
              <a:t>Cepenas</a:t>
            </a:r>
            <a:r>
              <a:rPr lang="en-US" sz="4400" dirty="0"/>
              <a:t>, A. </a:t>
            </a:r>
            <a:r>
              <a:rPr lang="en-US" sz="4400" dirty="0" err="1"/>
              <a:t>Chatton</a:t>
            </a:r>
            <a:r>
              <a:rPr lang="en-US" sz="4400" dirty="0"/>
              <a:t>, Z. Chen, N. Chioma </a:t>
            </a:r>
            <a:r>
              <a:rPr lang="en-US" sz="4400" dirty="0" err="1"/>
              <a:t>Ewurum</a:t>
            </a:r>
            <a:r>
              <a:rPr lang="en-US" sz="4400" dirty="0"/>
              <a:t>, A. </a:t>
            </a:r>
            <a:r>
              <a:rPr lang="en-US" sz="4400" dirty="0" err="1"/>
              <a:t>Ciocîrlan</a:t>
            </a:r>
            <a:r>
              <a:rPr lang="en-US" sz="4400" dirty="0"/>
              <a:t>, F.J. </a:t>
            </a:r>
            <a:r>
              <a:rPr lang="en-US" sz="4400" dirty="0" err="1"/>
              <a:t>Clouth</a:t>
            </a:r>
            <a:r>
              <a:rPr lang="en-US" sz="4400" dirty="0"/>
              <a:t>, J. Collins, N. Cook, C. Cornejo, J. Craveiro, J. </a:t>
            </a:r>
            <a:r>
              <a:rPr lang="en-US" sz="4400" dirty="0" err="1"/>
              <a:t>Créchet</a:t>
            </a:r>
            <a:r>
              <a:rPr lang="en-US" sz="4400" dirty="0"/>
              <a:t>, J. Cui, N. Chalil </a:t>
            </a:r>
            <a:r>
              <a:rPr lang="en-US" sz="4400" dirty="0" err="1"/>
              <a:t>Vayalabron</a:t>
            </a:r>
            <a:r>
              <a:rPr lang="en-US" sz="4400" dirty="0"/>
              <a:t>, C. </a:t>
            </a:r>
            <a:r>
              <a:rPr lang="en-US" sz="4400" dirty="0" err="1"/>
              <a:t>Czymara</a:t>
            </a:r>
            <a:r>
              <a:rPr lang="en-US" sz="4400" dirty="0"/>
              <a:t>, C.D. Bermúdez Jaramillo, H. Datta, L. </a:t>
            </a:r>
            <a:r>
              <a:rPr lang="en-US" sz="4400" dirty="0" err="1"/>
              <a:t>Denoo</a:t>
            </a:r>
            <a:r>
              <a:rPr lang="en-US" sz="4400" dirty="0"/>
              <a:t>, A. Dhaliwal, N. Dhameja, E. Djemai, E. </a:t>
            </a:r>
            <a:r>
              <a:rPr lang="en-US" sz="4400" dirty="0" err="1"/>
              <a:t>Dujeancourt</a:t>
            </a:r>
            <a:r>
              <a:rPr lang="en-US" sz="4400" dirty="0"/>
              <a:t>, U. Dündar, T. Duprey, Y. Eissa, Y. El Fassi, I. El Fassi, K. Ellis, A. </a:t>
            </a:r>
            <a:r>
              <a:rPr lang="en-US" sz="4400" dirty="0" err="1"/>
              <a:t>Elminejad</a:t>
            </a:r>
            <a:r>
              <a:rPr lang="en-US" sz="4400" dirty="0"/>
              <a:t>, M. Elsherif, A. </a:t>
            </a:r>
            <a:r>
              <a:rPr lang="en-US" sz="4400" dirty="0" err="1"/>
              <a:t>Emirmahmutoglu</a:t>
            </a:r>
            <a:r>
              <a:rPr lang="en-US" sz="4400" dirty="0"/>
              <a:t>, G. </a:t>
            </a:r>
            <a:r>
              <a:rPr lang="en-US" sz="4400" dirty="0" err="1"/>
              <a:t>Etingin</a:t>
            </a:r>
            <a:r>
              <a:rPr lang="en-US" sz="4400" dirty="0"/>
              <a:t>-Frati, E. Eze, J.F. </a:t>
            </a:r>
            <a:r>
              <a:rPr lang="en-US" sz="4400" dirty="0" err="1"/>
              <a:t>Dollbaum</a:t>
            </a:r>
            <a:r>
              <a:rPr lang="en-US" sz="4400" dirty="0"/>
              <a:t>, J. Feld, A. Felipe Rengifo Jaramillo, G. Fenig, V. Fernandes, L. Fiala, L. Fink, M. </a:t>
            </a:r>
            <a:r>
              <a:rPr lang="en-US" sz="4400" dirty="0" err="1"/>
              <a:t>Firouzjaeiangalougah</a:t>
            </a:r>
            <a:r>
              <a:rPr lang="en-US" sz="4400" dirty="0"/>
              <a:t>, S. Fish, J. Fitzgerald, R. Forshaw, A. Fortier-Chouinard, L. </a:t>
            </a:r>
            <a:r>
              <a:rPr lang="en-US" sz="4400" dirty="0" err="1"/>
              <a:t>Fréget</a:t>
            </a:r>
            <a:r>
              <a:rPr lang="en-US" sz="4400" dirty="0"/>
              <a:t>, J. Frese, J. Gabani, S. Gallegos, M.C. </a:t>
            </a:r>
            <a:r>
              <a:rPr lang="en-US" sz="4400" dirty="0" err="1"/>
              <a:t>Gamill</a:t>
            </a:r>
            <a:r>
              <a:rPr lang="en-US" sz="4400" dirty="0"/>
              <a:t>, A. Gáspár, R. </a:t>
            </a:r>
            <a:r>
              <a:rPr lang="en-US" sz="4400" dirty="0" err="1"/>
              <a:t>Gauriot</a:t>
            </a:r>
            <a:r>
              <a:rPr lang="en-US" sz="4400" dirty="0"/>
              <a:t>, E. Gavrilova, D. Geraldes, G.G. Cantone, G. Gibson, D. </a:t>
            </a:r>
            <a:r>
              <a:rPr lang="en-US" sz="4400" dirty="0" err="1"/>
              <a:t>Goldschmitt</a:t>
            </a:r>
            <a:r>
              <a:rPr lang="en-US" sz="4400" dirty="0"/>
              <a:t>, A. Gourdon-</a:t>
            </a:r>
            <a:r>
              <a:rPr lang="en-US" sz="4400" dirty="0" err="1"/>
              <a:t>Kanhukamwe</a:t>
            </a:r>
            <a:r>
              <a:rPr lang="en-US" sz="4400" dirty="0"/>
              <a:t>, A. Gregor de Varda, I. Grigoryeva, A. Gugushvili, A.H.A. Fletcher, F. Habermann, M. Hablicsek, J. Haddad, J.D. Hall, O. Hammar, M. Hassouneh, C.I. Hausladen, S.C.F. Hendrikse, M. Hepplewhite, A.T.Y. Ho, S. Hogan-Hennessy, E. Howley, G. Huang, H. </a:t>
            </a:r>
            <a:r>
              <a:rPr lang="en-US" sz="4400" dirty="0" err="1"/>
              <a:t>Hulstaert</a:t>
            </a:r>
            <a:r>
              <a:rPr lang="en-US" sz="4400" dirty="0"/>
              <a:t>, Z.G. </a:t>
            </a:r>
            <a:r>
              <a:rPr lang="en-US" sz="4400" dirty="0" err="1"/>
              <a:t>Ilchovska</a:t>
            </a:r>
            <a:r>
              <a:rPr lang="en-US" sz="4400" dirty="0"/>
              <a:t>, P. Jaimes Santamaria, N. Jakobsson, J. Jansson, E. Jarosz, H. </a:t>
            </a:r>
            <a:r>
              <a:rPr lang="en-US" sz="4400" dirty="0" err="1"/>
              <a:t>Jebeli</a:t>
            </a:r>
            <a:r>
              <a:rPr lang="en-US" sz="4400" dirty="0"/>
              <a:t>, Y. Jiang, H. Junaid, R. </a:t>
            </a:r>
            <a:r>
              <a:rPr lang="en-US" sz="4400" dirty="0" err="1"/>
              <a:t>Kalluraya</a:t>
            </a:r>
            <a:r>
              <a:rPr lang="en-US" sz="4400" dirty="0"/>
              <a:t>, S. Karim, E. Kelly, E. Kimel, S. </a:t>
            </a:r>
            <a:r>
              <a:rPr lang="en-US" sz="4400" dirty="0" err="1"/>
              <a:t>Kingsuwankul</a:t>
            </a:r>
            <a:r>
              <a:rPr lang="en-US" sz="4400" dirty="0"/>
              <a:t>, V. </a:t>
            </a:r>
            <a:r>
              <a:rPr lang="en-US" sz="4400" dirty="0" err="1"/>
              <a:t>Klotzbücher</a:t>
            </a:r>
            <a:r>
              <a:rPr lang="en-US" sz="4400" dirty="0"/>
              <a:t>, D. </a:t>
            </a:r>
            <a:r>
              <a:rPr lang="en-US" sz="4400" dirty="0" err="1"/>
              <a:t>Krähmer</a:t>
            </a:r>
            <a:r>
              <a:rPr lang="en-US" sz="4400" dirty="0"/>
              <a:t>, P. </a:t>
            </a:r>
            <a:r>
              <a:rPr lang="en-US" sz="4400" dirty="0" err="1"/>
              <a:t>Krūminas</a:t>
            </a:r>
            <a:r>
              <a:rPr lang="en-US" sz="4400" dirty="0"/>
              <a:t>, N. Kruus, E. </a:t>
            </a:r>
            <a:r>
              <a:rPr lang="en-US" sz="4400" dirty="0" err="1"/>
              <a:t>Kujansuu</a:t>
            </a:r>
            <a:r>
              <a:rPr lang="en-US" sz="4400" dirty="0"/>
              <a:t>, C.F. Kurz, S. Küster, B. Lee-Whiting, F. Lewandowski, T. Li, R. Li, D. Liu, J. Liu, H. Lo, K. Loter, F. Macedo Dias, C.R. Madan, N. </a:t>
            </a:r>
            <a:r>
              <a:rPr lang="en-US" sz="4400" dirty="0" err="1"/>
              <a:t>Mäder</a:t>
            </a:r>
            <a:r>
              <a:rPr lang="en-US" sz="4400" dirty="0"/>
              <a:t>, M. Mandas, C. Mantilla, J. Marcus, D. Marino Fages, X. Martin, R. McWay, D. Medina-Gaspar, S. Meng, L. Meng, S. Merz, A.P. Miller, T. Mirabel, D.D. Mishra, S. Mishra, B.W. Moges, M. </a:t>
            </a:r>
            <a:r>
              <a:rPr lang="en-US" sz="4400" dirty="0" err="1"/>
              <a:t>Mohandes</a:t>
            </a:r>
            <a:r>
              <a:rPr lang="en-US" sz="4400" dirty="0"/>
              <a:t> </a:t>
            </a:r>
            <a:r>
              <a:rPr lang="en-US" sz="4400" dirty="0" err="1"/>
              <a:t>Mojarrad</a:t>
            </a:r>
            <a:r>
              <a:rPr lang="en-US" sz="4400" dirty="0"/>
              <a:t>, M. Mohnen, L. Morin, L. </a:t>
            </a:r>
            <a:r>
              <a:rPr lang="en-US" sz="4400" dirty="0" err="1"/>
              <a:t>Muehlenbachs</a:t>
            </a:r>
            <a:r>
              <a:rPr lang="en-US" sz="4400" dirty="0"/>
              <a:t>, G. Mullin, A. </a:t>
            </a:r>
            <a:r>
              <a:rPr lang="en-US" sz="4400" dirty="0" err="1"/>
              <a:t>Musulan</a:t>
            </a:r>
            <a:r>
              <a:rPr lang="en-US" sz="4400" dirty="0"/>
              <a:t>, S. </a:t>
            </a:r>
            <a:r>
              <a:rPr lang="en-US" sz="4400" dirty="0" err="1"/>
              <a:t>Muzzì</a:t>
            </a:r>
            <a:r>
              <a:rPr lang="en-US" sz="4400" dirty="0"/>
              <a:t>, J.A.C. Myers, F. Neubauer, T. Nguyen, A. Niazi, A. Nordstrom, B. Nowak, D. </a:t>
            </a:r>
            <a:r>
              <a:rPr lang="en-US" sz="4400" dirty="0" err="1"/>
              <a:t>O’Habib</a:t>
            </a:r>
            <a:r>
              <a:rPr lang="en-US" sz="4400" dirty="0"/>
              <a:t>, T. </a:t>
            </a:r>
            <a:r>
              <a:rPr lang="en-US" sz="4400" dirty="0" err="1"/>
              <a:t>Ölkers</a:t>
            </a:r>
            <a:r>
              <a:rPr lang="en-US" sz="4400" dirty="0"/>
              <a:t>, J. Ong, V. Orozco Castiblanco, </a:t>
            </a:r>
            <a:r>
              <a:rPr lang="en-US" sz="4400" dirty="0" err="1"/>
              <a:t>Ö</a:t>
            </a:r>
            <a:r>
              <a:rPr lang="en-US" sz="4400" dirty="0"/>
              <a:t>. </a:t>
            </a:r>
            <a:r>
              <a:rPr lang="en-US" sz="4400" dirty="0" err="1"/>
              <a:t>Özak</a:t>
            </a:r>
            <a:r>
              <a:rPr lang="en-US" sz="4400" dirty="0"/>
              <a:t>, A.I. </a:t>
            </a:r>
            <a:r>
              <a:rPr lang="en-US" sz="4400" dirty="0" err="1"/>
              <a:t>Ozkes</a:t>
            </a:r>
            <a:r>
              <a:rPr lang="en-US" sz="4400" dirty="0"/>
              <a:t>, M. </a:t>
            </a:r>
            <a:r>
              <a:rPr lang="en-US" sz="4400" dirty="0" err="1"/>
              <a:t>Paaso</a:t>
            </a:r>
            <a:r>
              <a:rPr lang="en-US" sz="4400" dirty="0"/>
              <a:t>, S. Pandey, V. Papazoglou, R. </a:t>
            </a:r>
            <a:r>
              <a:rPr lang="en-US" sz="4400" dirty="0" err="1"/>
              <a:t>Penheiro</a:t>
            </a:r>
            <a:r>
              <a:rPr lang="en-US" sz="4400" dirty="0"/>
              <a:t>, L. Pham, U. </a:t>
            </a:r>
            <a:r>
              <a:rPr lang="en-US" sz="4400" dirty="0" err="1"/>
              <a:t>Phieler</a:t>
            </a:r>
            <a:r>
              <a:rPr lang="en-US" sz="4400" dirty="0"/>
              <a:t>, P. Pütz, Q. Qi, J. Qiu, M.T. Rein, D.A. Reinstein, J. Repo, N. Rudolf, S. Saha, O. Saka, C. Saponaro, G. Sator, M. </a:t>
            </a:r>
            <a:r>
              <a:rPr lang="en-US" sz="4400" dirty="0" err="1"/>
              <a:t>Schoenmakers</a:t>
            </a:r>
            <a:r>
              <a:rPr lang="en-US" sz="4400" dirty="0"/>
              <a:t>, R. Seri, M. Shah, P. Sibille, C. </a:t>
            </a:r>
            <a:r>
              <a:rPr lang="en-US" sz="4400" dirty="0" err="1"/>
              <a:t>Siemroth</a:t>
            </a:r>
            <a:r>
              <a:rPr lang="en-US" sz="4400" dirty="0"/>
              <a:t>, V. </a:t>
            </a:r>
            <a:r>
              <a:rPr lang="en-US" sz="4400" dirty="0" err="1"/>
              <a:t>Skavysh</a:t>
            </a:r>
            <a:r>
              <a:rPr lang="en-US" sz="4400" dirty="0"/>
              <a:t>, B. Slater, W. Song, S. </a:t>
            </a:r>
            <a:r>
              <a:rPr lang="en-US" sz="4400" dirty="0" err="1"/>
              <a:t>Staubli</a:t>
            </a:r>
            <a:r>
              <a:rPr lang="en-US" sz="4400" dirty="0"/>
              <a:t>, T. Steindl, N.S. Waongo, P. Stott, S. Strobel, R. </a:t>
            </a:r>
            <a:r>
              <a:rPr lang="en-US" sz="4400" dirty="0" err="1"/>
              <a:t>Sudhaharan</a:t>
            </a:r>
            <a:r>
              <a:rPr lang="en-US" sz="4400" dirty="0"/>
              <a:t>, P. Sun, S.D. Swain, O. Talavera, H.M. </a:t>
            </a:r>
            <a:r>
              <a:rPr lang="en-US" sz="4400" dirty="0" err="1"/>
              <a:t>Tantiangco</a:t>
            </a:r>
            <a:r>
              <a:rPr lang="en-US" sz="4400" dirty="0"/>
              <a:t>, G. Tarasenko, B. </a:t>
            </a:r>
            <a:r>
              <a:rPr lang="en-US" sz="4400" dirty="0" err="1"/>
              <a:t>Tarlinton</a:t>
            </a:r>
            <a:r>
              <a:rPr lang="en-US" sz="4400" dirty="0"/>
              <a:t>, M. Tarraf, K. Teoh, R. Thériault, B. Thompson, T. Tian, W. Tian, E. Tolani, N. Borgen, S. </a:t>
            </a:r>
            <a:r>
              <a:rPr lang="en-US" sz="4400" dirty="0" err="1"/>
              <a:t>Topstad</a:t>
            </a:r>
            <a:r>
              <a:rPr lang="en-US" sz="4400" dirty="0"/>
              <a:t> Borgen, J. Torralba, C. Velez-Ospina, M.W. Mak, L. Wallrich, Z. Wang, L. Ward, M.D. Webb, D. Webb, B.S. Weber, C. Weber, W. Weng, C. </a:t>
            </a:r>
            <a:r>
              <a:rPr lang="en-US" sz="4400" dirty="0" err="1"/>
              <a:t>Westheide</a:t>
            </a:r>
            <a:r>
              <a:rPr lang="en-US" sz="4400" dirty="0"/>
              <a:t>, T. Wilkinson, K. Wong, M. </a:t>
            </a:r>
            <a:r>
              <a:rPr lang="en-US" sz="4400" dirty="0" err="1"/>
              <a:t>Wroński</a:t>
            </a:r>
            <a:r>
              <a:rPr lang="en-US" sz="4400" dirty="0"/>
              <a:t>, Z. Wu, Q. Wu, V.Y. Wu, B. Xiao, F. Xu, C. Xu, P. Yadav, Y. Yang Chou, L. Yap, M. Yazbeck, B. Yao, Z. </a:t>
            </a:r>
            <a:r>
              <a:rPr lang="en-US" sz="4400" dirty="0" err="1"/>
              <a:t>Zagrodzka</a:t>
            </a:r>
            <a:r>
              <a:rPr lang="en-US" sz="4400" dirty="0"/>
              <a:t>, T. Zahra, M. Zaneva, X. Zhang, Z. Zhao, H. Zhong, A. </a:t>
            </a:r>
            <a:r>
              <a:rPr lang="en-US" sz="4400" dirty="0" err="1"/>
              <a:t>Zirgulis</a:t>
            </a:r>
            <a:r>
              <a:rPr lang="en-US" sz="4400" dirty="0"/>
              <a:t>, J. Zou, F. </a:t>
            </a:r>
            <a:r>
              <a:rPr lang="en-US" sz="4400" dirty="0" err="1"/>
              <a:t>Zoutman</a:t>
            </a:r>
            <a:r>
              <a:rPr lang="en-US" sz="4400" dirty="0"/>
              <a:t>, &amp; C. </a:t>
            </a:r>
            <a:r>
              <a:rPr lang="en-US" sz="4400" dirty="0" err="1"/>
              <a:t>Zozoungbo</a:t>
            </a:r>
            <a:r>
              <a:rPr lang="en-US" sz="4400" dirty="0"/>
              <a:t>, </a:t>
            </a:r>
            <a:r>
              <a:rPr lang="en-US" sz="4400" dirty="0">
                <a:hlinkClick r:id="rId3"/>
              </a:rPr>
              <a:t>AI-assisted teams outperform AI-led teams but not human-only teams in assessing research reproducibility in quantitative social science</a:t>
            </a:r>
            <a:r>
              <a:rPr lang="en-US" sz="4400" dirty="0"/>
              <a:t>, Proc. Natl. Acad. Sci. U.S.A. 123 (22) e2524747123, https://</a:t>
            </a:r>
            <a:r>
              <a:rPr lang="en-US" sz="4400" dirty="0" err="1"/>
              <a:t>doi.org</a:t>
            </a:r>
            <a:r>
              <a:rPr lang="en-US" sz="4400" dirty="0"/>
              <a:t>/10.1073/pnas.2524747123 (2026).</a:t>
            </a:r>
          </a:p>
          <a:p>
            <a:pPr>
              <a:lnSpc>
                <a:spcPct val="110000"/>
              </a:lnSpc>
              <a:spcBef>
                <a:spcPts val="0"/>
              </a:spcBef>
              <a:spcAft>
                <a:spcPts val="600"/>
              </a:spcAft>
            </a:pPr>
            <a:endParaRPr lang="en-US" dirty="0"/>
          </a:p>
          <a:p>
            <a:endParaRPr lang="en-US" dirty="0"/>
          </a:p>
        </p:txBody>
      </p:sp>
    </p:spTree>
    <p:extLst>
      <p:ext uri="{BB962C8B-B14F-4D97-AF65-F5344CB8AC3E}">
        <p14:creationId xmlns:p14="http://schemas.microsoft.com/office/powerpoint/2010/main" val="4913152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A4C38-4919-60DD-9719-12F0BA1D9C87}"/>
              </a:ext>
            </a:extLst>
          </p:cNvPr>
          <p:cNvSpPr>
            <a:spLocks noGrp="1"/>
          </p:cNvSpPr>
          <p:nvPr>
            <p:ph type="title"/>
          </p:nvPr>
        </p:nvSpPr>
        <p:spPr/>
        <p:txBody>
          <a:bodyPr/>
          <a:lstStyle/>
          <a:p>
            <a:r>
              <a:rPr lang="en-US" dirty="0"/>
              <a:t>Why is that happening?</a:t>
            </a:r>
          </a:p>
        </p:txBody>
      </p:sp>
      <p:sp>
        <p:nvSpPr>
          <p:cNvPr id="3" name="Content Placeholder 2">
            <a:extLst>
              <a:ext uri="{FF2B5EF4-FFF2-40B4-BE49-F238E27FC236}">
                <a16:creationId xmlns:a16="http://schemas.microsoft.com/office/drawing/2014/main" id="{8D575607-774D-0AA2-28BC-12C5A64AD8D0}"/>
              </a:ext>
            </a:extLst>
          </p:cNvPr>
          <p:cNvSpPr>
            <a:spLocks noGrp="1"/>
          </p:cNvSpPr>
          <p:nvPr>
            <p:ph idx="1"/>
          </p:nvPr>
        </p:nvSpPr>
        <p:spPr>
          <a:xfrm>
            <a:off x="838200" y="1825625"/>
            <a:ext cx="10515600" cy="3230870"/>
          </a:xfrm>
        </p:spPr>
        <p:txBody>
          <a:bodyPr>
            <a:normAutofit/>
          </a:bodyPr>
          <a:lstStyle/>
          <a:p>
            <a:pPr>
              <a:lnSpc>
                <a:spcPct val="110000"/>
              </a:lnSpc>
            </a:pPr>
            <a:r>
              <a:rPr lang="en-US" sz="2400" dirty="0">
                <a:solidFill>
                  <a:srgbClr val="1C1D1E"/>
                </a:solidFill>
                <a:latin typeface="Open Sans" panose="020B0606030504020204" pitchFamily="34" charset="0"/>
              </a:rPr>
              <a:t>Fraud</a:t>
            </a:r>
          </a:p>
          <a:p>
            <a:pPr>
              <a:lnSpc>
                <a:spcPct val="110000"/>
              </a:lnSpc>
            </a:pPr>
            <a:r>
              <a:rPr lang="en-US" sz="2400" dirty="0">
                <a:solidFill>
                  <a:srgbClr val="1C1D1E"/>
                </a:solidFill>
                <a:latin typeface="Open Sans" panose="020B0606030504020204" pitchFamily="34" charset="0"/>
              </a:rPr>
              <a:t>Poorly conducted science </a:t>
            </a:r>
          </a:p>
          <a:p>
            <a:pPr>
              <a:lnSpc>
                <a:spcPct val="110000"/>
              </a:lnSpc>
            </a:pPr>
            <a:r>
              <a:rPr lang="en-US" sz="2400" dirty="0">
                <a:solidFill>
                  <a:srgbClr val="1C1D1E"/>
                </a:solidFill>
                <a:latin typeface="Open Sans" panose="020B0606030504020204" pitchFamily="34" charset="0"/>
              </a:rPr>
              <a:t>Mistakes </a:t>
            </a:r>
          </a:p>
          <a:p>
            <a:pPr>
              <a:lnSpc>
                <a:spcPct val="110000"/>
              </a:lnSpc>
            </a:pPr>
            <a:r>
              <a:rPr lang="en-US" sz="2400" dirty="0">
                <a:solidFill>
                  <a:srgbClr val="1C1D1E"/>
                </a:solidFill>
                <a:latin typeface="Open Sans" panose="020B0606030504020204" pitchFamily="34" charset="0"/>
              </a:rPr>
              <a:t>Poor description of methods  </a:t>
            </a:r>
          </a:p>
          <a:p>
            <a:pPr>
              <a:lnSpc>
                <a:spcPct val="110000"/>
              </a:lnSpc>
            </a:pPr>
            <a:r>
              <a:rPr lang="en-US" sz="2400" dirty="0">
                <a:solidFill>
                  <a:srgbClr val="1C1D1E"/>
                </a:solidFill>
                <a:latin typeface="Open Sans" panose="020B0606030504020204" pitchFamily="34" charset="0"/>
              </a:rPr>
              <a:t>No documentation of decisions that seemed unimportant</a:t>
            </a:r>
          </a:p>
          <a:p>
            <a:pPr>
              <a:lnSpc>
                <a:spcPct val="110000"/>
              </a:lnSpc>
            </a:pPr>
            <a:endParaRPr lang="en-US" sz="2400" dirty="0">
              <a:solidFill>
                <a:srgbClr val="1C1D1E"/>
              </a:solidFill>
              <a:latin typeface="Open Sans" panose="020B0606030504020204" pitchFamily="34" charset="0"/>
            </a:endParaRPr>
          </a:p>
          <a:p>
            <a:pPr>
              <a:lnSpc>
                <a:spcPct val="110000"/>
              </a:lnSpc>
            </a:pPr>
            <a:endParaRPr lang="en-US" sz="2400" dirty="0">
              <a:solidFill>
                <a:srgbClr val="1C1D1E"/>
              </a:solidFill>
              <a:latin typeface="Open Sans" panose="020B0606030504020204" pitchFamily="34" charset="0"/>
            </a:endParaRPr>
          </a:p>
        </p:txBody>
      </p:sp>
      <p:sp>
        <p:nvSpPr>
          <p:cNvPr id="5" name="TextBox 4">
            <a:extLst>
              <a:ext uri="{FF2B5EF4-FFF2-40B4-BE49-F238E27FC236}">
                <a16:creationId xmlns:a16="http://schemas.microsoft.com/office/drawing/2014/main" id="{B583B921-4D48-0C37-4AF2-2781DCEF8DB3}"/>
              </a:ext>
            </a:extLst>
          </p:cNvPr>
          <p:cNvSpPr txBox="1"/>
          <p:nvPr/>
        </p:nvSpPr>
        <p:spPr>
          <a:xfrm>
            <a:off x="2698955" y="1825625"/>
            <a:ext cx="2502865" cy="369332"/>
          </a:xfrm>
          <a:prstGeom prst="rect">
            <a:avLst/>
          </a:prstGeom>
          <a:noFill/>
        </p:spPr>
        <p:txBody>
          <a:bodyPr wrap="none" rtlCol="0">
            <a:spAutoFit/>
          </a:bodyPr>
          <a:lstStyle/>
          <a:p>
            <a:r>
              <a:rPr lang="en-US" dirty="0">
                <a:solidFill>
                  <a:srgbClr val="FF0000"/>
                </a:solidFill>
              </a:rPr>
              <a:t>It does happen, but rare </a:t>
            </a:r>
          </a:p>
        </p:txBody>
      </p:sp>
      <p:sp>
        <p:nvSpPr>
          <p:cNvPr id="6" name="TextBox 5">
            <a:extLst>
              <a:ext uri="{FF2B5EF4-FFF2-40B4-BE49-F238E27FC236}">
                <a16:creationId xmlns:a16="http://schemas.microsoft.com/office/drawing/2014/main" id="{4FCF981C-E346-2BC7-87E3-238D82412C9E}"/>
              </a:ext>
            </a:extLst>
          </p:cNvPr>
          <p:cNvSpPr txBox="1"/>
          <p:nvPr/>
        </p:nvSpPr>
        <p:spPr>
          <a:xfrm>
            <a:off x="5043948" y="2194957"/>
            <a:ext cx="6365140" cy="646331"/>
          </a:xfrm>
          <a:prstGeom prst="rect">
            <a:avLst/>
          </a:prstGeom>
          <a:noFill/>
        </p:spPr>
        <p:txBody>
          <a:bodyPr wrap="none" rtlCol="0">
            <a:spAutoFit/>
          </a:bodyPr>
          <a:lstStyle/>
          <a:p>
            <a:r>
              <a:rPr lang="en-US" dirty="0">
                <a:solidFill>
                  <a:srgbClr val="FF0000"/>
                </a:solidFill>
              </a:rPr>
              <a:t>Includes non-representative samples, not properly accounting for </a:t>
            </a:r>
          </a:p>
          <a:p>
            <a:r>
              <a:rPr lang="en-US" dirty="0">
                <a:solidFill>
                  <a:srgbClr val="FF0000"/>
                </a:solidFill>
              </a:rPr>
              <a:t>variability in units of analysis, p-hacking</a:t>
            </a:r>
          </a:p>
        </p:txBody>
      </p:sp>
      <p:sp>
        <p:nvSpPr>
          <p:cNvPr id="7" name="TextBox 6">
            <a:extLst>
              <a:ext uri="{FF2B5EF4-FFF2-40B4-BE49-F238E27FC236}">
                <a16:creationId xmlns:a16="http://schemas.microsoft.com/office/drawing/2014/main" id="{F6D32E8B-6BE6-EEEB-1FF3-349B97F2A801}"/>
              </a:ext>
            </a:extLst>
          </p:cNvPr>
          <p:cNvSpPr txBox="1"/>
          <p:nvPr/>
        </p:nvSpPr>
        <p:spPr>
          <a:xfrm>
            <a:off x="3318388" y="2976225"/>
            <a:ext cx="2381358" cy="369332"/>
          </a:xfrm>
          <a:prstGeom prst="rect">
            <a:avLst/>
          </a:prstGeom>
          <a:noFill/>
        </p:spPr>
        <p:txBody>
          <a:bodyPr wrap="none" rtlCol="0">
            <a:spAutoFit/>
          </a:bodyPr>
          <a:lstStyle/>
          <a:p>
            <a:r>
              <a:rPr lang="en-US" dirty="0">
                <a:solidFill>
                  <a:srgbClr val="FF0000"/>
                </a:solidFill>
              </a:rPr>
              <a:t>Humans make mistakes</a:t>
            </a:r>
          </a:p>
        </p:txBody>
      </p:sp>
      <p:sp>
        <p:nvSpPr>
          <p:cNvPr id="8" name="TextBox 7">
            <a:extLst>
              <a:ext uri="{FF2B5EF4-FFF2-40B4-BE49-F238E27FC236}">
                <a16:creationId xmlns:a16="http://schemas.microsoft.com/office/drawing/2014/main" id="{F66EBD6B-ADB3-8A02-84DD-290EB854D79A}"/>
              </a:ext>
            </a:extLst>
          </p:cNvPr>
          <p:cNvSpPr txBox="1"/>
          <p:nvPr/>
        </p:nvSpPr>
        <p:spPr>
          <a:xfrm>
            <a:off x="5368413" y="3437890"/>
            <a:ext cx="3681072" cy="369332"/>
          </a:xfrm>
          <a:prstGeom prst="rect">
            <a:avLst/>
          </a:prstGeom>
          <a:noFill/>
        </p:spPr>
        <p:txBody>
          <a:bodyPr wrap="none" rtlCol="0">
            <a:spAutoFit/>
          </a:bodyPr>
          <a:lstStyle/>
          <a:p>
            <a:r>
              <a:rPr lang="en-US" dirty="0">
                <a:solidFill>
                  <a:srgbClr val="FF0000"/>
                </a:solidFill>
              </a:rPr>
              <a:t>Until recently, not much focus on this</a:t>
            </a:r>
          </a:p>
        </p:txBody>
      </p:sp>
      <p:sp>
        <p:nvSpPr>
          <p:cNvPr id="9" name="TextBox 8">
            <a:extLst>
              <a:ext uri="{FF2B5EF4-FFF2-40B4-BE49-F238E27FC236}">
                <a16:creationId xmlns:a16="http://schemas.microsoft.com/office/drawing/2014/main" id="{616805E2-2B91-371E-2B9A-4F80231F803F}"/>
              </a:ext>
            </a:extLst>
          </p:cNvPr>
          <p:cNvSpPr txBox="1"/>
          <p:nvPr/>
        </p:nvSpPr>
        <p:spPr>
          <a:xfrm>
            <a:off x="9571703" y="4023048"/>
            <a:ext cx="1577611" cy="369332"/>
          </a:xfrm>
          <a:prstGeom prst="rect">
            <a:avLst/>
          </a:prstGeom>
          <a:noFill/>
        </p:spPr>
        <p:txBody>
          <a:bodyPr wrap="none" rtlCol="0">
            <a:spAutoFit/>
          </a:bodyPr>
          <a:lstStyle/>
          <a:p>
            <a:r>
              <a:rPr lang="en-US" dirty="0">
                <a:solidFill>
                  <a:srgbClr val="FF0000"/>
                </a:solidFill>
              </a:rPr>
              <a:t>Same as above</a:t>
            </a:r>
          </a:p>
        </p:txBody>
      </p:sp>
      <p:sp>
        <p:nvSpPr>
          <p:cNvPr id="10" name="TextBox 9">
            <a:extLst>
              <a:ext uri="{FF2B5EF4-FFF2-40B4-BE49-F238E27FC236}">
                <a16:creationId xmlns:a16="http://schemas.microsoft.com/office/drawing/2014/main" id="{0CA1F48C-5F77-0727-63F3-9E5E94493B1C}"/>
              </a:ext>
            </a:extLst>
          </p:cNvPr>
          <p:cNvSpPr txBox="1"/>
          <p:nvPr/>
        </p:nvSpPr>
        <p:spPr>
          <a:xfrm>
            <a:off x="838200" y="5111744"/>
            <a:ext cx="9095567" cy="800219"/>
          </a:xfrm>
          <a:prstGeom prst="rect">
            <a:avLst/>
          </a:prstGeom>
          <a:noFill/>
        </p:spPr>
        <p:txBody>
          <a:bodyPr wrap="none" rtlCol="0">
            <a:spAutoFit/>
          </a:bodyPr>
          <a:lstStyle/>
          <a:p>
            <a:r>
              <a:rPr lang="en-US" sz="2800" b="1" dirty="0">
                <a:solidFill>
                  <a:srgbClr val="FF0000"/>
                </a:solidFill>
              </a:rPr>
              <a:t>Using principles of reproducibility can reduce the last three!</a:t>
            </a:r>
          </a:p>
          <a:p>
            <a:endParaRPr lang="en-US" dirty="0"/>
          </a:p>
        </p:txBody>
      </p:sp>
    </p:spTree>
    <p:extLst>
      <p:ext uri="{BB962C8B-B14F-4D97-AF65-F5344CB8AC3E}">
        <p14:creationId xmlns:p14="http://schemas.microsoft.com/office/powerpoint/2010/main" val="3413978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1E736-885C-0B09-4A5D-16AAB9B529A5}"/>
              </a:ext>
            </a:extLst>
          </p:cNvPr>
          <p:cNvSpPr>
            <a:spLocks noGrp="1"/>
          </p:cNvSpPr>
          <p:nvPr>
            <p:ph type="title"/>
          </p:nvPr>
        </p:nvSpPr>
        <p:spPr>
          <a:xfrm>
            <a:off x="838200" y="365126"/>
            <a:ext cx="10515600" cy="799646"/>
          </a:xfrm>
        </p:spPr>
        <p:txBody>
          <a:bodyPr/>
          <a:lstStyle/>
          <a:p>
            <a:r>
              <a:rPr lang="en-US" dirty="0"/>
              <a:t>Ioannidis (2005) “Corollaries”</a:t>
            </a:r>
          </a:p>
        </p:txBody>
      </p:sp>
      <p:sp>
        <p:nvSpPr>
          <p:cNvPr id="3" name="Content Placeholder 2">
            <a:extLst>
              <a:ext uri="{FF2B5EF4-FFF2-40B4-BE49-F238E27FC236}">
                <a16:creationId xmlns:a16="http://schemas.microsoft.com/office/drawing/2014/main" id="{29D66049-55DE-C0BB-ABDD-692B9DF4BDB7}"/>
              </a:ext>
            </a:extLst>
          </p:cNvPr>
          <p:cNvSpPr>
            <a:spLocks noGrp="1"/>
          </p:cNvSpPr>
          <p:nvPr>
            <p:ph idx="1"/>
          </p:nvPr>
        </p:nvSpPr>
        <p:spPr>
          <a:xfrm>
            <a:off x="609599" y="1164772"/>
            <a:ext cx="10994571" cy="5083628"/>
          </a:xfrm>
        </p:spPr>
        <p:txBody>
          <a:bodyPr>
            <a:noAutofit/>
          </a:bodyPr>
          <a:lstStyle/>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smaller the studies </a:t>
            </a:r>
            <a:r>
              <a:rPr lang="en-US" sz="2000" dirty="0"/>
              <a:t>conducted in a scientific field, the less likely the research findings are to be true. </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smaller the effect sizes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greater the number and the lesser the selection of tested relationships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greater the flexibility in designs, definitions, outcomes, and analytical modes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greater the </a:t>
            </a:r>
            <a:r>
              <a:rPr lang="en-US" sz="2000" dirty="0">
                <a:solidFill>
                  <a:srgbClr val="C00000"/>
                </a:solidFill>
              </a:rPr>
              <a:t>financial and other interests and prejudices </a:t>
            </a:r>
            <a:r>
              <a:rPr lang="en-US" sz="2000" dirty="0"/>
              <a:t>in a scientific field, the less likely the research findings are to be true.</a:t>
            </a:r>
          </a:p>
          <a:p>
            <a:pPr marL="514350" indent="-514350">
              <a:lnSpc>
                <a:spcPct val="130000"/>
              </a:lnSpc>
              <a:spcBef>
                <a:spcPts val="0"/>
              </a:spcBef>
              <a:spcAft>
                <a:spcPts val="600"/>
              </a:spcAft>
              <a:buFont typeface="+mj-lt"/>
              <a:buAutoNum type="arabicPeriod"/>
            </a:pPr>
            <a:r>
              <a:rPr lang="en-US" sz="2000" dirty="0"/>
              <a:t>The </a:t>
            </a:r>
            <a:r>
              <a:rPr lang="en-US" sz="2000" dirty="0">
                <a:solidFill>
                  <a:srgbClr val="C00000"/>
                </a:solidFill>
              </a:rPr>
              <a:t>hotter a scientific field </a:t>
            </a:r>
            <a:r>
              <a:rPr lang="en-US" sz="2000" dirty="0"/>
              <a:t>(with more scientific teams involved), the less likely the research findings are to be true.</a:t>
            </a:r>
          </a:p>
        </p:txBody>
      </p:sp>
    </p:spTree>
    <p:extLst>
      <p:ext uri="{BB962C8B-B14F-4D97-AF65-F5344CB8AC3E}">
        <p14:creationId xmlns:p14="http://schemas.microsoft.com/office/powerpoint/2010/main" val="14590742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a:solidFill>
                  <a:srgbClr val="1C1D1E"/>
                </a:solidFill>
                <a:latin typeface="Open Sans" panose="020B0606030504020204" pitchFamily="34" charset="0"/>
              </a:rPr>
              <a:t>R</a:t>
            </a:r>
            <a:r>
              <a:rPr lang="en-US" b="0" i="1" dirty="0">
                <a:solidFill>
                  <a:srgbClr val="1C1D1E"/>
                </a:solidFill>
                <a:effectLst/>
                <a:latin typeface="Open Sans" panose="020B0606030504020204" pitchFamily="34" charset="0"/>
              </a:rPr>
              <a:t>eproducible research</a:t>
            </a:r>
            <a:endParaRPr lang="en-US" dirty="0"/>
          </a:p>
        </p:txBody>
      </p:sp>
      <p:sp>
        <p:nvSpPr>
          <p:cNvPr id="3" name="Content Placeholder 2"/>
          <p:cNvSpPr>
            <a:spLocks noGrp="1"/>
          </p:cNvSpPr>
          <p:nvPr>
            <p:ph idx="1"/>
          </p:nvPr>
        </p:nvSpPr>
        <p:spPr/>
        <p:txBody>
          <a:bodyPr>
            <a:normAutofit/>
          </a:bodyPr>
          <a:lstStyle/>
          <a:p>
            <a:pPr>
              <a:lnSpc>
                <a:spcPct val="110000"/>
              </a:lnSpc>
            </a:pPr>
            <a:r>
              <a:rPr lang="en-US" dirty="0">
                <a:solidFill>
                  <a:srgbClr val="1C1D1E"/>
                </a:solidFill>
                <a:latin typeface="Open Sans" panose="020B0606030504020204" pitchFamily="34" charset="0"/>
              </a:rPr>
              <a:t>A</a:t>
            </a:r>
            <a:r>
              <a:rPr lang="en-US" b="0" i="0" dirty="0">
                <a:solidFill>
                  <a:srgbClr val="1C1D1E"/>
                </a:solidFill>
                <a:effectLst/>
                <a:latin typeface="Open Sans" panose="020B0606030504020204" pitchFamily="34" charset="0"/>
              </a:rPr>
              <a:t>ssess the validity and rigor of scientific results</a:t>
            </a:r>
          </a:p>
          <a:p>
            <a:pPr>
              <a:lnSpc>
                <a:spcPct val="110000"/>
              </a:lnSpc>
            </a:pPr>
            <a:r>
              <a:rPr lang="en-US" dirty="0">
                <a:solidFill>
                  <a:srgbClr val="1C1D1E"/>
                </a:solidFill>
                <a:latin typeface="Open Sans" panose="020B0606030504020204" pitchFamily="34" charset="0"/>
              </a:rPr>
              <a:t>O</a:t>
            </a:r>
            <a:r>
              <a:rPr lang="en-US" b="0" i="0" dirty="0">
                <a:solidFill>
                  <a:srgbClr val="1C1D1E"/>
                </a:solidFill>
                <a:effectLst/>
                <a:latin typeface="Open Sans" panose="020B0606030504020204" pitchFamily="34" charset="0"/>
              </a:rPr>
              <a:t>thers can reproduce the results given only </a:t>
            </a:r>
          </a:p>
          <a:p>
            <a:pPr lvl="1">
              <a:lnSpc>
                <a:spcPct val="110000"/>
              </a:lnSpc>
            </a:pPr>
            <a:r>
              <a:rPr lang="en-US" b="0" i="0" dirty="0">
                <a:solidFill>
                  <a:srgbClr val="1C1D1E"/>
                </a:solidFill>
                <a:effectLst/>
                <a:latin typeface="Open Sans" panose="020B0606030504020204" pitchFamily="34" charset="0"/>
              </a:rPr>
              <a:t>Original data</a:t>
            </a:r>
          </a:p>
          <a:p>
            <a:pPr lvl="1">
              <a:lnSpc>
                <a:spcPct val="110000"/>
              </a:lnSpc>
            </a:pPr>
            <a:r>
              <a:rPr lang="en-US" b="0" i="0" dirty="0">
                <a:solidFill>
                  <a:srgbClr val="1C1D1E"/>
                </a:solidFill>
                <a:effectLst/>
                <a:latin typeface="Open Sans" panose="020B0606030504020204" pitchFamily="34" charset="0"/>
              </a:rPr>
              <a:t>Code</a:t>
            </a:r>
          </a:p>
          <a:p>
            <a:pPr lvl="1">
              <a:lnSpc>
                <a:spcPct val="110000"/>
              </a:lnSpc>
            </a:pPr>
            <a:r>
              <a:rPr lang="en-US" dirty="0">
                <a:solidFill>
                  <a:srgbClr val="1C1D1E"/>
                </a:solidFill>
                <a:latin typeface="Open Sans" panose="020B0606030504020204" pitchFamily="34" charset="0"/>
              </a:rPr>
              <a:t>D</a:t>
            </a:r>
            <a:r>
              <a:rPr lang="en-US" b="0" i="0" dirty="0">
                <a:solidFill>
                  <a:srgbClr val="1C1D1E"/>
                </a:solidFill>
                <a:effectLst/>
                <a:latin typeface="Open Sans" panose="020B0606030504020204" pitchFamily="34" charset="0"/>
              </a:rPr>
              <a:t>ocumentation</a:t>
            </a:r>
          </a:p>
          <a:p>
            <a:pPr>
              <a:lnSpc>
                <a:spcPct val="110000"/>
              </a:lnSpc>
            </a:pPr>
            <a:r>
              <a:rPr lang="en-US" dirty="0">
                <a:solidFill>
                  <a:srgbClr val="1C1D1E"/>
                </a:solidFill>
                <a:latin typeface="Open Sans" panose="020B0606030504020204" pitchFamily="34" charset="0"/>
              </a:rPr>
              <a:t>Minimizes cost of collecting brand new data</a:t>
            </a:r>
          </a:p>
          <a:p>
            <a:pPr>
              <a:lnSpc>
                <a:spcPct val="110000"/>
              </a:lnSpc>
            </a:pPr>
            <a:r>
              <a:rPr lang="en-US" dirty="0">
                <a:solidFill>
                  <a:srgbClr val="1C1D1E"/>
                </a:solidFill>
                <a:latin typeface="Open Sans" panose="020B0606030504020204" pitchFamily="34" charset="0"/>
              </a:rPr>
              <a:t>Minimal acceptable standard for publishable research</a:t>
            </a:r>
          </a:p>
        </p:txBody>
      </p:sp>
    </p:spTree>
    <p:extLst>
      <p:ext uri="{BB962C8B-B14F-4D97-AF65-F5344CB8AC3E}">
        <p14:creationId xmlns:p14="http://schemas.microsoft.com/office/powerpoint/2010/main" val="3143583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E7D95-DAD2-401F-6386-157D763D8BAF}"/>
              </a:ext>
            </a:extLst>
          </p:cNvPr>
          <p:cNvSpPr>
            <a:spLocks noGrp="1"/>
          </p:cNvSpPr>
          <p:nvPr>
            <p:ph type="title"/>
          </p:nvPr>
        </p:nvSpPr>
        <p:spPr/>
        <p:txBody>
          <a:bodyPr/>
          <a:lstStyle/>
          <a:p>
            <a:r>
              <a:rPr lang="en-US" dirty="0"/>
              <a:t>“doing reproducible research” in practice</a:t>
            </a:r>
          </a:p>
        </p:txBody>
      </p:sp>
      <p:sp>
        <p:nvSpPr>
          <p:cNvPr id="3" name="Content Placeholder 2">
            <a:extLst>
              <a:ext uri="{FF2B5EF4-FFF2-40B4-BE49-F238E27FC236}">
                <a16:creationId xmlns:a16="http://schemas.microsoft.com/office/drawing/2014/main" id="{B7B9C831-6D9A-278D-35AD-4219558C5F87}"/>
              </a:ext>
            </a:extLst>
          </p:cNvPr>
          <p:cNvSpPr>
            <a:spLocks noGrp="1"/>
          </p:cNvSpPr>
          <p:nvPr>
            <p:ph idx="1"/>
          </p:nvPr>
        </p:nvSpPr>
        <p:spPr/>
        <p:txBody>
          <a:bodyPr/>
          <a:lstStyle/>
          <a:p>
            <a:pPr>
              <a:lnSpc>
                <a:spcPct val="120000"/>
              </a:lnSpc>
              <a:spcBef>
                <a:spcPts val="0"/>
              </a:spcBef>
              <a:spcAft>
                <a:spcPts val="600"/>
              </a:spcAft>
            </a:pPr>
            <a:r>
              <a:rPr lang="en-US" dirty="0"/>
              <a:t>Leave breadcrumbs</a:t>
            </a:r>
          </a:p>
          <a:p>
            <a:pPr>
              <a:lnSpc>
                <a:spcPct val="120000"/>
              </a:lnSpc>
              <a:spcBef>
                <a:spcPts val="0"/>
              </a:spcBef>
              <a:spcAft>
                <a:spcPts val="600"/>
              </a:spcAft>
            </a:pPr>
            <a:r>
              <a:rPr lang="en-US" dirty="0"/>
              <a:t>Use a system and tools for organization</a:t>
            </a:r>
          </a:p>
          <a:p>
            <a:pPr>
              <a:lnSpc>
                <a:spcPct val="120000"/>
              </a:lnSpc>
              <a:spcBef>
                <a:spcPts val="0"/>
              </a:spcBef>
              <a:spcAft>
                <a:spcPts val="600"/>
              </a:spcAft>
            </a:pPr>
            <a:r>
              <a:rPr lang="en-US" dirty="0"/>
              <a:t>Use a system for sharing results that is accessible and updatable by all collaborators</a:t>
            </a:r>
          </a:p>
        </p:txBody>
      </p:sp>
    </p:spTree>
    <p:extLst>
      <p:ext uri="{BB962C8B-B14F-4D97-AF65-F5344CB8AC3E}">
        <p14:creationId xmlns:p14="http://schemas.microsoft.com/office/powerpoint/2010/main" val="2429026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9A0F9-95AA-E46B-D593-668CF940B7F4}"/>
              </a:ext>
            </a:extLst>
          </p:cNvPr>
          <p:cNvSpPr>
            <a:spLocks noGrp="1"/>
          </p:cNvSpPr>
          <p:nvPr>
            <p:ph type="title"/>
          </p:nvPr>
        </p:nvSpPr>
        <p:spPr/>
        <p:txBody>
          <a:bodyPr/>
          <a:lstStyle/>
          <a:p>
            <a:r>
              <a:rPr lang="en-US" dirty="0"/>
              <a:t>Reproducible Research Benefits</a:t>
            </a:r>
          </a:p>
        </p:txBody>
      </p:sp>
      <p:graphicFrame>
        <p:nvGraphicFramePr>
          <p:cNvPr id="4" name="Content Placeholder 3">
            <a:extLst>
              <a:ext uri="{FF2B5EF4-FFF2-40B4-BE49-F238E27FC236}">
                <a16:creationId xmlns:a16="http://schemas.microsoft.com/office/drawing/2014/main" id="{8F9B859A-F040-A4D0-FCC6-112D22084291}"/>
              </a:ext>
            </a:extLst>
          </p:cNvPr>
          <p:cNvGraphicFramePr>
            <a:graphicFrameLocks noGrp="1"/>
          </p:cNvGraphicFramePr>
          <p:nvPr>
            <p:ph idx="1"/>
            <p:extLst>
              <p:ext uri="{D42A27DB-BD31-4B8C-83A1-F6EECF244321}">
                <p14:modId xmlns:p14="http://schemas.microsoft.com/office/powerpoint/2010/main" val="2481885962"/>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43336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graphicFrame>
        <p:nvGraphicFramePr>
          <p:cNvPr id="5" name="Content Placeholder 2">
            <a:extLst>
              <a:ext uri="{FF2B5EF4-FFF2-40B4-BE49-F238E27FC236}">
                <a16:creationId xmlns:a16="http://schemas.microsoft.com/office/drawing/2014/main" id="{8CC7B08A-A2D2-EFFF-6AC1-DFEFC42F923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31133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solidFill>
                  <a:srgbClr val="C00000"/>
                </a:solidFill>
              </a:rPr>
              <a:t>Data Gathering</a:t>
            </a:r>
          </a:p>
          <a:p>
            <a:pPr>
              <a:spcBef>
                <a:spcPts val="0"/>
              </a:spcBef>
              <a:spcAft>
                <a:spcPts val="600"/>
              </a:spcAft>
            </a:pPr>
            <a:r>
              <a:rPr lang="en-US" sz="3600" dirty="0"/>
              <a:t>Data Analysis</a:t>
            </a:r>
          </a:p>
          <a:p>
            <a:pPr>
              <a:spcBef>
                <a:spcPts val="0"/>
              </a:spcBef>
              <a:spcAft>
                <a:spcPts val="600"/>
              </a:spcAft>
            </a:pPr>
            <a:r>
              <a:rPr lang="en-US" sz="3600" dirty="0"/>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4953000" y="1611086"/>
            <a:ext cx="6400800" cy="4565877"/>
          </a:xfrm>
        </p:spPr>
        <p:txBody>
          <a:bodyPr>
            <a:normAutofit/>
          </a:bodyPr>
          <a:lstStyle/>
          <a:p>
            <a:pPr>
              <a:lnSpc>
                <a:spcPct val="110000"/>
              </a:lnSpc>
              <a:spcBef>
                <a:spcPts val="0"/>
              </a:spcBef>
              <a:spcAft>
                <a:spcPts val="600"/>
              </a:spcAft>
            </a:pPr>
            <a:r>
              <a:rPr lang="en-US" dirty="0">
                <a:solidFill>
                  <a:srgbClr val="1C1D1E"/>
                </a:solidFill>
              </a:rPr>
              <a:t>Back up files. Keep the originals!</a:t>
            </a:r>
          </a:p>
          <a:p>
            <a:pPr>
              <a:lnSpc>
                <a:spcPct val="110000"/>
              </a:lnSpc>
              <a:spcBef>
                <a:spcPts val="0"/>
              </a:spcBef>
              <a:spcAft>
                <a:spcPts val="600"/>
              </a:spcAft>
            </a:pPr>
            <a:r>
              <a:rPr lang="en-US" dirty="0"/>
              <a:t>Name files in an informative manner. </a:t>
            </a:r>
            <a:r>
              <a:rPr lang="en-US" dirty="0" err="1"/>
              <a:t>UseCamelCase_or_underscores</a:t>
            </a:r>
            <a:endParaRPr lang="en-US" dirty="0"/>
          </a:p>
          <a:p>
            <a:pPr>
              <a:lnSpc>
                <a:spcPct val="110000"/>
              </a:lnSpc>
              <a:spcBef>
                <a:spcPts val="0"/>
              </a:spcBef>
              <a:spcAft>
                <a:spcPts val="600"/>
              </a:spcAft>
            </a:pPr>
            <a:r>
              <a:rPr lang="en-US" dirty="0">
                <a:solidFill>
                  <a:srgbClr val="1C1D1E"/>
                </a:solidFill>
              </a:rPr>
              <a:t>Use </a:t>
            </a:r>
            <a:r>
              <a:rPr lang="en-US" b="0" i="0" dirty="0">
                <a:solidFill>
                  <a:srgbClr val="1C1D1E"/>
                </a:solidFill>
                <a:effectLst/>
              </a:rPr>
              <a:t>line .csv or .txt files</a:t>
            </a:r>
          </a:p>
          <a:p>
            <a:pPr>
              <a:lnSpc>
                <a:spcPct val="110000"/>
              </a:lnSpc>
              <a:spcBef>
                <a:spcPts val="0"/>
              </a:spcBef>
              <a:spcAft>
                <a:spcPts val="600"/>
              </a:spcAft>
            </a:pPr>
            <a:r>
              <a:rPr lang="en-US" dirty="0">
                <a:solidFill>
                  <a:srgbClr val="1C1D1E"/>
                </a:solidFill>
              </a:rPr>
              <a:t>M</a:t>
            </a:r>
            <a:r>
              <a:rPr lang="en-US" b="0" i="0" dirty="0">
                <a:solidFill>
                  <a:srgbClr val="1C1D1E"/>
                </a:solidFill>
                <a:effectLst/>
              </a:rPr>
              <a:t>ulti-dimensional relational formats (e.g., </a:t>
            </a:r>
            <a:r>
              <a:rPr lang="en-US" b="0" i="0" dirty="0" err="1">
                <a:solidFill>
                  <a:srgbClr val="1C1D1E"/>
                </a:solidFill>
                <a:effectLst/>
              </a:rPr>
              <a:t>json</a:t>
            </a:r>
            <a:r>
              <a:rPr lang="en-US" dirty="0">
                <a:solidFill>
                  <a:srgbClr val="1C1D1E"/>
                </a:solidFill>
              </a:rPr>
              <a:t>)</a:t>
            </a:r>
          </a:p>
          <a:p>
            <a:pPr>
              <a:lnSpc>
                <a:spcPct val="110000"/>
              </a:lnSpc>
              <a:spcBef>
                <a:spcPts val="0"/>
              </a:spcBef>
              <a:spcAft>
                <a:spcPts val="600"/>
              </a:spcAft>
            </a:pPr>
            <a:r>
              <a:rPr lang="en-US" dirty="0">
                <a:solidFill>
                  <a:srgbClr val="1C1D1E"/>
                </a:solidFill>
              </a:rPr>
              <a:t>If you scraped it, keep the code!</a:t>
            </a:r>
            <a:endParaRPr lang="en-US" dirty="0"/>
          </a:p>
        </p:txBody>
      </p:sp>
    </p:spTree>
    <p:extLst>
      <p:ext uri="{BB962C8B-B14F-4D97-AF65-F5344CB8AC3E}">
        <p14:creationId xmlns:p14="http://schemas.microsoft.com/office/powerpoint/2010/main" val="30062838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t>Data Gathering</a:t>
            </a:r>
          </a:p>
          <a:p>
            <a:pPr>
              <a:spcBef>
                <a:spcPts val="0"/>
              </a:spcBef>
              <a:spcAft>
                <a:spcPts val="600"/>
              </a:spcAft>
            </a:pPr>
            <a:r>
              <a:rPr lang="en-US" sz="3600" dirty="0">
                <a:solidFill>
                  <a:srgbClr val="C00000"/>
                </a:solidFill>
              </a:rPr>
              <a:t>Data Analysis</a:t>
            </a:r>
          </a:p>
          <a:p>
            <a:pPr>
              <a:spcBef>
                <a:spcPts val="0"/>
              </a:spcBef>
              <a:spcAft>
                <a:spcPts val="600"/>
              </a:spcAft>
            </a:pPr>
            <a:r>
              <a:rPr lang="en-US" sz="3600" dirty="0"/>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5486400" y="1611086"/>
            <a:ext cx="5867400" cy="4565877"/>
          </a:xfrm>
        </p:spPr>
        <p:txBody>
          <a:bodyPr>
            <a:normAutofit/>
          </a:bodyPr>
          <a:lstStyle/>
          <a:p>
            <a:pPr>
              <a:lnSpc>
                <a:spcPct val="110000"/>
              </a:lnSpc>
              <a:spcBef>
                <a:spcPts val="0"/>
              </a:spcBef>
              <a:spcAft>
                <a:spcPts val="600"/>
              </a:spcAft>
            </a:pPr>
            <a:r>
              <a:rPr lang="en-US" dirty="0"/>
              <a:t>“tidy” formats</a:t>
            </a:r>
          </a:p>
          <a:p>
            <a:pPr>
              <a:lnSpc>
                <a:spcPct val="110000"/>
              </a:lnSpc>
              <a:spcBef>
                <a:spcPts val="0"/>
              </a:spcBef>
              <a:spcAft>
                <a:spcPts val="600"/>
              </a:spcAft>
            </a:pPr>
            <a:r>
              <a:rPr lang="en-US" dirty="0"/>
              <a:t>Metadata</a:t>
            </a:r>
          </a:p>
          <a:p>
            <a:pPr>
              <a:lnSpc>
                <a:spcPct val="110000"/>
              </a:lnSpc>
              <a:spcBef>
                <a:spcPts val="0"/>
              </a:spcBef>
              <a:spcAft>
                <a:spcPts val="600"/>
              </a:spcAft>
            </a:pPr>
            <a:r>
              <a:rPr lang="en-US" dirty="0"/>
              <a:t>Use modular code</a:t>
            </a:r>
          </a:p>
          <a:p>
            <a:pPr>
              <a:lnSpc>
                <a:spcPct val="110000"/>
              </a:lnSpc>
              <a:spcBef>
                <a:spcPts val="0"/>
              </a:spcBef>
              <a:spcAft>
                <a:spcPts val="600"/>
              </a:spcAft>
            </a:pPr>
            <a:r>
              <a:rPr lang="en-US" dirty="0"/>
              <a:t>Consistent naming conventions</a:t>
            </a:r>
          </a:p>
          <a:p>
            <a:pPr>
              <a:lnSpc>
                <a:spcPct val="110000"/>
              </a:lnSpc>
              <a:spcBef>
                <a:spcPts val="0"/>
              </a:spcBef>
              <a:spcAft>
                <a:spcPts val="600"/>
              </a:spcAft>
            </a:pPr>
            <a:r>
              <a:rPr lang="en-US" dirty="0"/>
              <a:t>Produce tables and graphics directly from code</a:t>
            </a:r>
          </a:p>
          <a:p>
            <a:pPr>
              <a:lnSpc>
                <a:spcPct val="110000"/>
              </a:lnSpc>
              <a:spcBef>
                <a:spcPts val="0"/>
              </a:spcBef>
              <a:spcAft>
                <a:spcPts val="600"/>
              </a:spcAft>
            </a:pPr>
            <a:r>
              <a:rPr lang="en-US" dirty="0"/>
              <a:t>There is no such thing as too many comments.</a:t>
            </a:r>
          </a:p>
          <a:p>
            <a:pPr>
              <a:lnSpc>
                <a:spcPct val="110000"/>
              </a:lnSpc>
              <a:spcBef>
                <a:spcPts val="0"/>
              </a:spcBef>
              <a:spcAft>
                <a:spcPts val="600"/>
              </a:spcAft>
            </a:pPr>
            <a:endParaRPr lang="en-US" dirty="0"/>
          </a:p>
        </p:txBody>
      </p:sp>
    </p:spTree>
    <p:extLst>
      <p:ext uri="{BB962C8B-B14F-4D97-AF65-F5344CB8AC3E}">
        <p14:creationId xmlns:p14="http://schemas.microsoft.com/office/powerpoint/2010/main" val="8250441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F43028-91C6-5673-014B-E4139023AF51}"/>
              </a:ext>
            </a:extLst>
          </p:cNvPr>
          <p:cNvSpPr>
            <a:spLocks noGrp="1"/>
          </p:cNvSpPr>
          <p:nvPr>
            <p:ph type="title"/>
          </p:nvPr>
        </p:nvSpPr>
        <p:spPr/>
        <p:txBody>
          <a:bodyPr/>
          <a:lstStyle/>
          <a:p>
            <a:r>
              <a:rPr lang="en-US" dirty="0"/>
              <a:t>Three Stages of Computational Research</a:t>
            </a:r>
          </a:p>
        </p:txBody>
      </p:sp>
      <p:sp>
        <p:nvSpPr>
          <p:cNvPr id="3" name="Content Placeholder 2">
            <a:extLst>
              <a:ext uri="{FF2B5EF4-FFF2-40B4-BE49-F238E27FC236}">
                <a16:creationId xmlns:a16="http://schemas.microsoft.com/office/drawing/2014/main" id="{D7C4C026-F85A-77FC-3601-1BC97866474C}"/>
              </a:ext>
            </a:extLst>
          </p:cNvPr>
          <p:cNvSpPr>
            <a:spLocks noGrp="1"/>
          </p:cNvSpPr>
          <p:nvPr>
            <p:ph sz="half" idx="1"/>
          </p:nvPr>
        </p:nvSpPr>
        <p:spPr/>
        <p:txBody>
          <a:bodyPr>
            <a:normAutofit/>
          </a:bodyPr>
          <a:lstStyle/>
          <a:p>
            <a:pPr>
              <a:spcBef>
                <a:spcPts val="0"/>
              </a:spcBef>
              <a:spcAft>
                <a:spcPts val="600"/>
              </a:spcAft>
            </a:pPr>
            <a:r>
              <a:rPr lang="en-US" sz="3600" dirty="0"/>
              <a:t>Data Gathering</a:t>
            </a:r>
          </a:p>
          <a:p>
            <a:pPr>
              <a:spcBef>
                <a:spcPts val="0"/>
              </a:spcBef>
              <a:spcAft>
                <a:spcPts val="600"/>
              </a:spcAft>
            </a:pPr>
            <a:r>
              <a:rPr lang="en-US" sz="3600" dirty="0"/>
              <a:t>Data Analysis</a:t>
            </a:r>
          </a:p>
          <a:p>
            <a:pPr>
              <a:spcBef>
                <a:spcPts val="0"/>
              </a:spcBef>
              <a:spcAft>
                <a:spcPts val="600"/>
              </a:spcAft>
            </a:pPr>
            <a:r>
              <a:rPr lang="en-US" sz="3600" dirty="0">
                <a:solidFill>
                  <a:srgbClr val="C00000"/>
                </a:solidFill>
              </a:rPr>
              <a:t>Presenting results</a:t>
            </a:r>
          </a:p>
        </p:txBody>
      </p:sp>
      <p:sp>
        <p:nvSpPr>
          <p:cNvPr id="4" name="Content Placeholder 3">
            <a:extLst>
              <a:ext uri="{FF2B5EF4-FFF2-40B4-BE49-F238E27FC236}">
                <a16:creationId xmlns:a16="http://schemas.microsoft.com/office/drawing/2014/main" id="{BF40E8E0-0E3A-8706-2B81-A2CBD4EB5068}"/>
              </a:ext>
            </a:extLst>
          </p:cNvPr>
          <p:cNvSpPr>
            <a:spLocks noGrp="1"/>
          </p:cNvSpPr>
          <p:nvPr>
            <p:ph sz="half" idx="2"/>
          </p:nvPr>
        </p:nvSpPr>
        <p:spPr>
          <a:xfrm>
            <a:off x="6172200" y="1611086"/>
            <a:ext cx="5181600" cy="4565877"/>
          </a:xfrm>
        </p:spPr>
        <p:txBody>
          <a:bodyPr>
            <a:normAutofit/>
          </a:bodyPr>
          <a:lstStyle/>
          <a:p>
            <a:pPr>
              <a:lnSpc>
                <a:spcPct val="110000"/>
              </a:lnSpc>
              <a:spcBef>
                <a:spcPts val="0"/>
              </a:spcBef>
              <a:spcAft>
                <a:spcPts val="600"/>
              </a:spcAft>
            </a:pPr>
            <a:r>
              <a:rPr lang="en-US" dirty="0"/>
              <a:t>Make all code &amp; results accessible to your mentor on a publicly available site</a:t>
            </a:r>
          </a:p>
          <a:p>
            <a:pPr>
              <a:lnSpc>
                <a:spcPct val="110000"/>
              </a:lnSpc>
              <a:spcBef>
                <a:spcPts val="0"/>
              </a:spcBef>
              <a:spcAft>
                <a:spcPts val="600"/>
              </a:spcAft>
            </a:pPr>
            <a:r>
              <a:rPr lang="en-US" dirty="0"/>
              <a:t>Weekly journal of activities</a:t>
            </a:r>
          </a:p>
          <a:p>
            <a:pPr>
              <a:lnSpc>
                <a:spcPct val="110000"/>
              </a:lnSpc>
              <a:spcBef>
                <a:spcPts val="0"/>
              </a:spcBef>
              <a:spcAft>
                <a:spcPts val="600"/>
              </a:spcAft>
            </a:pPr>
            <a:r>
              <a:rPr lang="en-US" dirty="0"/>
              <a:t>A little organization on the front end makes presentations easier!</a:t>
            </a:r>
          </a:p>
          <a:p>
            <a:pPr>
              <a:lnSpc>
                <a:spcPct val="110000"/>
              </a:lnSpc>
              <a:spcBef>
                <a:spcPts val="0"/>
              </a:spcBef>
              <a:spcAft>
                <a:spcPts val="600"/>
              </a:spcAft>
            </a:pPr>
            <a:r>
              <a:rPr lang="en-US" dirty="0"/>
              <a:t>Include presentation code</a:t>
            </a:r>
          </a:p>
        </p:txBody>
      </p:sp>
    </p:spTree>
    <p:extLst>
      <p:ext uri="{BB962C8B-B14F-4D97-AF65-F5344CB8AC3E}">
        <p14:creationId xmlns:p14="http://schemas.microsoft.com/office/powerpoint/2010/main" val="3229162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Shape 1"/>
          <p:cNvSpPr txBox="1"/>
          <p:nvPr/>
        </p:nvSpPr>
        <p:spPr>
          <a:xfrm>
            <a:off x="409510" y="2364537"/>
            <a:ext cx="4236232" cy="1263565"/>
          </a:xfrm>
          <a:prstGeom prst="rect">
            <a:avLst/>
          </a:prstGeom>
          <a:noFill/>
          <a:ln>
            <a:noFill/>
          </a:ln>
        </p:spPr>
        <p:txBody>
          <a:bodyPr lIns="90000" tIns="46800" rIns="90000" bIns="46800"/>
          <a:lstStyle/>
          <a:p>
            <a:r>
              <a:rPr lang="en-US" spc="-1" dirty="0">
                <a:solidFill>
                  <a:srgbClr val="000000"/>
                </a:solidFill>
                <a:latin typeface="Arial"/>
                <a:hlinkClick r:id="rId3"/>
              </a:rPr>
              <a:t>A Beginner's Guide to Conducting Reproducible Research</a:t>
            </a:r>
            <a:r>
              <a:rPr lang="en-US" spc="-1" dirty="0">
                <a:solidFill>
                  <a:srgbClr val="000000"/>
                </a:solidFill>
                <a:latin typeface="Arial"/>
              </a:rPr>
              <a:t> (Alston and Rick 2021)</a:t>
            </a:r>
          </a:p>
        </p:txBody>
      </p:sp>
      <p:pic>
        <p:nvPicPr>
          <p:cNvPr id="47" name="Main graphic"/>
          <p:cNvPicPr/>
          <p:nvPr/>
        </p:nvPicPr>
        <p:blipFill>
          <a:blip r:embed="rId4"/>
          <a:stretch/>
        </p:blipFill>
        <p:spPr>
          <a:xfrm>
            <a:off x="5058698" y="0"/>
            <a:ext cx="5899354" cy="6636774"/>
          </a:xfrm>
          <a:prstGeom prst="rect">
            <a:avLst/>
          </a:prstGeom>
          <a:ln>
            <a:noFill/>
          </a:ln>
        </p:spPr>
      </p:pic>
    </p:spTree>
  </p:cSld>
  <p:clrMapOvr>
    <a:masterClrMapping/>
  </p:clrMapOvr>
  <p:transition>
    <p:wipe dir="r"/>
  </p:transition>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2299EC-2488-BDC1-FFA8-E42C1437F4A1}"/>
              </a:ext>
            </a:extLst>
          </p:cNvPr>
          <p:cNvSpPr>
            <a:spLocks noGrp="1"/>
          </p:cNvSpPr>
          <p:nvPr>
            <p:ph type="title"/>
          </p:nvPr>
        </p:nvSpPr>
        <p:spPr/>
        <p:txBody>
          <a:bodyPr/>
          <a:lstStyle/>
          <a:p>
            <a:r>
              <a:rPr lang="en-US" dirty="0"/>
              <a:t>Documenting Decisions</a:t>
            </a:r>
          </a:p>
        </p:txBody>
      </p:sp>
      <p:sp>
        <p:nvSpPr>
          <p:cNvPr id="3" name="Content Placeholder 2">
            <a:extLst>
              <a:ext uri="{FF2B5EF4-FFF2-40B4-BE49-F238E27FC236}">
                <a16:creationId xmlns:a16="http://schemas.microsoft.com/office/drawing/2014/main" id="{B806CBAB-05B5-2296-4F9D-04738E71797C}"/>
              </a:ext>
            </a:extLst>
          </p:cNvPr>
          <p:cNvSpPr>
            <a:spLocks noGrp="1"/>
          </p:cNvSpPr>
          <p:nvPr>
            <p:ph idx="1"/>
          </p:nvPr>
        </p:nvSpPr>
        <p:spPr>
          <a:xfrm>
            <a:off x="838200" y="1825625"/>
            <a:ext cx="10515600" cy="1146175"/>
          </a:xfrm>
        </p:spPr>
        <p:txBody>
          <a:bodyPr/>
          <a:lstStyle/>
          <a:p>
            <a:r>
              <a:rPr lang="en-US" dirty="0"/>
              <a:t>In the code notebook</a:t>
            </a:r>
          </a:p>
          <a:p>
            <a:r>
              <a:rPr lang="en-US" dirty="0"/>
              <a:t>In the methods section of a paper</a:t>
            </a:r>
          </a:p>
        </p:txBody>
      </p:sp>
      <p:sp>
        <p:nvSpPr>
          <p:cNvPr id="4" name="TextBox 3">
            <a:extLst>
              <a:ext uri="{FF2B5EF4-FFF2-40B4-BE49-F238E27FC236}">
                <a16:creationId xmlns:a16="http://schemas.microsoft.com/office/drawing/2014/main" id="{68C100D0-D8B9-0E93-5ADB-E2BEB89D7712}"/>
              </a:ext>
            </a:extLst>
          </p:cNvPr>
          <p:cNvSpPr txBox="1"/>
          <p:nvPr/>
        </p:nvSpPr>
        <p:spPr>
          <a:xfrm>
            <a:off x="947058" y="3106737"/>
            <a:ext cx="10614124" cy="646331"/>
          </a:xfrm>
          <a:prstGeom prst="rect">
            <a:avLst/>
          </a:prstGeom>
          <a:noFill/>
          <a:ln>
            <a:solidFill>
              <a:schemeClr val="accent1"/>
            </a:solidFill>
          </a:ln>
        </p:spPr>
        <p:txBody>
          <a:bodyPr wrap="none" rtlCol="0">
            <a:spAutoFit/>
          </a:bodyPr>
          <a:lstStyle/>
          <a:p>
            <a:r>
              <a:rPr lang="en-US" sz="3600" dirty="0"/>
              <a:t>We still haven’t answered the most important question:</a:t>
            </a:r>
          </a:p>
        </p:txBody>
      </p:sp>
      <p:sp>
        <p:nvSpPr>
          <p:cNvPr id="5" name="TextBox 4">
            <a:extLst>
              <a:ext uri="{FF2B5EF4-FFF2-40B4-BE49-F238E27FC236}">
                <a16:creationId xmlns:a16="http://schemas.microsoft.com/office/drawing/2014/main" id="{3E15E7A5-2B9B-7499-21E6-09FB1BE921A0}"/>
              </a:ext>
            </a:extLst>
          </p:cNvPr>
          <p:cNvSpPr txBox="1"/>
          <p:nvPr/>
        </p:nvSpPr>
        <p:spPr>
          <a:xfrm>
            <a:off x="2460172" y="4170134"/>
            <a:ext cx="6611682" cy="13234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pPr algn="ctr"/>
            <a:r>
              <a:rPr lang="en-US" sz="4000" dirty="0"/>
              <a:t>What are the </a:t>
            </a:r>
            <a:r>
              <a:rPr lang="en-US" sz="4000" i="1" dirty="0">
                <a:solidFill>
                  <a:srgbClr val="FFFF00"/>
                </a:solidFill>
              </a:rPr>
              <a:t>downstream</a:t>
            </a:r>
            <a:r>
              <a:rPr lang="en-US" sz="4000" dirty="0"/>
              <a:t> </a:t>
            </a:r>
          </a:p>
          <a:p>
            <a:r>
              <a:rPr lang="en-US" sz="4000" dirty="0"/>
              <a:t>consequences of this decision?</a:t>
            </a:r>
          </a:p>
        </p:txBody>
      </p:sp>
    </p:spTree>
    <p:extLst>
      <p:ext uri="{BB962C8B-B14F-4D97-AF65-F5344CB8AC3E}">
        <p14:creationId xmlns:p14="http://schemas.microsoft.com/office/powerpoint/2010/main" val="336402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6C8D3FD-3641-9EAE-9908-69FDC7D8EC70}"/>
              </a:ext>
            </a:extLst>
          </p:cNvPr>
          <p:cNvSpPr>
            <a:spLocks noGrp="1"/>
          </p:cNvSpPr>
          <p:nvPr>
            <p:ph type="title"/>
          </p:nvPr>
        </p:nvSpPr>
        <p:spPr>
          <a:xfrm>
            <a:off x="838200" y="1412488"/>
            <a:ext cx="2899189" cy="4363844"/>
          </a:xfrm>
        </p:spPr>
        <p:txBody>
          <a:bodyPr anchor="t">
            <a:normAutofit/>
          </a:bodyPr>
          <a:lstStyle/>
          <a:p>
            <a:r>
              <a:rPr lang="en-US" sz="4000">
                <a:solidFill>
                  <a:srgbClr val="FFFFFF"/>
                </a:solidFill>
              </a:rPr>
              <a:t>Some Experimental Design Decisions</a:t>
            </a:r>
          </a:p>
        </p:txBody>
      </p:sp>
      <p:sp>
        <p:nvSpPr>
          <p:cNvPr id="3" name="Content Placeholder 2">
            <a:extLst>
              <a:ext uri="{FF2B5EF4-FFF2-40B4-BE49-F238E27FC236}">
                <a16:creationId xmlns:a16="http://schemas.microsoft.com/office/drawing/2014/main" id="{C2659DA9-090D-06E2-AC62-E995E4238A06}"/>
              </a:ext>
            </a:extLst>
          </p:cNvPr>
          <p:cNvSpPr>
            <a:spLocks noGrp="1"/>
          </p:cNvSpPr>
          <p:nvPr>
            <p:ph sz="half" idx="1"/>
          </p:nvPr>
        </p:nvSpPr>
        <p:spPr>
          <a:xfrm>
            <a:off x="4380855" y="1000897"/>
            <a:ext cx="3515093" cy="5090984"/>
          </a:xfrm>
        </p:spPr>
        <p:txBody>
          <a:bodyPr>
            <a:normAutofit/>
          </a:bodyPr>
          <a:lstStyle/>
          <a:p>
            <a:pPr>
              <a:lnSpc>
                <a:spcPct val="110000"/>
              </a:lnSpc>
              <a:spcBef>
                <a:spcPts val="0"/>
              </a:spcBef>
              <a:spcAft>
                <a:spcPts val="600"/>
              </a:spcAft>
            </a:pPr>
            <a:r>
              <a:rPr lang="en-US" sz="2000" dirty="0"/>
              <a:t>Type of design</a:t>
            </a:r>
          </a:p>
          <a:p>
            <a:pPr lvl="1">
              <a:lnSpc>
                <a:spcPct val="110000"/>
              </a:lnSpc>
              <a:spcBef>
                <a:spcPts val="0"/>
              </a:spcBef>
              <a:spcAft>
                <a:spcPts val="600"/>
              </a:spcAft>
            </a:pPr>
            <a:r>
              <a:rPr lang="en-US" sz="2000" dirty="0">
                <a:solidFill>
                  <a:srgbClr val="C00000"/>
                </a:solidFill>
              </a:rPr>
              <a:t>Completely randomized or blocked</a:t>
            </a:r>
            <a:r>
              <a:rPr lang="en-US" sz="2000" dirty="0"/>
              <a:t>?</a:t>
            </a:r>
          </a:p>
          <a:p>
            <a:pPr lvl="1">
              <a:lnSpc>
                <a:spcPct val="110000"/>
              </a:lnSpc>
              <a:spcBef>
                <a:spcPts val="0"/>
              </a:spcBef>
              <a:spcAft>
                <a:spcPts val="600"/>
              </a:spcAft>
            </a:pPr>
            <a:r>
              <a:rPr lang="en-US" sz="2000" dirty="0"/>
              <a:t>How many </a:t>
            </a:r>
            <a:r>
              <a:rPr lang="en-US" sz="2000" dirty="0">
                <a:solidFill>
                  <a:srgbClr val="C00000"/>
                </a:solidFill>
              </a:rPr>
              <a:t>populations</a:t>
            </a:r>
            <a:r>
              <a:rPr lang="en-US" sz="2000" dirty="0"/>
              <a:t>?</a:t>
            </a:r>
          </a:p>
          <a:p>
            <a:pPr lvl="1">
              <a:lnSpc>
                <a:spcPct val="110000"/>
              </a:lnSpc>
              <a:spcBef>
                <a:spcPts val="0"/>
              </a:spcBef>
              <a:spcAft>
                <a:spcPts val="600"/>
              </a:spcAft>
            </a:pPr>
            <a:r>
              <a:rPr lang="en-US" sz="2000" dirty="0"/>
              <a:t>How many </a:t>
            </a:r>
            <a:r>
              <a:rPr lang="en-US" sz="2000" dirty="0">
                <a:solidFill>
                  <a:srgbClr val="C00000"/>
                </a:solidFill>
              </a:rPr>
              <a:t>variables</a:t>
            </a:r>
            <a:r>
              <a:rPr lang="en-US" sz="2000" dirty="0"/>
              <a:t> collected on each?</a:t>
            </a:r>
          </a:p>
          <a:p>
            <a:pPr>
              <a:lnSpc>
                <a:spcPct val="110000"/>
              </a:lnSpc>
              <a:spcBef>
                <a:spcPts val="0"/>
              </a:spcBef>
              <a:spcAft>
                <a:spcPts val="600"/>
              </a:spcAft>
            </a:pPr>
            <a:r>
              <a:rPr lang="en-US" sz="2000" dirty="0"/>
              <a:t>Range of effect</a:t>
            </a:r>
          </a:p>
          <a:p>
            <a:pPr lvl="1">
              <a:lnSpc>
                <a:spcPct val="110000"/>
              </a:lnSpc>
              <a:spcBef>
                <a:spcPts val="0"/>
              </a:spcBef>
              <a:spcAft>
                <a:spcPts val="600"/>
              </a:spcAft>
            </a:pPr>
            <a:r>
              <a:rPr lang="en-US" sz="2000" dirty="0"/>
              <a:t>Minimum and maximum value of the effect</a:t>
            </a:r>
          </a:p>
          <a:p>
            <a:pPr lvl="1">
              <a:lnSpc>
                <a:spcPct val="110000"/>
              </a:lnSpc>
              <a:spcBef>
                <a:spcPts val="0"/>
              </a:spcBef>
              <a:spcAft>
                <a:spcPts val="600"/>
              </a:spcAft>
            </a:pPr>
            <a:r>
              <a:rPr lang="en-US" sz="2000" dirty="0"/>
              <a:t>How many </a:t>
            </a:r>
            <a:r>
              <a:rPr lang="en-US" sz="2000" dirty="0">
                <a:solidFill>
                  <a:srgbClr val="C00000"/>
                </a:solidFill>
              </a:rPr>
              <a:t>levels</a:t>
            </a:r>
            <a:r>
              <a:rPr lang="en-US" sz="2000" dirty="0"/>
              <a:t> of the effect?</a:t>
            </a:r>
          </a:p>
          <a:p>
            <a:pPr>
              <a:lnSpc>
                <a:spcPct val="110000"/>
              </a:lnSpc>
              <a:spcBef>
                <a:spcPts val="0"/>
              </a:spcBef>
              <a:spcAft>
                <a:spcPts val="600"/>
              </a:spcAft>
            </a:pPr>
            <a:r>
              <a:rPr lang="en-US" sz="2000" dirty="0"/>
              <a:t>Who (or what) are the populations?</a:t>
            </a:r>
          </a:p>
        </p:txBody>
      </p:sp>
      <p:cxnSp>
        <p:nvCxnSpPr>
          <p:cNvPr id="11" name="Straight Connector 10">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32CE74CA-181A-D4D0-A228-210FC3E0F086}"/>
              </a:ext>
            </a:extLst>
          </p:cNvPr>
          <p:cNvSpPr>
            <a:spLocks noGrp="1"/>
          </p:cNvSpPr>
          <p:nvPr>
            <p:ph sz="half" idx="2"/>
          </p:nvPr>
        </p:nvSpPr>
        <p:spPr>
          <a:xfrm>
            <a:off x="8451606" y="1118737"/>
            <a:ext cx="3197700" cy="4874290"/>
          </a:xfrm>
        </p:spPr>
        <p:txBody>
          <a:bodyPr>
            <a:normAutofit/>
          </a:bodyPr>
          <a:lstStyle/>
          <a:p>
            <a:pPr>
              <a:spcBef>
                <a:spcPts val="0"/>
              </a:spcBef>
              <a:spcAft>
                <a:spcPts val="600"/>
              </a:spcAft>
            </a:pPr>
            <a:r>
              <a:rPr lang="en-US" sz="2000" dirty="0"/>
              <a:t>Duration of study</a:t>
            </a:r>
          </a:p>
          <a:p>
            <a:pPr>
              <a:spcBef>
                <a:spcPts val="0"/>
              </a:spcBef>
              <a:spcAft>
                <a:spcPts val="600"/>
              </a:spcAft>
            </a:pPr>
            <a:r>
              <a:rPr lang="en-US" sz="2000" dirty="0"/>
              <a:t>Inclusion criteria</a:t>
            </a:r>
          </a:p>
          <a:p>
            <a:pPr>
              <a:spcBef>
                <a:spcPts val="0"/>
              </a:spcBef>
              <a:spcAft>
                <a:spcPts val="600"/>
              </a:spcAft>
            </a:pPr>
            <a:r>
              <a:rPr lang="en-US" sz="2000" dirty="0"/>
              <a:t>Sample size</a:t>
            </a:r>
          </a:p>
          <a:p>
            <a:pPr lvl="1">
              <a:spcBef>
                <a:spcPts val="0"/>
              </a:spcBef>
              <a:spcAft>
                <a:spcPts val="600"/>
              </a:spcAft>
            </a:pPr>
            <a:r>
              <a:rPr lang="en-US" sz="2000" dirty="0">
                <a:solidFill>
                  <a:srgbClr val="C00000"/>
                </a:solidFill>
              </a:rPr>
              <a:t>Effect size</a:t>
            </a:r>
          </a:p>
          <a:p>
            <a:pPr lvl="1">
              <a:spcBef>
                <a:spcPts val="0"/>
              </a:spcBef>
              <a:spcAft>
                <a:spcPts val="600"/>
              </a:spcAft>
            </a:pPr>
            <a:r>
              <a:rPr lang="en-US" sz="2000" dirty="0">
                <a:solidFill>
                  <a:srgbClr val="C00000"/>
                </a:solidFill>
              </a:rPr>
              <a:t>Significance level</a:t>
            </a:r>
          </a:p>
          <a:p>
            <a:pPr lvl="1">
              <a:spcBef>
                <a:spcPts val="0"/>
              </a:spcBef>
              <a:spcAft>
                <a:spcPts val="600"/>
              </a:spcAft>
            </a:pPr>
            <a:r>
              <a:rPr lang="en-US" sz="2000" dirty="0">
                <a:solidFill>
                  <a:srgbClr val="C00000"/>
                </a:solidFill>
              </a:rPr>
              <a:t>Power</a:t>
            </a:r>
          </a:p>
          <a:p>
            <a:pPr>
              <a:lnSpc>
                <a:spcPct val="110000"/>
              </a:lnSpc>
              <a:spcBef>
                <a:spcPts val="0"/>
              </a:spcBef>
              <a:spcAft>
                <a:spcPts val="600"/>
              </a:spcAft>
            </a:pPr>
            <a:r>
              <a:rPr lang="en-US" sz="2000" dirty="0"/>
              <a:t>What </a:t>
            </a:r>
            <a:r>
              <a:rPr lang="en-US" sz="2000" dirty="0">
                <a:solidFill>
                  <a:srgbClr val="C00000"/>
                </a:solidFill>
              </a:rPr>
              <a:t>response</a:t>
            </a:r>
            <a:r>
              <a:rPr lang="en-US" sz="2000" dirty="0"/>
              <a:t> to measure ?</a:t>
            </a:r>
          </a:p>
          <a:p>
            <a:pPr>
              <a:lnSpc>
                <a:spcPct val="110000"/>
              </a:lnSpc>
              <a:spcBef>
                <a:spcPts val="0"/>
              </a:spcBef>
              <a:spcAft>
                <a:spcPts val="600"/>
              </a:spcAft>
            </a:pPr>
            <a:r>
              <a:rPr lang="en-US" sz="2000" dirty="0"/>
              <a:t>How to measure that response?</a:t>
            </a:r>
          </a:p>
          <a:p>
            <a:pPr>
              <a:lnSpc>
                <a:spcPct val="110000"/>
              </a:lnSpc>
              <a:spcBef>
                <a:spcPts val="0"/>
              </a:spcBef>
              <a:spcAft>
                <a:spcPts val="600"/>
              </a:spcAft>
            </a:pPr>
            <a:r>
              <a:rPr lang="en-US" sz="2000" dirty="0"/>
              <a:t>Appropriate test statistic</a:t>
            </a:r>
          </a:p>
        </p:txBody>
      </p:sp>
    </p:spTree>
    <p:extLst>
      <p:ext uri="{BB962C8B-B14F-4D97-AF65-F5344CB8AC3E}">
        <p14:creationId xmlns:p14="http://schemas.microsoft.com/office/powerpoint/2010/main" val="22263842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D005E-64A4-81DD-D877-1D6AE34A565B}"/>
              </a:ext>
            </a:extLst>
          </p:cNvPr>
          <p:cNvSpPr>
            <a:spLocks noGrp="1"/>
          </p:cNvSpPr>
          <p:nvPr>
            <p:ph type="title"/>
          </p:nvPr>
        </p:nvSpPr>
        <p:spPr/>
        <p:txBody>
          <a:bodyPr>
            <a:normAutofit/>
          </a:bodyPr>
          <a:lstStyle/>
          <a:p>
            <a:pPr algn="ctr"/>
            <a:r>
              <a:rPr lang="en-US" dirty="0"/>
              <a:t>Variable choice, the p-value, differing results</a:t>
            </a:r>
            <a:br>
              <a:rPr lang="en-US" dirty="0"/>
            </a:br>
            <a:r>
              <a:rPr lang="en-US" sz="2700" dirty="0"/>
              <a:t>If the variable choice isn’t documented, be suspicious</a:t>
            </a:r>
          </a:p>
        </p:txBody>
      </p:sp>
      <p:sp>
        <p:nvSpPr>
          <p:cNvPr id="3" name="Content Placeholder 2">
            <a:extLst>
              <a:ext uri="{FF2B5EF4-FFF2-40B4-BE49-F238E27FC236}">
                <a16:creationId xmlns:a16="http://schemas.microsoft.com/office/drawing/2014/main" id="{79F5A814-B701-2721-FDFA-5123CB293A20}"/>
              </a:ext>
            </a:extLst>
          </p:cNvPr>
          <p:cNvSpPr>
            <a:spLocks noGrp="1"/>
          </p:cNvSpPr>
          <p:nvPr>
            <p:ph idx="1"/>
          </p:nvPr>
        </p:nvSpPr>
        <p:spPr/>
        <p:txBody>
          <a:bodyPr>
            <a:normAutofit/>
          </a:bodyPr>
          <a:lstStyle/>
          <a:p>
            <a:r>
              <a:rPr lang="en-US" dirty="0">
                <a:hlinkClick r:id="rId2"/>
              </a:rPr>
              <a:t>Number and range of levels changes effect size</a:t>
            </a:r>
            <a:endParaRPr lang="en-US" dirty="0"/>
          </a:p>
          <a:p>
            <a:endParaRPr lang="en-US" dirty="0"/>
          </a:p>
          <a:p>
            <a:r>
              <a:rPr lang="en-US" dirty="0">
                <a:hlinkClick r:id="rId3"/>
              </a:rPr>
              <a:t>Time to stop misusing p-values</a:t>
            </a:r>
            <a:endParaRPr lang="en-US" dirty="0"/>
          </a:p>
          <a:p>
            <a:pPr marL="0" indent="0">
              <a:buNone/>
            </a:pPr>
            <a:endParaRPr lang="en-US" dirty="0"/>
          </a:p>
          <a:p>
            <a:r>
              <a:rPr lang="en-US" dirty="0">
                <a:hlinkClick r:id="rId4"/>
              </a:rPr>
              <a:t>Variability in neuroimaging studies</a:t>
            </a:r>
            <a:endParaRPr lang="en-US" dirty="0"/>
          </a:p>
        </p:txBody>
      </p:sp>
    </p:spTree>
    <p:extLst>
      <p:ext uri="{BB962C8B-B14F-4D97-AF65-F5344CB8AC3E}">
        <p14:creationId xmlns:p14="http://schemas.microsoft.com/office/powerpoint/2010/main" val="34277434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710B7-03AD-CE9E-95CF-B1E5B549E533}"/>
              </a:ext>
            </a:extLst>
          </p:cNvPr>
          <p:cNvSpPr>
            <a:spLocks noGrp="1"/>
          </p:cNvSpPr>
          <p:nvPr>
            <p:ph type="title"/>
          </p:nvPr>
        </p:nvSpPr>
        <p:spPr/>
        <p:txBody>
          <a:bodyPr/>
          <a:lstStyle/>
          <a:p>
            <a:r>
              <a:rPr lang="en-US" dirty="0"/>
              <a:t>A is for Analysis Choice</a:t>
            </a:r>
          </a:p>
        </p:txBody>
      </p:sp>
      <p:sp>
        <p:nvSpPr>
          <p:cNvPr id="3" name="Content Placeholder 2">
            <a:extLst>
              <a:ext uri="{FF2B5EF4-FFF2-40B4-BE49-F238E27FC236}">
                <a16:creationId xmlns:a16="http://schemas.microsoft.com/office/drawing/2014/main" id="{1056A761-AFDF-66AE-49E4-8719B5E9BC22}"/>
              </a:ext>
            </a:extLst>
          </p:cNvPr>
          <p:cNvSpPr>
            <a:spLocks noGrp="1"/>
          </p:cNvSpPr>
          <p:nvPr>
            <p:ph idx="1"/>
          </p:nvPr>
        </p:nvSpPr>
        <p:spPr/>
        <p:txBody>
          <a:bodyPr>
            <a:normAutofit/>
          </a:bodyPr>
          <a:lstStyle/>
          <a:p>
            <a:r>
              <a:rPr lang="en-US" sz="4000" dirty="0"/>
              <a:t>How many clusters?</a:t>
            </a:r>
          </a:p>
          <a:p>
            <a:r>
              <a:rPr lang="en-US" sz="4000" dirty="0"/>
              <a:t>What similarity/dissimilarity measure?</a:t>
            </a:r>
          </a:p>
          <a:p>
            <a:r>
              <a:rPr lang="en-US" sz="4000" dirty="0"/>
              <a:t>What algorithm?</a:t>
            </a:r>
          </a:p>
          <a:p>
            <a:r>
              <a:rPr lang="en-US" sz="4000" dirty="0">
                <a:hlinkClick r:id="rId2"/>
              </a:rPr>
              <a:t>Researcher degrees of freedom</a:t>
            </a:r>
            <a:endParaRPr lang="en-US" sz="4000" dirty="0"/>
          </a:p>
        </p:txBody>
      </p:sp>
    </p:spTree>
    <p:extLst>
      <p:ext uri="{BB962C8B-B14F-4D97-AF65-F5344CB8AC3E}">
        <p14:creationId xmlns:p14="http://schemas.microsoft.com/office/powerpoint/2010/main" val="1515089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One luminous opened box among closed white square boxes">
            <a:extLst>
              <a:ext uri="{FF2B5EF4-FFF2-40B4-BE49-F238E27FC236}">
                <a16:creationId xmlns:a16="http://schemas.microsoft.com/office/drawing/2014/main" id="{9EF0E698-16EA-53E9-7FCC-BB3AFC178C6E}"/>
              </a:ext>
            </a:extLst>
          </p:cNvPr>
          <p:cNvPicPr>
            <a:picLocks noChangeAspect="1"/>
          </p:cNvPicPr>
          <p:nvPr/>
        </p:nvPicPr>
        <p:blipFill rotWithShape="1">
          <a:blip r:embed="rId2">
            <a:alphaModFix amt="50000"/>
          </a:blip>
          <a:srcRect t="21691" b="3309"/>
          <a:stretch/>
        </p:blipFill>
        <p:spPr>
          <a:xfrm>
            <a:off x="20" y="1"/>
            <a:ext cx="12191980" cy="6857999"/>
          </a:xfrm>
          <a:prstGeom prst="rect">
            <a:avLst/>
          </a:prstGeom>
        </p:spPr>
      </p:pic>
      <p:sp>
        <p:nvSpPr>
          <p:cNvPr id="2" name="Title 1">
            <a:extLst>
              <a:ext uri="{FF2B5EF4-FFF2-40B4-BE49-F238E27FC236}">
                <a16:creationId xmlns:a16="http://schemas.microsoft.com/office/drawing/2014/main" id="{791FE24A-FD1D-35C5-9F59-910F996B3182}"/>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Particularly a problem for high dimensional data</a:t>
            </a:r>
          </a:p>
        </p:txBody>
      </p:sp>
      <p:sp>
        <p:nvSpPr>
          <p:cNvPr id="3" name="Content Placeholder 2">
            <a:extLst>
              <a:ext uri="{FF2B5EF4-FFF2-40B4-BE49-F238E27FC236}">
                <a16:creationId xmlns:a16="http://schemas.microsoft.com/office/drawing/2014/main" id="{1CDAD421-B98A-F1D3-5E44-02D47EF11913}"/>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Curse of dimensionality</a:t>
            </a:r>
          </a:p>
        </p:txBody>
      </p:sp>
    </p:spTree>
    <p:extLst>
      <p:ext uri="{BB962C8B-B14F-4D97-AF65-F5344CB8AC3E}">
        <p14:creationId xmlns:p14="http://schemas.microsoft.com/office/powerpoint/2010/main" val="2357416828"/>
      </p:ext>
    </p:extLst>
  </p:cSld>
  <p:clrMapOvr>
    <a:overrideClrMapping bg1="dk1" tx1="lt1" bg2="dk2" tx2="lt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57C8-5BB1-4923-BD7A-4AD36489F7BE}"/>
              </a:ext>
            </a:extLst>
          </p:cNvPr>
          <p:cNvSpPr>
            <a:spLocks noGrp="1"/>
          </p:cNvSpPr>
          <p:nvPr>
            <p:ph type="title"/>
          </p:nvPr>
        </p:nvSpPr>
        <p:spPr>
          <a:xfrm>
            <a:off x="294289" y="430169"/>
            <a:ext cx="7325711" cy="1145009"/>
          </a:xfrm>
        </p:spPr>
        <p:txBody>
          <a:bodyPr>
            <a:normAutofit fontScale="90000"/>
          </a:bodyPr>
          <a:lstStyle/>
          <a:p>
            <a:r>
              <a:rPr lang="en-US" sz="4400" dirty="0"/>
              <a:t>Geometry of multivariate probability distributions is weird</a:t>
            </a:r>
          </a:p>
        </p:txBody>
      </p:sp>
      <p:sp>
        <p:nvSpPr>
          <p:cNvPr id="5" name="TextBox 4">
            <a:extLst>
              <a:ext uri="{FF2B5EF4-FFF2-40B4-BE49-F238E27FC236}">
                <a16:creationId xmlns:a16="http://schemas.microsoft.com/office/drawing/2014/main" id="{4E71AD97-31C3-4F58-9D0A-5824DF9CE2CE}"/>
              </a:ext>
            </a:extLst>
          </p:cNvPr>
          <p:cNvSpPr txBox="1"/>
          <p:nvPr/>
        </p:nvSpPr>
        <p:spPr>
          <a:xfrm>
            <a:off x="262421" y="2119803"/>
            <a:ext cx="7515181"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Curse of dimensionality</a:t>
            </a:r>
          </a:p>
          <a:p>
            <a:pPr marL="457200" indent="-457200">
              <a:buFont typeface="Arial" panose="020B0604020202020204" pitchFamily="34" charset="0"/>
              <a:buChar char="•"/>
            </a:pPr>
            <a:r>
              <a:rPr lang="en-US" sz="2800" dirty="0"/>
              <a:t>Unimodal distributions are far less likely</a:t>
            </a:r>
          </a:p>
          <a:p>
            <a:pPr marL="457200" indent="-457200">
              <a:buFont typeface="Arial" panose="020B0604020202020204" pitchFamily="34" charset="0"/>
              <a:buChar char="•"/>
            </a:pPr>
            <a:r>
              <a:rPr lang="en-US" sz="2800" dirty="0"/>
              <a:t>Big-data paradox (</a:t>
            </a:r>
            <a:r>
              <a:rPr lang="en-US" sz="2800" dirty="0">
                <a:hlinkClick r:id="rId2"/>
              </a:rPr>
              <a:t>Xiao-Li Meng, Harvard University</a:t>
            </a:r>
            <a:r>
              <a:rPr lang="en-US" sz="2800" dirty="0"/>
              <a:t>)</a:t>
            </a:r>
          </a:p>
          <a:p>
            <a:pPr marL="457200" indent="-457200">
              <a:buFont typeface="Arial" panose="020B0604020202020204" pitchFamily="34" charset="0"/>
              <a:buChar char="•"/>
            </a:pPr>
            <a:r>
              <a:rPr lang="en-US" sz="2800" dirty="0">
                <a:hlinkClick r:id="rId3"/>
              </a:rPr>
              <a:t>An extreme example</a:t>
            </a:r>
            <a:endParaRPr lang="en-US" sz="2800" dirty="0"/>
          </a:p>
        </p:txBody>
      </p:sp>
      <p:pic>
        <p:nvPicPr>
          <p:cNvPr id="4" name="Picture 3">
            <a:extLst>
              <a:ext uri="{FF2B5EF4-FFF2-40B4-BE49-F238E27FC236}">
                <a16:creationId xmlns:a16="http://schemas.microsoft.com/office/drawing/2014/main" id="{08DD0D38-062D-C76A-8FF6-15CCEE3C1F0D}"/>
              </a:ext>
            </a:extLst>
          </p:cNvPr>
          <p:cNvPicPr>
            <a:picLocks noChangeAspect="1"/>
          </p:cNvPicPr>
          <p:nvPr/>
        </p:nvPicPr>
        <p:blipFill rotWithShape="1">
          <a:blip r:embed="rId4"/>
          <a:srcRect b="4387"/>
          <a:stretch/>
        </p:blipFill>
        <p:spPr>
          <a:xfrm>
            <a:off x="8256345" y="129211"/>
            <a:ext cx="3425043" cy="3299789"/>
          </a:xfrm>
          <a:prstGeom prst="rect">
            <a:avLst/>
          </a:prstGeom>
        </p:spPr>
      </p:pic>
      <p:pic>
        <p:nvPicPr>
          <p:cNvPr id="7" name="Picture 6">
            <a:extLst>
              <a:ext uri="{FF2B5EF4-FFF2-40B4-BE49-F238E27FC236}">
                <a16:creationId xmlns:a16="http://schemas.microsoft.com/office/drawing/2014/main" id="{AE562CC4-EA78-1D51-A276-FE9E7B7C859F}"/>
              </a:ext>
            </a:extLst>
          </p:cNvPr>
          <p:cNvPicPr>
            <a:picLocks noChangeAspect="1"/>
          </p:cNvPicPr>
          <p:nvPr/>
        </p:nvPicPr>
        <p:blipFill>
          <a:blip r:embed="rId5"/>
          <a:stretch>
            <a:fillRect/>
          </a:stretch>
        </p:blipFill>
        <p:spPr>
          <a:xfrm>
            <a:off x="8476381" y="3027744"/>
            <a:ext cx="2984969" cy="2921459"/>
          </a:xfrm>
          <a:prstGeom prst="rect">
            <a:avLst/>
          </a:prstGeom>
        </p:spPr>
      </p:pic>
      <p:sp>
        <p:nvSpPr>
          <p:cNvPr id="8" name="TextBox 7">
            <a:extLst>
              <a:ext uri="{FF2B5EF4-FFF2-40B4-BE49-F238E27FC236}">
                <a16:creationId xmlns:a16="http://schemas.microsoft.com/office/drawing/2014/main" id="{357CBAF9-6A6F-8755-C44F-5D1240E56D15}"/>
              </a:ext>
            </a:extLst>
          </p:cNvPr>
          <p:cNvSpPr txBox="1"/>
          <p:nvPr/>
        </p:nvSpPr>
        <p:spPr>
          <a:xfrm>
            <a:off x="3581400" y="6009670"/>
            <a:ext cx="8392405" cy="923330"/>
          </a:xfrm>
          <a:prstGeom prst="rect">
            <a:avLst/>
          </a:prstGeom>
          <a:noFill/>
        </p:spPr>
        <p:txBody>
          <a:bodyPr wrap="square" rtlCol="0">
            <a:spAutoFit/>
          </a:bodyPr>
          <a:lstStyle/>
          <a:p>
            <a:r>
              <a:rPr lang="en-US" dirty="0"/>
              <a:t>Projections of 28-dimensional vectors describing data points in a big-data analysis of the inner structure of protons. From B.-T. Wang et al., </a:t>
            </a:r>
            <a:r>
              <a:rPr lang="en-US" i="1" dirty="0" err="1"/>
              <a:t>Phys.Rev.D</a:t>
            </a:r>
            <a:r>
              <a:rPr lang="en-US" dirty="0"/>
              <a:t> 98 (2018) 9, 094030</a:t>
            </a:r>
          </a:p>
          <a:p>
            <a:r>
              <a:rPr lang="en-US" dirty="0"/>
              <a:t> </a:t>
            </a:r>
          </a:p>
        </p:txBody>
      </p:sp>
      <p:sp>
        <p:nvSpPr>
          <p:cNvPr id="3" name="TextBox 2">
            <a:extLst>
              <a:ext uri="{FF2B5EF4-FFF2-40B4-BE49-F238E27FC236}">
                <a16:creationId xmlns:a16="http://schemas.microsoft.com/office/drawing/2014/main" id="{3599FE80-90E1-6E44-F6D1-FC7C025D31D2}"/>
              </a:ext>
            </a:extLst>
          </p:cNvPr>
          <p:cNvSpPr txBox="1"/>
          <p:nvPr/>
        </p:nvSpPr>
        <p:spPr>
          <a:xfrm>
            <a:off x="1106060" y="4587956"/>
            <a:ext cx="4950679" cy="1200329"/>
          </a:xfrm>
          <a:prstGeom prst="rect">
            <a:avLst/>
          </a:prstGeom>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3600" dirty="0"/>
              <a:t>The Bigger the Data, the surer we fool ourselves</a:t>
            </a:r>
          </a:p>
        </p:txBody>
      </p:sp>
    </p:spTree>
    <p:extLst>
      <p:ext uri="{BB962C8B-B14F-4D97-AF65-F5344CB8AC3E}">
        <p14:creationId xmlns:p14="http://schemas.microsoft.com/office/powerpoint/2010/main" val="3141230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A692261-8C12-06C9-2831-D2C5834C5332}"/>
              </a:ext>
            </a:extLst>
          </p:cNvPr>
          <p:cNvPicPr>
            <a:picLocks noChangeAspect="1"/>
          </p:cNvPicPr>
          <p:nvPr/>
        </p:nvPicPr>
        <p:blipFill>
          <a:blip r:embed="rId2"/>
          <a:stretch>
            <a:fillRect/>
          </a:stretch>
        </p:blipFill>
        <p:spPr>
          <a:xfrm>
            <a:off x="228600" y="5751"/>
            <a:ext cx="5562600" cy="3661927"/>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6D33227-347F-5917-0E13-12722F506145}"/>
                  </a:ext>
                </a:extLst>
              </p:cNvPr>
              <p:cNvSpPr txBox="1"/>
              <p:nvPr/>
            </p:nvSpPr>
            <p:spPr>
              <a:xfrm>
                <a:off x="10611548" y="262124"/>
                <a:ext cx="1137940" cy="461665"/>
              </a:xfrm>
              <a:prstGeom prst="rect">
                <a:avLst/>
              </a:prstGeom>
              <a:solidFill>
                <a:srgbClr val="FCD5B5"/>
              </a:solidFill>
            </p:spPr>
            <p:txBody>
              <a:bodyPr wrap="none" rtlCol="0">
                <a:spAutoFit/>
              </a:bodyPr>
              <a:lstStyle/>
              <a:p>
                <a:r>
                  <a:rPr lang="en-US" sz="2400" b="1" dirty="0"/>
                  <a:t>Large </a:t>
                </a:r>
                <a14:m>
                  <m:oMath xmlns:m="http://schemas.openxmlformats.org/officeDocument/2006/math">
                    <m:r>
                      <a:rPr lang="en-US" sz="2400" b="1" i="1" smtClean="0">
                        <a:latin typeface="Cambria Math" panose="02040503050406030204" pitchFamily="18" charset="0"/>
                      </a:rPr>
                      <m:t>𝒅</m:t>
                    </m:r>
                  </m:oMath>
                </a14:m>
                <a:endParaRPr lang="en-US" sz="2400" b="1" dirty="0"/>
              </a:p>
            </p:txBody>
          </p:sp>
        </mc:Choice>
        <mc:Fallback xmlns="">
          <p:sp>
            <p:nvSpPr>
              <p:cNvPr id="5" name="TextBox 4">
                <a:extLst>
                  <a:ext uri="{FF2B5EF4-FFF2-40B4-BE49-F238E27FC236}">
                    <a16:creationId xmlns:a16="http://schemas.microsoft.com/office/drawing/2014/main" id="{76D33227-347F-5917-0E13-12722F506145}"/>
                  </a:ext>
                </a:extLst>
              </p:cNvPr>
              <p:cNvSpPr txBox="1">
                <a:spLocks noRot="1" noChangeAspect="1" noMove="1" noResize="1" noEditPoints="1" noAdjustHandles="1" noChangeArrowheads="1" noChangeShapeType="1" noTextEdit="1"/>
              </p:cNvSpPr>
              <p:nvPr/>
            </p:nvSpPr>
            <p:spPr>
              <a:xfrm>
                <a:off x="10611548" y="262124"/>
                <a:ext cx="1137940" cy="461665"/>
              </a:xfrm>
              <a:prstGeom prst="rect">
                <a:avLst/>
              </a:prstGeom>
              <a:blipFill>
                <a:blip r:embed="rId3"/>
                <a:stretch>
                  <a:fillRect l="-8602" t="-10526" r="-1075" b="-2894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D7E7C9C2-401A-2D24-5238-1B9759D8E4D2}"/>
              </a:ext>
            </a:extLst>
          </p:cNvPr>
          <p:cNvPicPr>
            <a:picLocks noChangeAspect="1"/>
          </p:cNvPicPr>
          <p:nvPr/>
        </p:nvPicPr>
        <p:blipFill>
          <a:blip r:embed="rId4"/>
          <a:stretch>
            <a:fillRect/>
          </a:stretch>
        </p:blipFill>
        <p:spPr>
          <a:xfrm>
            <a:off x="685800" y="3505200"/>
            <a:ext cx="4267200" cy="3093720"/>
          </a:xfrm>
          <a:prstGeom prst="rect">
            <a:avLst/>
          </a:prstGeom>
        </p:spPr>
      </p:pic>
      <p:sp>
        <p:nvSpPr>
          <p:cNvPr id="8" name="TextBox 7">
            <a:extLst>
              <a:ext uri="{FF2B5EF4-FFF2-40B4-BE49-F238E27FC236}">
                <a16:creationId xmlns:a16="http://schemas.microsoft.com/office/drawing/2014/main" id="{7ACD693C-E3E6-C8A3-C457-B3C008FCA0DC}"/>
              </a:ext>
            </a:extLst>
          </p:cNvPr>
          <p:cNvSpPr txBox="1"/>
          <p:nvPr/>
        </p:nvSpPr>
        <p:spPr>
          <a:xfrm>
            <a:off x="6110688" y="1524000"/>
            <a:ext cx="5638800" cy="4401205"/>
          </a:xfrm>
          <a:prstGeom prst="rect">
            <a:avLst/>
          </a:prstGeom>
          <a:noFill/>
        </p:spPr>
        <p:txBody>
          <a:bodyPr wrap="square" rtlCol="0">
            <a:spAutoFit/>
          </a:bodyPr>
          <a:lstStyle/>
          <a:p>
            <a:r>
              <a:rPr lang="en-US" sz="2000" dirty="0"/>
              <a:t>With many parameters, probability distributions often behave as landscapes dominated by saddle points. </a:t>
            </a:r>
          </a:p>
          <a:p>
            <a:endParaRPr lang="en-US" sz="2000" dirty="0"/>
          </a:p>
          <a:p>
            <a:r>
              <a:rPr lang="en-US" sz="2000" dirty="0"/>
              <a:t>These saddle points have practically the same value of the probability or loss function.</a:t>
            </a:r>
          </a:p>
          <a:p>
            <a:endParaRPr lang="en-US" sz="2000" dirty="0"/>
          </a:p>
          <a:p>
            <a:r>
              <a:rPr lang="en-US" sz="2000" dirty="0"/>
              <a:t>Looking for an exact global maximum becomes impractical. Numerically, maximization does not converge.</a:t>
            </a:r>
          </a:p>
          <a:p>
            <a:endParaRPr lang="en-US" sz="2000" dirty="0"/>
          </a:p>
          <a:p>
            <a:r>
              <a:rPr lang="en-US" sz="2000" dirty="0"/>
              <a:t>Credibility intervals are determined by the full set of equivalent saddle points rather than by a neighborhood of the global maximum.</a:t>
            </a:r>
          </a:p>
        </p:txBody>
      </p:sp>
    </p:spTree>
    <p:extLst>
      <p:ext uri="{BB962C8B-B14F-4D97-AF65-F5344CB8AC3E}">
        <p14:creationId xmlns:p14="http://schemas.microsoft.com/office/powerpoint/2010/main" val="25294016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9343" y="194805"/>
            <a:ext cx="10515600" cy="1147667"/>
          </a:xfrm>
        </p:spPr>
        <p:txBody>
          <a:bodyPr/>
          <a:lstStyle/>
          <a:p>
            <a:r>
              <a:rPr lang="en-US" dirty="0">
                <a:latin typeface="Nueva Std Cond" panose="020B0506070504020203" pitchFamily="34" charset="0"/>
              </a:rPr>
              <a:t>Volume of a unit ball in n dimensions</a:t>
            </a:r>
          </a:p>
        </p:txBody>
      </p:sp>
      <p:sp>
        <p:nvSpPr>
          <p:cNvPr id="5" name="Footer Placeholder 4"/>
          <p:cNvSpPr>
            <a:spLocks noGrp="1"/>
          </p:cNvSpPr>
          <p:nvPr>
            <p:ph type="ftr" sz="quarter" idx="11"/>
          </p:nvPr>
        </p:nvSpPr>
        <p:spPr>
          <a:xfrm>
            <a:off x="4648201" y="6254652"/>
            <a:ext cx="2895600" cy="476250"/>
          </a:xfrm>
        </p:spPr>
        <p:txBody>
          <a:bodyPr/>
          <a:lstStyle/>
          <a:p>
            <a:pPr fontAlgn="base">
              <a:spcBef>
                <a:spcPct val="0"/>
              </a:spcBef>
              <a:spcAft>
                <a:spcPct val="0"/>
              </a:spcAft>
              <a:defRPr/>
            </a:pPr>
            <a:r>
              <a:rPr lang="en-US"/>
              <a:t>P. Nadolsky, Think-Play-Hack, Taos</a:t>
            </a:r>
            <a:endParaRPr lang="en-GB" dirty="0"/>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F311BA8A-B252-41B4-9EBD-47EF7D1734B1}" type="slidenum">
              <a:rPr lang="en-GB" smtClean="0"/>
              <a:pPr fontAlgn="base">
                <a:spcBef>
                  <a:spcPct val="0"/>
                </a:spcBef>
                <a:spcAft>
                  <a:spcPct val="0"/>
                </a:spcAft>
                <a:defRPr/>
              </a:pPr>
              <a:t>24</a:t>
            </a:fld>
            <a:endParaRPr lang="en-GB" dirty="0"/>
          </a:p>
        </p:txBody>
      </p:sp>
      <p:pic>
        <p:nvPicPr>
          <p:cNvPr id="8" name="Picture 7"/>
          <p:cNvPicPr>
            <a:picLocks noChangeAspect="1"/>
          </p:cNvPicPr>
          <p:nvPr/>
        </p:nvPicPr>
        <p:blipFill>
          <a:blip r:embed="rId2"/>
          <a:stretch>
            <a:fillRect/>
          </a:stretch>
        </p:blipFill>
        <p:spPr>
          <a:xfrm>
            <a:off x="2110438" y="1310878"/>
            <a:ext cx="6305210" cy="4322932"/>
          </a:xfrm>
          <a:prstGeom prst="rect">
            <a:avLst/>
          </a:prstGeom>
        </p:spPr>
      </p:pic>
      <mc:AlternateContent xmlns:mc="http://schemas.openxmlformats.org/markup-compatibility/2006" xmlns:a14="http://schemas.microsoft.com/office/drawing/2010/main">
        <mc:Choice Requires="a14">
          <p:sp>
            <p:nvSpPr>
              <p:cNvPr id="9" name="TextBox 8"/>
              <p:cNvSpPr txBox="1"/>
              <p:nvPr/>
            </p:nvSpPr>
            <p:spPr>
              <a:xfrm>
                <a:off x="4839857" y="1502863"/>
                <a:ext cx="3140363" cy="168571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𝑉</m:t>
                          </m:r>
                        </m:e>
                        <m:sub>
                          <m:r>
                            <a:rPr lang="en-US" i="1" smtClean="0">
                              <a:latin typeface="Cambria Math" panose="02040503050406030204" pitchFamily="18" charset="0"/>
                            </a:rPr>
                            <m:t>𝑛</m:t>
                          </m:r>
                        </m:sub>
                      </m:sSub>
                      <m:r>
                        <a:rPr lang="en-US" i="1">
                          <a:latin typeface="Cambria Math" panose="02040503050406030204" pitchFamily="18" charset="0"/>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𝑛</m:t>
                              </m:r>
                              <m:r>
                                <a:rPr lang="en-US" i="1">
                                  <a:latin typeface="Cambria Math" panose="02040503050406030204" pitchFamily="18" charset="0"/>
                                </a:rPr>
                                <m:t>/2</m:t>
                              </m:r>
                            </m:sup>
                          </m:sSup>
                        </m:num>
                        <m:den>
                          <m:r>
                            <m:rPr>
                              <m:sty m:val="p"/>
                            </m:rPr>
                            <a:rPr lang="en-US">
                              <a:latin typeface="Cambria Math" panose="02040503050406030204" pitchFamily="18" charset="0"/>
                            </a:rPr>
                            <m:t>Γ</m:t>
                          </m:r>
                          <m:d>
                            <m:dPr>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𝑛</m:t>
                                  </m:r>
                                </m:num>
                                <m:den>
                                  <m:r>
                                    <a:rPr lang="en-US" i="1">
                                      <a:latin typeface="Cambria Math" panose="02040503050406030204" pitchFamily="18" charset="0"/>
                                    </a:rPr>
                                    <m:t>2</m:t>
                                  </m:r>
                                </m:den>
                              </m:f>
                              <m:r>
                                <a:rPr lang="en-US" i="1">
                                  <a:latin typeface="Cambria Math" panose="02040503050406030204" pitchFamily="18" charset="0"/>
                                </a:rPr>
                                <m:t>+1</m:t>
                              </m:r>
                            </m:e>
                          </m:d>
                        </m:den>
                      </m:f>
                      <m:sSup>
                        <m:sSupPr>
                          <m:ctrlPr>
                            <a:rPr lang="en-US" i="1">
                              <a:latin typeface="Cambria Math" panose="02040503050406030204" pitchFamily="18" charset="0"/>
                            </a:rPr>
                          </m:ctrlPr>
                        </m:sSupPr>
                        <m:e>
                          <m:r>
                            <a:rPr lang="en-US" i="1">
                              <a:latin typeface="Cambria Math" panose="02040503050406030204" pitchFamily="18" charset="0"/>
                            </a:rPr>
                            <m:t>𝑅</m:t>
                          </m:r>
                        </m:e>
                        <m:sup>
                          <m:r>
                            <a:rPr lang="en-US" i="1">
                              <a:latin typeface="Cambria Math" panose="02040503050406030204" pitchFamily="18" charset="0"/>
                            </a:rPr>
                            <m:t>𝑛</m:t>
                          </m:r>
                        </m:sup>
                      </m:sSup>
                    </m:oMath>
                  </m:oMathPara>
                </a14:m>
                <a:endParaRPr lang="en-US" dirty="0"/>
              </a:p>
              <a:p>
                <a:endParaRPr lang="en-US" dirty="0"/>
              </a:p>
              <a:p>
                <a:r>
                  <a:rPr lang="en-US" dirty="0"/>
                  <a:t>Maximum at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≈2 </m:t>
                    </m:r>
                    <m:r>
                      <a:rPr lang="en-US" i="1">
                        <a:latin typeface="Cambria Math" panose="02040503050406030204" pitchFamily="18" charset="0"/>
                      </a:rPr>
                      <m:t>𝜋</m:t>
                    </m:r>
                    <m:sSup>
                      <m:sSupPr>
                        <m:ctrlPr>
                          <a:rPr lang="en-US" i="1">
                            <a:latin typeface="Cambria Math" panose="02040503050406030204" pitchFamily="18" charset="0"/>
                          </a:rPr>
                        </m:ctrlPr>
                      </m:sSupPr>
                      <m:e>
                        <m:r>
                          <a:rPr lang="en-US" i="1">
                            <a:latin typeface="Cambria Math" panose="02040503050406030204" pitchFamily="18" charset="0"/>
                          </a:rPr>
                          <m:t>𝑅</m:t>
                        </m:r>
                      </m:e>
                      <m:sup>
                        <m:r>
                          <a:rPr lang="en-US" i="1">
                            <a:latin typeface="Cambria Math" panose="02040503050406030204" pitchFamily="18" charset="0"/>
                          </a:rPr>
                          <m:t>2</m:t>
                        </m:r>
                      </m:sup>
                    </m:sSup>
                  </m:oMath>
                </a14:m>
                <a:r>
                  <a:rPr lang="en-US" dirty="0"/>
                  <a:t> for large </a:t>
                </a:r>
                <a14:m>
                  <m:oMath xmlns:m="http://schemas.openxmlformats.org/officeDocument/2006/math">
                    <m:r>
                      <m:rPr>
                        <m:sty m:val="p"/>
                      </m:rPr>
                      <a:rPr lang="en-US">
                        <a:latin typeface="Cambria Math" panose="02040503050406030204" pitchFamily="18" charset="0"/>
                      </a:rPr>
                      <m:t>R</m:t>
                    </m:r>
                    <m:r>
                      <a:rPr lang="en-US">
                        <a:latin typeface="Cambria Math" panose="02040503050406030204" pitchFamily="18" charset="0"/>
                      </a:rPr>
                      <m:t>,</m:t>
                    </m:r>
                    <m:r>
                      <a:rPr lang="en-US" i="1">
                        <a:latin typeface="Cambria Math" panose="02040503050406030204" pitchFamily="18" charset="0"/>
                      </a:rPr>
                      <m:t>𝑛</m:t>
                    </m:r>
                  </m:oMath>
                </a14:m>
                <a:endParaRPr lang="en-US" dirty="0"/>
              </a:p>
            </p:txBody>
          </p:sp>
        </mc:Choice>
        <mc:Fallback xmlns="">
          <p:sp>
            <p:nvSpPr>
              <p:cNvPr id="9" name="TextBox 8"/>
              <p:cNvSpPr txBox="1">
                <a:spLocks noRot="1" noChangeAspect="1" noMove="1" noResize="1" noEditPoints="1" noAdjustHandles="1" noChangeArrowheads="1" noChangeShapeType="1" noTextEdit="1"/>
              </p:cNvSpPr>
              <p:nvPr/>
            </p:nvSpPr>
            <p:spPr>
              <a:xfrm>
                <a:off x="4839857" y="1502863"/>
                <a:ext cx="3140363" cy="1685718"/>
              </a:xfrm>
              <a:prstGeom prst="rect">
                <a:avLst/>
              </a:prstGeom>
              <a:blipFill>
                <a:blip r:embed="rId3"/>
                <a:stretch>
                  <a:fillRect l="-1748" b="-5072"/>
                </a:stretch>
              </a:blipFill>
            </p:spPr>
            <p:txBody>
              <a:bodyPr/>
              <a:lstStyle/>
              <a:p>
                <a:r>
                  <a:rPr lang="en-US">
                    <a:noFill/>
                  </a:rPr>
                  <a:t> </a:t>
                </a:r>
              </a:p>
            </p:txBody>
          </p:sp>
        </mc:Fallback>
      </mc:AlternateContent>
      <p:sp>
        <p:nvSpPr>
          <p:cNvPr id="11" name="Up Arrow 10"/>
          <p:cNvSpPr/>
          <p:nvPr/>
        </p:nvSpPr>
        <p:spPr bwMode="auto">
          <a:xfrm rot="18487996">
            <a:off x="7416175" y="4874014"/>
            <a:ext cx="255253" cy="640857"/>
          </a:xfrm>
          <a:prstGeom prst="upArrow">
            <a:avLst/>
          </a:prstGeom>
          <a:solidFill>
            <a:srgbClr val="C85523"/>
          </a:solidFill>
          <a:ln w="952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fontAlgn="base">
              <a:spcBef>
                <a:spcPct val="0"/>
              </a:spcBef>
              <a:spcAft>
                <a:spcPct val="0"/>
              </a:spcAft>
            </a:pPr>
            <a:endParaRPr lang="en-US">
              <a:latin typeface="Arial" charset="0"/>
            </a:endParaRPr>
          </a:p>
        </p:txBody>
      </p:sp>
      <p:sp>
        <p:nvSpPr>
          <p:cNvPr id="12" name="TextBox 11"/>
          <p:cNvSpPr txBox="1"/>
          <p:nvPr/>
        </p:nvSpPr>
        <p:spPr>
          <a:xfrm>
            <a:off x="6548488" y="4420662"/>
            <a:ext cx="827471" cy="369332"/>
          </a:xfrm>
          <a:prstGeom prst="rect">
            <a:avLst/>
          </a:prstGeom>
          <a:noFill/>
        </p:spPr>
        <p:txBody>
          <a:bodyPr wrap="none" rtlCol="0">
            <a:spAutoFit/>
          </a:bodyPr>
          <a:lstStyle/>
          <a:p>
            <a:r>
              <a:rPr lang="en-US"/>
              <a:t>0.0009</a:t>
            </a:r>
          </a:p>
        </p:txBody>
      </p:sp>
      <p:sp>
        <p:nvSpPr>
          <p:cNvPr id="13" name="Date Placeholder 12"/>
          <p:cNvSpPr>
            <a:spLocks noGrp="1"/>
          </p:cNvSpPr>
          <p:nvPr>
            <p:ph type="dt" sz="half" idx="10"/>
          </p:nvPr>
        </p:nvSpPr>
        <p:spPr/>
        <p:txBody>
          <a:bodyPr/>
          <a:lstStyle/>
          <a:p>
            <a:pPr fontAlgn="base">
              <a:spcBef>
                <a:spcPct val="0"/>
              </a:spcBef>
              <a:spcAft>
                <a:spcPct val="0"/>
              </a:spcAft>
              <a:defRPr/>
            </a:pPr>
            <a:r>
              <a:rPr lang="en-US"/>
              <a:t>2019-07-03</a:t>
            </a:r>
            <a:endParaRPr lang="en-GB" dirty="0"/>
          </a:p>
        </p:txBody>
      </p:sp>
      <p:sp>
        <p:nvSpPr>
          <p:cNvPr id="3" name="TextBox 2">
            <a:extLst>
              <a:ext uri="{FF2B5EF4-FFF2-40B4-BE49-F238E27FC236}">
                <a16:creationId xmlns:a16="http://schemas.microsoft.com/office/drawing/2014/main" id="{6992C95A-D6E7-308B-EFC3-08AAE8C04056}"/>
              </a:ext>
            </a:extLst>
          </p:cNvPr>
          <p:cNvSpPr txBox="1"/>
          <p:nvPr/>
        </p:nvSpPr>
        <p:spPr>
          <a:xfrm>
            <a:off x="7620002" y="5457295"/>
            <a:ext cx="4724398" cy="738664"/>
          </a:xfrm>
          <a:prstGeom prst="rect">
            <a:avLst/>
          </a:prstGeom>
          <a:noFill/>
        </p:spPr>
        <p:txBody>
          <a:bodyPr wrap="square" rtlCol="0">
            <a:spAutoFit/>
          </a:bodyPr>
          <a:lstStyle/>
          <a:p>
            <a:r>
              <a:rPr lang="en-US" sz="2400" b="1" dirty="0">
                <a:solidFill>
                  <a:srgbClr val="C00000"/>
                </a:solidFill>
              </a:rPr>
              <a:t>The Curse of Dimensionality!</a:t>
            </a:r>
          </a:p>
          <a:p>
            <a:r>
              <a:rPr lang="en-US" b="1" dirty="0"/>
              <a:t>Identified by Richard E. Bellman in 1961</a:t>
            </a:r>
          </a:p>
        </p:txBody>
      </p:sp>
    </p:spTree>
    <p:extLst>
      <p:ext uri="{BB962C8B-B14F-4D97-AF65-F5344CB8AC3E}">
        <p14:creationId xmlns:p14="http://schemas.microsoft.com/office/powerpoint/2010/main" val="37922611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246095" y="875490"/>
            <a:ext cx="2985288" cy="567290"/>
          </a:xfrm>
        </p:spPr>
        <p:txBody>
          <a:bodyPr>
            <a:noAutofit/>
          </a:bodyPr>
          <a:lstStyle/>
          <a:p>
            <a:r>
              <a:rPr lang="en-US" sz="4000" b="1" dirty="0">
                <a:latin typeface="Nueva Std Cond" panose="020B0506070504020203" pitchFamily="34" charset="0"/>
              </a:rPr>
              <a:t>Compare </a:t>
            </a:r>
            <a:endParaRPr lang="en-US" sz="1600" dirty="0">
              <a:solidFill>
                <a:schemeClr val="tx1"/>
              </a:solidFill>
              <a:latin typeface="+mn-lt"/>
            </a:endParaRPr>
          </a:p>
        </p:txBody>
      </p:sp>
      <p:cxnSp>
        <p:nvCxnSpPr>
          <p:cNvPr id="15" name="Straight Arrow Connector 14"/>
          <p:cNvCxnSpPr/>
          <p:nvPr/>
        </p:nvCxnSpPr>
        <p:spPr bwMode="auto">
          <a:xfrm>
            <a:off x="2290274" y="5104439"/>
            <a:ext cx="404020" cy="0"/>
          </a:xfrm>
          <a:prstGeom prst="straightConnector1">
            <a:avLst/>
          </a:prstGeom>
          <a:solidFill>
            <a:schemeClr val="accent1"/>
          </a:solidFill>
          <a:ln w="19050" cap="flat" cmpd="sng" algn="ctr">
            <a:solidFill>
              <a:srgbClr val="C00000"/>
            </a:solidFill>
            <a:prstDash val="sysDot"/>
            <a:round/>
            <a:headEnd type="none" w="med" len="med"/>
            <a:tailEnd type="none"/>
          </a:ln>
          <a:effectLst/>
        </p:spPr>
      </p:cxnSp>
      <p:cxnSp>
        <p:nvCxnSpPr>
          <p:cNvPr id="19" name="Straight Arrow Connector 18"/>
          <p:cNvCxnSpPr/>
          <p:nvPr/>
        </p:nvCxnSpPr>
        <p:spPr bwMode="auto">
          <a:xfrm>
            <a:off x="2730135" y="5083775"/>
            <a:ext cx="1703" cy="350582"/>
          </a:xfrm>
          <a:prstGeom prst="straightConnector1">
            <a:avLst/>
          </a:prstGeom>
          <a:solidFill>
            <a:schemeClr val="accent1"/>
          </a:solidFill>
          <a:ln w="19050" cap="flat" cmpd="sng" algn="ctr">
            <a:solidFill>
              <a:srgbClr val="C00000"/>
            </a:solidFill>
            <a:prstDash val="sysDot"/>
            <a:round/>
            <a:headEnd type="none" w="med" len="med"/>
            <a:tailEnd type="none"/>
          </a:ln>
          <a:effectLst/>
        </p:spPr>
      </p:cxnSp>
      <p:grpSp>
        <p:nvGrpSpPr>
          <p:cNvPr id="7" name="Group 6">
            <a:extLst>
              <a:ext uri="{FF2B5EF4-FFF2-40B4-BE49-F238E27FC236}">
                <a16:creationId xmlns:a16="http://schemas.microsoft.com/office/drawing/2014/main" id="{454D3F63-5881-14D0-C9ED-19B9B1A3E116}"/>
              </a:ext>
            </a:extLst>
          </p:cNvPr>
          <p:cNvGrpSpPr/>
          <p:nvPr/>
        </p:nvGrpSpPr>
        <p:grpSpPr>
          <a:xfrm>
            <a:off x="435429" y="689201"/>
            <a:ext cx="5985163" cy="5648606"/>
            <a:chOff x="1524001" y="323274"/>
            <a:chExt cx="5985163" cy="5648606"/>
          </a:xfrm>
        </p:grpSpPr>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50474" y="628540"/>
              <a:ext cx="4490417" cy="4630526"/>
            </a:xfrm>
            <a:prstGeom prst="rect">
              <a:avLst/>
            </a:prstGeom>
          </p:spPr>
        </p:pic>
        <p:cxnSp>
          <p:nvCxnSpPr>
            <p:cNvPr id="5" name="Straight Arrow Connector 4"/>
            <p:cNvCxnSpPr/>
            <p:nvPr/>
          </p:nvCxnSpPr>
          <p:spPr bwMode="auto">
            <a:xfrm flipV="1">
              <a:off x="2254433" y="323274"/>
              <a:ext cx="18368" cy="5139859"/>
            </a:xfrm>
            <a:prstGeom prst="straightConnector1">
              <a:avLst/>
            </a:prstGeom>
            <a:solidFill>
              <a:schemeClr val="accent1"/>
            </a:solidFill>
            <a:ln w="25400" cap="flat" cmpd="sng" algn="ctr">
              <a:solidFill>
                <a:srgbClr val="C00000"/>
              </a:solidFill>
              <a:prstDash val="solid"/>
              <a:round/>
              <a:headEnd type="none" w="med" len="med"/>
              <a:tailEnd type="triangle" w="lg" len="lg"/>
            </a:ln>
            <a:effectLst/>
          </p:spPr>
        </p:cxnSp>
        <p:cxnSp>
          <p:nvCxnSpPr>
            <p:cNvPr id="16" name="Straight Arrow Connector 15"/>
            <p:cNvCxnSpPr/>
            <p:nvPr/>
          </p:nvCxnSpPr>
          <p:spPr bwMode="auto">
            <a:xfrm>
              <a:off x="2248464" y="5463133"/>
              <a:ext cx="5260700" cy="0"/>
            </a:xfrm>
            <a:prstGeom prst="straightConnector1">
              <a:avLst/>
            </a:prstGeom>
            <a:solidFill>
              <a:schemeClr val="accent1"/>
            </a:solidFill>
            <a:ln w="25400" cap="flat" cmpd="sng" algn="ctr">
              <a:solidFill>
                <a:srgbClr val="C00000"/>
              </a:solidFill>
              <a:prstDash val="solid"/>
              <a:round/>
              <a:headEnd type="none" w="med" len="med"/>
              <a:tailEnd type="triangle" w="lg" len="lg"/>
            </a:ln>
            <a:effectLst/>
          </p:spPr>
        </p:cxnSp>
        <mc:AlternateContent xmlns:mc="http://schemas.openxmlformats.org/markup-compatibility/2006" xmlns:a14="http://schemas.microsoft.com/office/drawing/2010/main">
          <mc:Choice Requires="a14">
            <p:sp>
              <p:nvSpPr>
                <p:cNvPr id="26" name="TextBox 25"/>
                <p:cNvSpPr txBox="1"/>
                <p:nvPr/>
              </p:nvSpPr>
              <p:spPr>
                <a:xfrm>
                  <a:off x="4626835" y="5510215"/>
                  <a:ext cx="61856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
                          <a:rPr lang="en-US" sz="2400" i="1">
                            <a:latin typeface="Cambria Math" panose="02040503050406030204" pitchFamily="18" charset="0"/>
                          </a:rPr>
                          <m:t>𝑎</m:t>
                        </m:r>
                      </m:oMath>
                    </m:oMathPara>
                  </a14:m>
                  <a:endParaRPr lang="en-US" sz="2000"/>
                </a:p>
              </p:txBody>
            </p:sp>
          </mc:Choice>
          <mc:Fallback xmlns="">
            <p:sp>
              <p:nvSpPr>
                <p:cNvPr id="26" name="TextBox 25"/>
                <p:cNvSpPr txBox="1">
                  <a:spLocks noRot="1" noChangeAspect="1" noMove="1" noResize="1" noEditPoints="1" noAdjustHandles="1" noChangeArrowheads="1" noChangeShapeType="1" noTextEdit="1"/>
                </p:cNvSpPr>
                <p:nvPr/>
              </p:nvSpPr>
              <p:spPr>
                <a:xfrm>
                  <a:off x="4626835" y="5510215"/>
                  <a:ext cx="618567"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p:cNvSpPr txBox="1"/>
                <p:nvPr/>
              </p:nvSpPr>
              <p:spPr>
                <a:xfrm>
                  <a:off x="1524001" y="2758887"/>
                  <a:ext cx="61856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2</m:t>
                        </m:r>
                        <m:r>
                          <a:rPr lang="en-US" sz="2400" i="1">
                            <a:latin typeface="Cambria Math" panose="02040503050406030204" pitchFamily="18" charset="0"/>
                          </a:rPr>
                          <m:t>𝑎</m:t>
                        </m:r>
                      </m:oMath>
                    </m:oMathPara>
                  </a14:m>
                  <a:endParaRPr lang="en-US" sz="2000" dirty="0"/>
                </a:p>
              </p:txBody>
            </p:sp>
          </mc:Choice>
          <mc:Fallback xmlns="">
            <p:sp>
              <p:nvSpPr>
                <p:cNvPr id="43" name="TextBox 42"/>
                <p:cNvSpPr txBox="1">
                  <a:spLocks noRot="1" noChangeAspect="1" noMove="1" noResize="1" noEditPoints="1" noAdjustHandles="1" noChangeArrowheads="1" noChangeShapeType="1" noTextEdit="1"/>
                </p:cNvSpPr>
                <p:nvPr/>
              </p:nvSpPr>
              <p:spPr>
                <a:xfrm>
                  <a:off x="1524001" y="2758887"/>
                  <a:ext cx="618567" cy="461665"/>
                </a:xfrm>
                <a:prstGeom prst="rect">
                  <a:avLst/>
                </a:prstGeom>
                <a:blipFill>
                  <a:blip r:embed="rId4"/>
                  <a:stretch>
                    <a:fillRect/>
                  </a:stretch>
                </a:blipFill>
              </p:spPr>
              <p:txBody>
                <a:bodyPr/>
                <a:lstStyle/>
                <a:p>
                  <a:r>
                    <a:rPr lang="en-US">
                      <a:noFill/>
                    </a:rPr>
                    <a:t> </a:t>
                  </a:r>
                </a:p>
              </p:txBody>
            </p:sp>
          </mc:Fallback>
        </mc:AlternateContent>
      </p:grpSp>
      <p:sp>
        <p:nvSpPr>
          <p:cNvPr id="4" name="TextBox 3"/>
          <p:cNvSpPr txBox="1"/>
          <p:nvPr/>
        </p:nvSpPr>
        <p:spPr>
          <a:xfrm>
            <a:off x="297213" y="6106974"/>
            <a:ext cx="2979662" cy="307777"/>
          </a:xfrm>
          <a:prstGeom prst="rect">
            <a:avLst/>
          </a:prstGeom>
          <a:noFill/>
        </p:spPr>
        <p:txBody>
          <a:bodyPr wrap="none" rtlCol="0">
            <a:spAutoFit/>
          </a:bodyPr>
          <a:lstStyle/>
          <a:p>
            <a:r>
              <a:rPr lang="en-US" sz="1400" dirty="0"/>
              <a:t>Image: sand painting, SMU-in-Taos</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0A679A4B-C6AE-573D-8682-9916D41B236C}"/>
                  </a:ext>
                </a:extLst>
              </p:cNvPr>
              <p:cNvGraphicFramePr>
                <a:graphicFrameLocks noGrp="1"/>
              </p:cNvGraphicFramePr>
              <p:nvPr>
                <p:extLst>
                  <p:ext uri="{D42A27DB-BD31-4B8C-83A1-F6EECF244321}">
                    <p14:modId xmlns:p14="http://schemas.microsoft.com/office/powerpoint/2010/main" val="3306579327"/>
                  </p:ext>
                </p:extLst>
              </p:nvPr>
            </p:nvGraphicFramePr>
            <p:xfrm>
              <a:off x="6236821" y="1677930"/>
              <a:ext cx="5519750" cy="2715982"/>
            </p:xfrm>
            <a:graphic>
              <a:graphicData uri="http://schemas.openxmlformats.org/drawingml/2006/table">
                <a:tbl>
                  <a:tblPr firstRow="1" bandRow="1">
                    <a:tableStyleId>{85BE263C-DBD7-4A20-BB59-AAB30ACAA65A}</a:tableStyleId>
                  </a:tblPr>
                  <a:tblGrid>
                    <a:gridCol w="2707001">
                      <a:extLst>
                        <a:ext uri="{9D8B030D-6E8A-4147-A177-3AD203B41FA5}">
                          <a16:colId xmlns:a16="http://schemas.microsoft.com/office/drawing/2014/main" val="2839265209"/>
                        </a:ext>
                      </a:extLst>
                    </a:gridCol>
                    <a:gridCol w="2812749">
                      <a:extLst>
                        <a:ext uri="{9D8B030D-6E8A-4147-A177-3AD203B41FA5}">
                          <a16:colId xmlns:a16="http://schemas.microsoft.com/office/drawing/2014/main" val="1445187659"/>
                        </a:ext>
                      </a:extLst>
                    </a:gridCol>
                  </a:tblGrid>
                  <a:tr h="590601">
                    <a:tc>
                      <a:txBody>
                        <a:bodyPr/>
                        <a:lstStyle/>
                        <a:p>
                          <a:pPr algn="ctr"/>
                          <a:r>
                            <a:rPr lang="en-US" dirty="0"/>
                            <a:t>Volume of Cube </a:t>
                          </a:r>
                        </a:p>
                        <a:p>
                          <a:pPr algn="ctr"/>
                          <a:r>
                            <a:rPr lang="en-US" dirty="0"/>
                            <a:t>with side 2a</a:t>
                          </a:r>
                        </a:p>
                      </a:txBody>
                      <a:tcPr/>
                    </a:tc>
                    <a:tc>
                      <a:txBody>
                        <a:bodyPr/>
                        <a:lstStyle/>
                        <a:p>
                          <a:pPr algn="ctr"/>
                          <a:r>
                            <a:rPr lang="en-US" dirty="0"/>
                            <a:t>Volume of a Sphere </a:t>
                          </a:r>
                        </a:p>
                        <a:p>
                          <a:pPr algn="ctr"/>
                          <a:r>
                            <a:rPr lang="en-US" dirty="0"/>
                            <a:t>with radius a</a:t>
                          </a:r>
                        </a:p>
                      </a:txBody>
                      <a:tcPr/>
                    </a:tc>
                    <a:extLst>
                      <a:ext uri="{0D108BD9-81ED-4DB2-BD59-A6C34878D82A}">
                        <a16:rowId xmlns:a16="http://schemas.microsoft.com/office/drawing/2014/main" val="1895000416"/>
                      </a:ext>
                    </a:extLst>
                  </a:tr>
                  <a:tr h="590601">
                    <a:tc>
                      <a:txBody>
                        <a:bodyPr/>
                        <a:lstStyle/>
                        <a:p>
                          <a:pPr algn="ctr"/>
                          <a:r>
                            <a:rPr lang="en-US" sz="3200" dirty="0"/>
                            <a:t>2 dimensions</a:t>
                          </a:r>
                        </a:p>
                      </a:txBody>
                      <a:tcPr/>
                    </a:tc>
                    <a:tc>
                      <a:txBody>
                        <a:bodyPr/>
                        <a:lstStyle/>
                        <a:p>
                          <a:pPr algn="ctr"/>
                          <a:r>
                            <a:rPr lang="en-US" sz="3200" dirty="0"/>
                            <a:t>25 dimensions</a:t>
                          </a:r>
                        </a:p>
                      </a:txBody>
                      <a:tcPr/>
                    </a:tc>
                    <a:extLst>
                      <a:ext uri="{0D108BD9-81ED-4DB2-BD59-A6C34878D82A}">
                        <a16:rowId xmlns:a16="http://schemas.microsoft.com/office/drawing/2014/main" val="2555922148"/>
                      </a:ext>
                    </a:extLst>
                  </a:tr>
                  <a:tr h="14853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𝑠𝑝h𝑒𝑟𝑒</m:t>
                                        </m:r>
                                      </m:sub>
                                    </m:sSub>
                                  </m:num>
                                  <m:den>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𝑐𝑢𝑏𝑒</m:t>
                                        </m:r>
                                      </m:sub>
                                    </m:sSub>
                                  </m:den>
                                </m:f>
                                <m:r>
                                  <a:rPr lang="en-US" sz="240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𝜋</m:t>
                                    </m:r>
                                  </m:num>
                                  <m:den>
                                    <m:r>
                                      <a:rPr lang="en-US" sz="2400">
                                        <a:latin typeface="Cambria Math" panose="02040503050406030204" pitchFamily="18" charset="0"/>
                                      </a:rPr>
                                      <m:t>4</m:t>
                                    </m:r>
                                  </m:den>
                                </m:f>
                                <m:r>
                                  <a:rPr lang="en-US" sz="2400">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𝟎</m:t>
                                </m:r>
                                <m:r>
                                  <a:rPr lang="en-US" sz="2400" b="1">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𝟖</m:t>
                                </m:r>
                              </m:oMath>
                            </m:oMathPara>
                          </a14:m>
                          <a:endParaRPr lang="en-US" sz="2400" b="1"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𝑠𝑝h𝑒𝑟𝑒</m:t>
                                        </m:r>
                                      </m:sub>
                                    </m:sSub>
                                  </m:num>
                                  <m:den>
                                    <m:sSub>
                                      <m:sSubPr>
                                        <m:ctrlPr>
                                          <a:rPr lang="en-US" sz="2400" i="1">
                                            <a:latin typeface="Cambria Math" panose="02040503050406030204" pitchFamily="18" charset="0"/>
                                          </a:rPr>
                                        </m:ctrlPr>
                                      </m:sSubPr>
                                      <m:e>
                                        <m:r>
                                          <a:rPr lang="en-US" sz="2400">
                                            <a:latin typeface="Cambria Math" panose="02040503050406030204" pitchFamily="18" charset="0"/>
                                          </a:rPr>
                                          <m:t>𝑉</m:t>
                                        </m:r>
                                      </m:e>
                                      <m:sub>
                                        <m:r>
                                          <a:rPr lang="en-US" sz="2400">
                                            <a:latin typeface="Cambria Math" panose="02040503050406030204" pitchFamily="18" charset="0"/>
                                          </a:rPr>
                                          <m:t>𝑐𝑢𝑏𝑒</m:t>
                                        </m:r>
                                      </m:sub>
                                    </m:sSub>
                                  </m:den>
                                </m:f>
                                <m:r>
                                  <a:rPr lang="en-US" sz="2400">
                                    <a:latin typeface="Cambria Math" panose="02040503050406030204" pitchFamily="18" charset="0"/>
                                  </a:rPr>
                                  <m:t>≈</m:t>
                                </m:r>
                                <m:f>
                                  <m:fPr>
                                    <m:ctrlPr>
                                      <a:rPr lang="en-US" sz="2400" i="1">
                                        <a:latin typeface="Cambria Math" panose="02040503050406030204" pitchFamily="18" charset="0"/>
                                      </a:rPr>
                                    </m:ctrlPr>
                                  </m:fPr>
                                  <m:num>
                                    <m:r>
                                      <a:rPr lang="en-US" sz="2400">
                                        <a:latin typeface="Cambria Math" panose="02040503050406030204" pitchFamily="18" charset="0"/>
                                      </a:rPr>
                                      <m:t>0.000</m:t>
                                    </m:r>
                                    <m:r>
                                      <a:rPr lang="en-US" sz="2400" b="0" smtClean="0">
                                        <a:latin typeface="Cambria Math" panose="02040503050406030204" pitchFamily="18" charset="0"/>
                                      </a:rPr>
                                      <m:t>9</m:t>
                                    </m:r>
                                  </m:num>
                                  <m:den>
                                    <m:sSup>
                                      <m:sSupPr>
                                        <m:ctrlPr>
                                          <a:rPr lang="en-US" sz="2400" i="1">
                                            <a:latin typeface="Cambria Math" panose="02040503050406030204" pitchFamily="18" charset="0"/>
                                          </a:rPr>
                                        </m:ctrlPr>
                                      </m:sSupPr>
                                      <m:e>
                                        <m:r>
                                          <a:rPr lang="en-US" sz="2400">
                                            <a:latin typeface="Cambria Math" panose="02040503050406030204" pitchFamily="18" charset="0"/>
                                          </a:rPr>
                                          <m:t>2</m:t>
                                        </m:r>
                                      </m:e>
                                      <m:sup>
                                        <m:r>
                                          <a:rPr lang="en-US" sz="2400">
                                            <a:latin typeface="Cambria Math" panose="02040503050406030204" pitchFamily="18" charset="0"/>
                                          </a:rPr>
                                          <m:t>2</m:t>
                                        </m:r>
                                        <m:r>
                                          <a:rPr lang="en-US" sz="2400" b="0" smtClean="0">
                                            <a:latin typeface="Cambria Math" panose="02040503050406030204" pitchFamily="18" charset="0"/>
                                          </a:rPr>
                                          <m:t>5</m:t>
                                        </m:r>
                                      </m:sup>
                                    </m:sSup>
                                  </m:den>
                                </m:f>
                              </m:oMath>
                            </m:oMathPara>
                          </a14:m>
                          <a:endParaRPr lang="en-US" sz="2400" b="0" dirty="0"/>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a:latin typeface="Cambria Math" panose="02040503050406030204" pitchFamily="18" charset="0"/>
                                  </a:rPr>
                                  <m:t>≈</m:t>
                                </m:r>
                                <m:r>
                                  <a:rPr lang="en-US" sz="2400" b="1" smtClean="0">
                                    <a:solidFill>
                                      <a:srgbClr val="C00000"/>
                                    </a:solidFill>
                                    <a:latin typeface="Cambria Math" panose="02040503050406030204" pitchFamily="18" charset="0"/>
                                  </a:rPr>
                                  <m:t>𝟑</m:t>
                                </m:r>
                                <m:r>
                                  <a:rPr lang="en-US" sz="2400" b="1">
                                    <a:solidFill>
                                      <a:srgbClr val="C00000"/>
                                    </a:solidFill>
                                    <a:latin typeface="Cambria Math" panose="02040503050406030204" pitchFamily="18" charset="0"/>
                                  </a:rPr>
                                  <m:t>⋅</m:t>
                                </m:r>
                                <m:sSup>
                                  <m:sSupPr>
                                    <m:ctrlPr>
                                      <a:rPr lang="en-US" sz="2400" b="1" i="1">
                                        <a:solidFill>
                                          <a:srgbClr val="C00000"/>
                                        </a:solidFill>
                                        <a:latin typeface="Cambria Math" panose="02040503050406030204" pitchFamily="18" charset="0"/>
                                      </a:rPr>
                                    </m:ctrlPr>
                                  </m:sSupPr>
                                  <m:e>
                                    <m:r>
                                      <a:rPr lang="en-US" sz="2400" b="1">
                                        <a:solidFill>
                                          <a:srgbClr val="C00000"/>
                                        </a:solidFill>
                                        <a:latin typeface="Cambria Math" panose="02040503050406030204" pitchFamily="18" charset="0"/>
                                      </a:rPr>
                                      <m:t>𝟏𝟎</m:t>
                                    </m:r>
                                  </m:e>
                                  <m:sup>
                                    <m:r>
                                      <a:rPr lang="en-US" sz="2400" b="1">
                                        <a:solidFill>
                                          <a:srgbClr val="C00000"/>
                                        </a:solidFill>
                                        <a:latin typeface="Cambria Math" panose="02040503050406030204" pitchFamily="18" charset="0"/>
                                      </a:rPr>
                                      <m:t>−</m:t>
                                    </m:r>
                                    <m:r>
                                      <a:rPr lang="en-US" sz="2400" b="1">
                                        <a:solidFill>
                                          <a:srgbClr val="C00000"/>
                                        </a:solidFill>
                                        <a:latin typeface="Cambria Math" panose="02040503050406030204" pitchFamily="18" charset="0"/>
                                      </a:rPr>
                                      <m:t>𝟏𝟏</m:t>
                                    </m:r>
                                  </m:sup>
                                </m:sSup>
                                <m:r>
                                  <a:rPr lang="en-US" sz="2400" b="1">
                                    <a:solidFill>
                                      <a:srgbClr val="C00000"/>
                                    </a:solidFill>
                                    <a:latin typeface="Cambria Math" panose="02040503050406030204" pitchFamily="18" charset="0"/>
                                  </a:rPr>
                                  <m:t> </m:t>
                                </m:r>
                              </m:oMath>
                            </m:oMathPara>
                          </a14:m>
                          <a:endParaRPr lang="en-US" sz="2400" b="1" dirty="0"/>
                        </a:p>
                      </a:txBody>
                      <a:tcPr/>
                    </a:tc>
                    <a:extLst>
                      <a:ext uri="{0D108BD9-81ED-4DB2-BD59-A6C34878D82A}">
                        <a16:rowId xmlns:a16="http://schemas.microsoft.com/office/drawing/2014/main" val="1737518804"/>
                      </a:ext>
                    </a:extLst>
                  </a:tr>
                </a:tbl>
              </a:graphicData>
            </a:graphic>
          </p:graphicFrame>
        </mc:Choice>
        <mc:Fallback xmlns="">
          <p:graphicFrame>
            <p:nvGraphicFramePr>
              <p:cNvPr id="8" name="Table 7">
                <a:extLst>
                  <a:ext uri="{FF2B5EF4-FFF2-40B4-BE49-F238E27FC236}">
                    <a16:creationId xmlns:a16="http://schemas.microsoft.com/office/drawing/2014/main" id="{0A679A4B-C6AE-573D-8682-9916D41B236C}"/>
                  </a:ext>
                </a:extLst>
              </p:cNvPr>
              <p:cNvGraphicFramePr>
                <a:graphicFrameLocks noGrp="1"/>
              </p:cNvGraphicFramePr>
              <p:nvPr>
                <p:extLst>
                  <p:ext uri="{D42A27DB-BD31-4B8C-83A1-F6EECF244321}">
                    <p14:modId xmlns:p14="http://schemas.microsoft.com/office/powerpoint/2010/main" val="3306579327"/>
                  </p:ext>
                </p:extLst>
              </p:nvPr>
            </p:nvGraphicFramePr>
            <p:xfrm>
              <a:off x="6236821" y="1677930"/>
              <a:ext cx="5519750" cy="2715982"/>
            </p:xfrm>
            <a:graphic>
              <a:graphicData uri="http://schemas.openxmlformats.org/drawingml/2006/table">
                <a:tbl>
                  <a:tblPr firstRow="1" bandRow="1">
                    <a:tableStyleId>{85BE263C-DBD7-4A20-BB59-AAB30ACAA65A}</a:tableStyleId>
                  </a:tblPr>
                  <a:tblGrid>
                    <a:gridCol w="2707001">
                      <a:extLst>
                        <a:ext uri="{9D8B030D-6E8A-4147-A177-3AD203B41FA5}">
                          <a16:colId xmlns:a16="http://schemas.microsoft.com/office/drawing/2014/main" val="2839265209"/>
                        </a:ext>
                      </a:extLst>
                    </a:gridCol>
                    <a:gridCol w="2812749">
                      <a:extLst>
                        <a:ext uri="{9D8B030D-6E8A-4147-A177-3AD203B41FA5}">
                          <a16:colId xmlns:a16="http://schemas.microsoft.com/office/drawing/2014/main" val="1445187659"/>
                        </a:ext>
                      </a:extLst>
                    </a:gridCol>
                  </a:tblGrid>
                  <a:tr h="640080">
                    <a:tc>
                      <a:txBody>
                        <a:bodyPr/>
                        <a:lstStyle/>
                        <a:p>
                          <a:pPr algn="ctr"/>
                          <a:r>
                            <a:rPr lang="en-US" dirty="0"/>
                            <a:t>Volume of Cube </a:t>
                          </a:r>
                        </a:p>
                        <a:p>
                          <a:pPr algn="ctr"/>
                          <a:r>
                            <a:rPr lang="en-US" dirty="0"/>
                            <a:t>with side 2a</a:t>
                          </a:r>
                        </a:p>
                      </a:txBody>
                      <a:tcPr/>
                    </a:tc>
                    <a:tc>
                      <a:txBody>
                        <a:bodyPr/>
                        <a:lstStyle/>
                        <a:p>
                          <a:pPr algn="ctr"/>
                          <a:r>
                            <a:rPr lang="en-US" dirty="0"/>
                            <a:t>Volume of a Sphere </a:t>
                          </a:r>
                        </a:p>
                        <a:p>
                          <a:pPr algn="ctr"/>
                          <a:r>
                            <a:rPr lang="en-US" dirty="0"/>
                            <a:t>with radius a</a:t>
                          </a:r>
                        </a:p>
                      </a:txBody>
                      <a:tcPr/>
                    </a:tc>
                    <a:extLst>
                      <a:ext uri="{0D108BD9-81ED-4DB2-BD59-A6C34878D82A}">
                        <a16:rowId xmlns:a16="http://schemas.microsoft.com/office/drawing/2014/main" val="1895000416"/>
                      </a:ext>
                    </a:extLst>
                  </a:tr>
                  <a:tr h="590601">
                    <a:tc>
                      <a:txBody>
                        <a:bodyPr/>
                        <a:lstStyle/>
                        <a:p>
                          <a:pPr algn="ctr"/>
                          <a:r>
                            <a:rPr lang="en-US" sz="3200" dirty="0"/>
                            <a:t>2 dimensions</a:t>
                          </a:r>
                        </a:p>
                      </a:txBody>
                      <a:tcPr/>
                    </a:tc>
                    <a:tc>
                      <a:txBody>
                        <a:bodyPr/>
                        <a:lstStyle/>
                        <a:p>
                          <a:pPr algn="ctr"/>
                          <a:r>
                            <a:rPr lang="en-US" sz="3200" dirty="0"/>
                            <a:t>25 dimensions</a:t>
                          </a:r>
                        </a:p>
                      </a:txBody>
                      <a:tcPr/>
                    </a:tc>
                    <a:extLst>
                      <a:ext uri="{0D108BD9-81ED-4DB2-BD59-A6C34878D82A}">
                        <a16:rowId xmlns:a16="http://schemas.microsoft.com/office/drawing/2014/main" val="2555922148"/>
                      </a:ext>
                    </a:extLst>
                  </a:tr>
                  <a:tr h="1485301">
                    <a:tc>
                      <a:txBody>
                        <a:bodyPr/>
                        <a:lstStyle/>
                        <a:p>
                          <a:endParaRPr lang="en-US"/>
                        </a:p>
                      </a:txBody>
                      <a:tcPr>
                        <a:blipFill>
                          <a:blip r:embed="rId5"/>
                          <a:stretch>
                            <a:fillRect t="-84615" r="-104695" b="-1709"/>
                          </a:stretch>
                        </a:blipFill>
                      </a:tcPr>
                    </a:tc>
                    <a:tc>
                      <a:txBody>
                        <a:bodyPr/>
                        <a:lstStyle/>
                        <a:p>
                          <a:endParaRPr lang="en-US"/>
                        </a:p>
                      </a:txBody>
                      <a:tcPr>
                        <a:blipFill>
                          <a:blip r:embed="rId5"/>
                          <a:stretch>
                            <a:fillRect l="-95946" t="-84615" r="-450" b="-1709"/>
                          </a:stretch>
                        </a:blipFill>
                      </a:tcPr>
                    </a:tc>
                    <a:extLst>
                      <a:ext uri="{0D108BD9-81ED-4DB2-BD59-A6C34878D82A}">
                        <a16:rowId xmlns:a16="http://schemas.microsoft.com/office/drawing/2014/main" val="1737518804"/>
                      </a:ext>
                    </a:extLst>
                  </a:tr>
                </a:tbl>
              </a:graphicData>
            </a:graphic>
          </p:graphicFrame>
        </mc:Fallback>
      </mc:AlternateContent>
    </p:spTree>
    <p:extLst>
      <p:ext uri="{BB962C8B-B14F-4D97-AF65-F5344CB8AC3E}">
        <p14:creationId xmlns:p14="http://schemas.microsoft.com/office/powerpoint/2010/main" val="32692620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274638"/>
            <a:ext cx="10058400" cy="542587"/>
          </a:xfrm>
        </p:spPr>
        <p:txBody>
          <a:bodyPr>
            <a:normAutofit fontScale="90000"/>
          </a:bodyPr>
          <a:lstStyle/>
          <a:p>
            <a:r>
              <a:rPr lang="en-US" dirty="0">
                <a:latin typeface="Nueva Std Cond"/>
              </a:rPr>
              <a:t>S</a:t>
            </a:r>
            <a:r>
              <a:rPr lang="en-US" b="1" dirty="0">
                <a:latin typeface="Nueva Std Cond"/>
              </a:rPr>
              <a:t>tandard Normal</a:t>
            </a:r>
            <a:r>
              <a:rPr lang="en-US" dirty="0">
                <a:latin typeface="Nueva Std Cond"/>
              </a:rPr>
              <a:t> distributions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103093"/>
                <a:ext cx="5155355" cy="101680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𝑑</m:t>
                              </m:r>
                              <m:r>
                                <a:rPr lang="en-US" b="0" i="1" smtClean="0">
                                  <a:latin typeface="Cambria Math" panose="02040503050406030204" pitchFamily="18" charset="0"/>
                                </a:rPr>
                                <m:t>/2</m:t>
                              </m:r>
                            </m:sup>
                          </m:sSup>
                        </m:den>
                      </m:f>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exp</m:t>
                          </m:r>
                        </m:fName>
                        <m:e>
                          <m:d>
                            <m:dPr>
                              <m:ctrlPr>
                                <a:rPr lang="en-US" b="0" i="1" smtClean="0">
                                  <a:latin typeface="Cambria Math" panose="02040503050406030204" pitchFamily="18" charset="0"/>
                                </a:rPr>
                              </m:ctrlPr>
                            </m:dPr>
                            <m:e>
                              <m:r>
                                <a:rPr lang="en-US" b="0" i="1" smtClean="0">
                                  <a:latin typeface="Cambria Math" panose="02040503050406030204" pitchFamily="18" charset="0"/>
                                </a:rPr>
                                <m:t>−</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103093"/>
                <a:ext cx="5155355" cy="1016800"/>
              </a:xfrm>
              <a:blipFill>
                <a:blip r:embed="rId2"/>
                <a:stretch>
                  <a:fillRect t="-18293"/>
                </a:stretch>
              </a:blipFill>
            </p:spPr>
            <p:txBody>
              <a:bodyPr/>
              <a:lstStyle/>
              <a:p>
                <a:r>
                  <a:rPr lang="en-US">
                    <a:noFill/>
                  </a:rPr>
                  <a:t> </a:t>
                </a:r>
              </a:p>
            </p:txBody>
          </p:sp>
        </mc:Fallback>
      </mc:AlternateContent>
      <p:sp>
        <p:nvSpPr>
          <p:cNvPr id="5" name="Footer Placeholder 4"/>
          <p:cNvSpPr>
            <a:spLocks noGrp="1"/>
          </p:cNvSpPr>
          <p:nvPr>
            <p:ph type="ftr" sz="quarter" idx="11"/>
          </p:nvPr>
        </p:nvSpPr>
        <p:spPr>
          <a:xfrm>
            <a:off x="1747158" y="6355443"/>
            <a:ext cx="4114800" cy="365125"/>
          </a:xfrm>
        </p:spPr>
        <p:txBody>
          <a:bodyPr/>
          <a:lstStyle/>
          <a:p>
            <a:pPr fontAlgn="base">
              <a:spcBef>
                <a:spcPct val="0"/>
              </a:spcBef>
              <a:spcAft>
                <a:spcPct val="0"/>
              </a:spcAft>
              <a:defRPr/>
            </a:pPr>
            <a:r>
              <a:rPr lang="en-US" dirty="0"/>
              <a:t>P. </a:t>
            </a:r>
            <a:r>
              <a:rPr lang="en-US" dirty="0" err="1"/>
              <a:t>Nadolsky</a:t>
            </a:r>
            <a:r>
              <a:rPr lang="en-US" dirty="0"/>
              <a:t> @ Kennesaw State University</a:t>
            </a:r>
            <a:endParaRPr lang="en-GB" dirty="0"/>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r>
              <a:rPr lang="en-GB"/>
              <a:t>5</a:t>
            </a:r>
            <a:endParaRPr lang="en-GB" dirty="0"/>
          </a:p>
        </p:txBody>
      </p:sp>
      <p:pic>
        <p:nvPicPr>
          <p:cNvPr id="11" name="Picture 10"/>
          <p:cNvPicPr>
            <a:picLocks noChangeAspect="1"/>
          </p:cNvPicPr>
          <p:nvPr/>
        </p:nvPicPr>
        <p:blipFill rotWithShape="1">
          <a:blip r:embed="rId3"/>
          <a:srcRect r="-450" b="20662"/>
          <a:stretch/>
        </p:blipFill>
        <p:spPr>
          <a:xfrm>
            <a:off x="1251858" y="2460180"/>
            <a:ext cx="4212113" cy="2198795"/>
          </a:xfrm>
          <a:prstGeom prst="rect">
            <a:avLst/>
          </a:prstGeom>
        </p:spPr>
      </p:pic>
      <mc:AlternateContent xmlns:mc="http://schemas.openxmlformats.org/markup-compatibility/2006" xmlns:a14="http://schemas.microsoft.com/office/drawing/2010/main">
        <mc:Choice Requires="a14">
          <p:sp>
            <p:nvSpPr>
              <p:cNvPr id="12" name="TextBox 11"/>
              <p:cNvSpPr txBox="1"/>
              <p:nvPr/>
            </p:nvSpPr>
            <p:spPr>
              <a:xfrm>
                <a:off x="721771" y="4999036"/>
                <a:ext cx="5105400" cy="1384995"/>
              </a:xfrm>
              <a:prstGeom prst="rect">
                <a:avLst/>
              </a:prstGeom>
              <a:noFill/>
            </p:spPr>
            <p:txBody>
              <a:bodyPr wrap="square" rtlCol="0">
                <a:spAutoFit/>
              </a:bodyPr>
              <a:lstStyle/>
              <a:p>
                <a:r>
                  <a:rPr lang="en-US" sz="2800" dirty="0"/>
                  <a:t>Any 1-dim. projection contains 68% of the elements in the interval </a:t>
                </a:r>
                <a:r>
                  <a:rPr lang="en-US" sz="2800" i="1" dirty="0">
                    <a:latin typeface="Cambria Math" panose="02040503050406030204" pitchFamily="18" charset="0"/>
                  </a:rPr>
                  <a:t> </a:t>
                </a:r>
                <a14:m>
                  <m:oMath xmlns:m="http://schemas.openxmlformats.org/officeDocument/2006/math">
                    <m:r>
                      <a:rPr lang="en-US" sz="2800" i="1">
                        <a:latin typeface="Cambria Math" panose="02040503050406030204" pitchFamily="18" charset="0"/>
                      </a:rPr>
                      <m:t>−1&lt;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r>
                      <a:rPr lang="en-US" sz="2800" i="1">
                        <a:latin typeface="Cambria Math" panose="02040503050406030204" pitchFamily="18" charset="0"/>
                      </a:rPr>
                      <m:t>&lt;1</m:t>
                    </m:r>
                  </m:oMath>
                </a14:m>
                <a:r>
                  <a:rPr lang="en-US" sz="2800" dirty="0"/>
                  <a:t> </a:t>
                </a:r>
              </a:p>
            </p:txBody>
          </p:sp>
        </mc:Choice>
        <mc:Fallback xmlns="">
          <p:sp>
            <p:nvSpPr>
              <p:cNvPr id="12" name="TextBox 11"/>
              <p:cNvSpPr txBox="1">
                <a:spLocks noRot="1" noChangeAspect="1" noMove="1" noResize="1" noEditPoints="1" noAdjustHandles="1" noChangeArrowheads="1" noChangeShapeType="1" noTextEdit="1"/>
              </p:cNvSpPr>
              <p:nvPr/>
            </p:nvSpPr>
            <p:spPr>
              <a:xfrm>
                <a:off x="721771" y="4999036"/>
                <a:ext cx="5105400" cy="1384995"/>
              </a:xfrm>
              <a:prstGeom prst="rect">
                <a:avLst/>
              </a:prstGeom>
              <a:blipFill>
                <a:blip r:embed="rId4"/>
                <a:stretch>
                  <a:fillRect l="-2481" t="-4545" b="-10909"/>
                </a:stretch>
              </a:blipFill>
            </p:spPr>
            <p:txBody>
              <a:bodyPr/>
              <a:lstStyle/>
              <a:p>
                <a:r>
                  <a:rPr lang="en-US">
                    <a:noFill/>
                  </a:rPr>
                  <a:t> </a:t>
                </a:r>
              </a:p>
            </p:txBody>
          </p:sp>
        </mc:Fallback>
      </mc:AlternateContent>
      <p:sp>
        <p:nvSpPr>
          <p:cNvPr id="14" name="Date Placeholder 13"/>
          <p:cNvSpPr>
            <a:spLocks noGrp="1"/>
          </p:cNvSpPr>
          <p:nvPr>
            <p:ph type="dt" sz="half" idx="10"/>
          </p:nvPr>
        </p:nvSpPr>
        <p:spPr/>
        <p:txBody>
          <a:bodyPr/>
          <a:lstStyle/>
          <a:p>
            <a:pPr fontAlgn="base">
              <a:spcBef>
                <a:spcPct val="0"/>
              </a:spcBef>
              <a:spcAft>
                <a:spcPct val="0"/>
              </a:spcAft>
              <a:defRPr/>
            </a:pPr>
            <a:r>
              <a:rPr lang="en-US"/>
              <a:t>2023-02-10</a:t>
            </a:r>
            <a:endParaRPr lang="en-GB"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04E67898-8286-A902-B424-F6A338240D8B}"/>
                  </a:ext>
                </a:extLst>
              </p:cNvPr>
              <p:cNvSpPr txBox="1">
                <a:spLocks/>
              </p:cNvSpPr>
              <p:nvPr/>
            </p:nvSpPr>
            <p:spPr>
              <a:xfrm>
                <a:off x="6150135" y="1035818"/>
                <a:ext cx="5155355" cy="919539"/>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d>
                        <m:dPr>
                          <m:ctrlPr>
                            <a:rPr lang="en-US" i="1" smtClean="0">
                              <a:latin typeface="Cambria Math" panose="02040503050406030204" pitchFamily="18" charset="0"/>
                            </a:rPr>
                          </m:ctrlPr>
                        </m:dPr>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𝑋</m:t>
                              </m:r>
                            </m:e>
                          </m:acc>
                        </m:e>
                      </m:d>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r>
                                    <a:rPr lang="en-US" i="1" smtClean="0">
                                      <a:latin typeface="Cambria Math" panose="02040503050406030204" pitchFamily="18" charset="0"/>
                                    </a:rPr>
                                    <m:t>2</m:t>
                                  </m:r>
                                  <m:r>
                                    <a:rPr lang="en-US" i="1" smtClean="0">
                                      <a:latin typeface="Cambria Math" panose="02040503050406030204" pitchFamily="18" charset="0"/>
                                    </a:rPr>
                                    <m:t>𝜋</m:t>
                                  </m:r>
                                </m:e>
                              </m:d>
                            </m:e>
                            <m:sup>
                              <m:r>
                                <a:rPr lang="en-US" i="1" smtClean="0">
                                  <a:latin typeface="Cambria Math" panose="02040503050406030204" pitchFamily="18" charset="0"/>
                                </a:rPr>
                                <m:t>𝑑</m:t>
                              </m:r>
                              <m:r>
                                <a:rPr lang="en-US" i="1" smtClean="0">
                                  <a:latin typeface="Cambria Math" panose="02040503050406030204" pitchFamily="18" charset="0"/>
                                </a:rPr>
                                <m:t>/2</m:t>
                              </m:r>
                            </m:sup>
                          </m:sSup>
                        </m:den>
                      </m:f>
                      <m:func>
                        <m:funcPr>
                          <m:ctrlPr>
                            <a:rPr lang="en-US" i="1" smtClean="0">
                              <a:latin typeface="Cambria Math" panose="02040503050406030204" pitchFamily="18" charset="0"/>
                            </a:rPr>
                          </m:ctrlPr>
                        </m:funcPr>
                        <m:fName>
                          <m:r>
                            <m:rPr>
                              <m:sty m:val="p"/>
                            </m:rPr>
                            <a:rPr lang="en-US" smtClean="0">
                              <a:latin typeface="Cambria Math" panose="02040503050406030204" pitchFamily="18" charset="0"/>
                            </a:rPr>
                            <m:t>exp</m:t>
                          </m:r>
                        </m:fName>
                        <m:e>
                          <m:d>
                            <m:dPr>
                              <m:ctrlPr>
                                <a:rPr lang="en-US" i="1" smtClean="0">
                                  <a:latin typeface="Cambria Math" panose="02040503050406030204" pitchFamily="18" charset="0"/>
                                </a:rPr>
                              </m:ctrlPr>
                            </m:dPr>
                            <m:e>
                              <m:r>
                                <a:rPr lang="en-US" i="1" smtClean="0">
                                  <a:latin typeface="Cambria Math" panose="02040503050406030204" pitchFamily="18" charset="0"/>
                                </a:rPr>
                                <m:t>−</m:t>
                              </m:r>
                              <m:f>
                                <m:fPr>
                                  <m:ctrlPr>
                                    <a:rPr lang="en-US" i="1" smtClean="0">
                                      <a:latin typeface="Cambria Math" panose="02040503050406030204" pitchFamily="18" charset="0"/>
                                    </a:rPr>
                                  </m:ctrlPr>
                                </m:fPr>
                                <m:num>
                                  <m:sSup>
                                    <m:sSupPr>
                                      <m:ctrlPr>
                                        <a:rPr lang="en-US" i="1" smtClean="0">
                                          <a:latin typeface="Cambria Math" panose="02040503050406030204" pitchFamily="18" charset="0"/>
                                        </a:rPr>
                                      </m:ctrlPr>
                                    </m:sSupPr>
                                    <m:e>
                                      <m:acc>
                                        <m:accPr>
                                          <m:chr m:val="⃗"/>
                                          <m:ctrlPr>
                                            <a:rPr lang="en-US" i="1" smtClean="0">
                                              <a:latin typeface="Cambria Math" panose="02040503050406030204" pitchFamily="18" charset="0"/>
                                            </a:rPr>
                                          </m:ctrlPr>
                                        </m:accPr>
                                        <m:e>
                                          <m:r>
                                            <a:rPr lang="en-US" i="1" smtClean="0">
                                              <a:latin typeface="Cambria Math" panose="02040503050406030204" pitchFamily="18" charset="0"/>
                                            </a:rPr>
                                            <m:t>𝑋</m:t>
                                          </m:r>
                                        </m:e>
                                      </m:acc>
                                    </m:e>
                                    <m:sup>
                                      <m:r>
                                        <a:rPr lang="en-US" i="1" smtClean="0">
                                          <a:latin typeface="Cambria Math" panose="02040503050406030204" pitchFamily="18" charset="0"/>
                                        </a:rPr>
                                        <m:t>2</m:t>
                                      </m:r>
                                    </m:sup>
                                  </m:sSup>
                                </m:num>
                                <m:den>
                                  <m:r>
                                    <a:rPr lang="en-US" i="1" smtClean="0">
                                      <a:latin typeface="Cambria Math" panose="02040503050406030204" pitchFamily="18" charset="0"/>
                                    </a:rPr>
                                    <m:t>2</m:t>
                                  </m:r>
                                </m:den>
                              </m:f>
                            </m:e>
                          </m:d>
                        </m:e>
                      </m:func>
                    </m:oMath>
                  </m:oMathPara>
                </a14:m>
                <a:endParaRPr lang="en-US" dirty="0"/>
              </a:p>
            </p:txBody>
          </p:sp>
        </mc:Choice>
        <mc:Fallback xmlns="">
          <p:sp>
            <p:nvSpPr>
              <p:cNvPr id="4" name="Content Placeholder 2">
                <a:extLst>
                  <a:ext uri="{FF2B5EF4-FFF2-40B4-BE49-F238E27FC236}">
                    <a16:creationId xmlns:a16="http://schemas.microsoft.com/office/drawing/2014/main" id="{04E67898-8286-A902-B424-F6A338240D8B}"/>
                  </a:ext>
                </a:extLst>
              </p:cNvPr>
              <p:cNvSpPr txBox="1">
                <a:spLocks noRot="1" noChangeAspect="1" noMove="1" noResize="1" noEditPoints="1" noAdjustHandles="1" noChangeArrowheads="1" noChangeShapeType="1" noTextEdit="1"/>
              </p:cNvSpPr>
              <p:nvPr/>
            </p:nvSpPr>
            <p:spPr>
              <a:xfrm>
                <a:off x="6150135" y="1035818"/>
                <a:ext cx="5155355" cy="919539"/>
              </a:xfrm>
              <a:prstGeom prst="rect">
                <a:avLst/>
              </a:prstGeom>
              <a:blipFill>
                <a:blip r:embed="rId5"/>
                <a:stretch>
                  <a:fillRect/>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F5FF149B-8DCE-3B38-7C2F-0637CC15AF54}"/>
              </a:ext>
            </a:extLst>
          </p:cNvPr>
          <p:cNvPicPr>
            <a:picLocks noChangeAspect="1"/>
          </p:cNvPicPr>
          <p:nvPr/>
        </p:nvPicPr>
        <p:blipFill>
          <a:blip r:embed="rId6"/>
          <a:stretch>
            <a:fillRect/>
          </a:stretch>
        </p:blipFill>
        <p:spPr>
          <a:xfrm>
            <a:off x="7075713" y="2173951"/>
            <a:ext cx="3454859" cy="3321189"/>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166DF2C-A0FD-69EB-C97F-4C798FFED41E}"/>
                  </a:ext>
                </a:extLst>
              </p:cNvPr>
              <p:cNvSpPr txBox="1"/>
              <p:nvPr/>
            </p:nvSpPr>
            <p:spPr>
              <a:xfrm>
                <a:off x="6330044" y="4814096"/>
                <a:ext cx="5597164" cy="1799275"/>
              </a:xfrm>
              <a:prstGeom prst="rect">
                <a:avLst/>
              </a:prstGeom>
              <a:solidFill>
                <a:schemeClr val="accent1"/>
              </a:solidFill>
            </p:spPr>
            <p:txBody>
              <a:bodyPr wrap="square" rtlCol="0">
                <a:spAutoFit/>
              </a:bodyPr>
              <a:lstStyle/>
              <a:p>
                <a:r>
                  <a:rPr lang="en-US" sz="2000" dirty="0">
                    <a:solidFill>
                      <a:schemeClr val="bg1"/>
                    </a:solidFill>
                  </a:rPr>
                  <a:t>The mean distance of an element from the center (“truth”) at  </a:t>
                </a:r>
                <a14:m>
                  <m:oMath xmlns:m="http://schemas.openxmlformats.org/officeDocument/2006/math">
                    <m:acc>
                      <m:accPr>
                        <m:chr m:val="⃗"/>
                        <m:ctrlPr>
                          <a:rPr lang="en-US" sz="2000" i="1">
                            <a:solidFill>
                              <a:schemeClr val="bg1"/>
                            </a:solidFill>
                            <a:latin typeface="Cambria Math" panose="02040503050406030204" pitchFamily="18" charset="0"/>
                          </a:rPr>
                        </m:ctrlPr>
                      </m:accPr>
                      <m:e>
                        <m:r>
                          <a:rPr lang="en-US" sz="2000" b="0" i="1" smtClean="0">
                            <a:solidFill>
                              <a:schemeClr val="bg1"/>
                            </a:solidFill>
                            <a:latin typeface="Cambria Math" panose="02040503050406030204" pitchFamily="18" charset="0"/>
                          </a:rPr>
                          <m:t>𝑋</m:t>
                        </m:r>
                      </m:e>
                    </m:acc>
                    <m:r>
                      <a:rPr lang="en-US" sz="2000" i="1">
                        <a:solidFill>
                          <a:schemeClr val="bg1"/>
                        </a:solidFill>
                        <a:latin typeface="Cambria Math" panose="02040503050406030204" pitchFamily="18" charset="0"/>
                      </a:rPr>
                      <m:t>=0</m:t>
                    </m:r>
                  </m:oMath>
                </a14:m>
                <a:r>
                  <a:rPr lang="en-US" sz="2000" dirty="0">
                    <a:solidFill>
                      <a:schemeClr val="bg1"/>
                    </a:solidFill>
                  </a:rPr>
                  <a:t> is</a:t>
                </a:r>
                <a14:m>
                  <m:oMath xmlns:m="http://schemas.openxmlformats.org/officeDocument/2006/math">
                    <m:d>
                      <m:dPr>
                        <m:begChr m:val="〈"/>
                        <m:endChr m:val="〉"/>
                        <m:ctrlPr>
                          <a:rPr lang="en-US" sz="2400" i="1">
                            <a:solidFill>
                              <a:schemeClr val="bg1"/>
                            </a:solidFill>
                            <a:latin typeface="Cambria Math" panose="02040503050406030204" pitchFamily="18" charset="0"/>
                          </a:rPr>
                        </m:ctrlPr>
                      </m:dPr>
                      <m:e>
                        <m:d>
                          <m:dPr>
                            <m:begChr m:val="|"/>
                            <m:endChr m:val="|"/>
                            <m:ctrlPr>
                              <a:rPr lang="en-US" sz="2400" i="1">
                                <a:solidFill>
                                  <a:schemeClr val="bg1"/>
                                </a:solidFill>
                                <a:latin typeface="Cambria Math" panose="02040503050406030204" pitchFamily="18" charset="0"/>
                              </a:rPr>
                            </m:ctrlPr>
                          </m:dPr>
                          <m:e>
                            <m:acc>
                              <m:accPr>
                                <m:chr m:val="⃗"/>
                                <m:ctrlPr>
                                  <a:rPr lang="en-US" sz="2400" i="1">
                                    <a:solidFill>
                                      <a:schemeClr val="bg1"/>
                                    </a:solidFill>
                                    <a:latin typeface="Cambria Math" panose="02040503050406030204" pitchFamily="18" charset="0"/>
                                  </a:rPr>
                                </m:ctrlPr>
                              </m:accPr>
                              <m:e>
                                <m:r>
                                  <a:rPr lang="en-US" sz="2400" b="0" i="1" smtClean="0">
                                    <a:solidFill>
                                      <a:schemeClr val="bg1"/>
                                    </a:solidFill>
                                    <a:latin typeface="Cambria Math" panose="02040503050406030204" pitchFamily="18" charset="0"/>
                                  </a:rPr>
                                  <m:t>𝑋</m:t>
                                </m:r>
                              </m:e>
                            </m:acc>
                          </m:e>
                        </m:d>
                      </m:e>
                    </m:d>
                    <m:r>
                      <a:rPr lang="en-US" sz="2400" i="1">
                        <a:solidFill>
                          <a:schemeClr val="bg1"/>
                        </a:solidFill>
                        <a:latin typeface="Cambria Math" panose="02040503050406030204" pitchFamily="18" charset="0"/>
                      </a:rPr>
                      <m:t>≈</m:t>
                    </m:r>
                    <m:rad>
                      <m:radPr>
                        <m:degHide m:val="on"/>
                        <m:ctrlPr>
                          <a:rPr lang="en-US" sz="2400" i="1" smtClean="0">
                            <a:solidFill>
                              <a:schemeClr val="bg1"/>
                            </a:solidFill>
                            <a:latin typeface="Cambria Math" panose="02040503050406030204" pitchFamily="18" charset="0"/>
                          </a:rPr>
                        </m:ctrlPr>
                      </m:radPr>
                      <m:deg/>
                      <m:e>
                        <m:r>
                          <a:rPr lang="en-US" sz="2400" b="0" i="1" smtClean="0">
                            <a:solidFill>
                              <a:schemeClr val="bg1"/>
                            </a:solidFill>
                            <a:latin typeface="Cambria Math" panose="02040503050406030204" pitchFamily="18" charset="0"/>
                          </a:rPr>
                          <m:t>𝑑</m:t>
                        </m:r>
                      </m:e>
                    </m:rad>
                    <m:r>
                      <a:rPr lang="en-US" sz="2400" b="0" i="0" smtClean="0">
                        <a:solidFill>
                          <a:schemeClr val="bg1"/>
                        </a:solidFill>
                        <a:latin typeface="Cambria Math" panose="02040503050406030204" pitchFamily="18" charset="0"/>
                      </a:rPr>
                      <m:t>. </m:t>
                    </m:r>
                  </m:oMath>
                </a14:m>
                <a:r>
                  <a:rPr lang="en-US" sz="2000" dirty="0">
                    <a:solidFill>
                      <a:schemeClr val="bg1"/>
                    </a:solidFill>
                  </a:rPr>
                  <a:t>In a large-</a:t>
                </a:r>
                <a14:m>
                  <m:oMath xmlns:m="http://schemas.openxmlformats.org/officeDocument/2006/math">
                    <m:r>
                      <a:rPr lang="en-US" sz="2000" b="0" i="1" smtClean="0">
                        <a:solidFill>
                          <a:schemeClr val="bg1"/>
                        </a:solidFill>
                        <a:latin typeface="Cambria Math" panose="02040503050406030204" pitchFamily="18" charset="0"/>
                      </a:rPr>
                      <m:t>𝑑</m:t>
                    </m:r>
                  </m:oMath>
                </a14:m>
                <a:r>
                  <a:rPr lang="en-US" sz="2000" dirty="0">
                    <a:solidFill>
                      <a:schemeClr val="bg1"/>
                    </a:solidFill>
                  </a:rPr>
                  <a:t> </a:t>
                </a:r>
                <a:r>
                  <a:rPr lang="en-US" sz="2000" b="1" dirty="0">
                    <a:solidFill>
                      <a:schemeClr val="bg1"/>
                    </a:solidFill>
                  </a:rPr>
                  <a:t>normal</a:t>
                </a:r>
                <a:r>
                  <a:rPr lang="en-US" sz="2000" dirty="0">
                    <a:solidFill>
                      <a:schemeClr val="bg1"/>
                    </a:solidFill>
                  </a:rPr>
                  <a:t> distribution, a single element is likely to be very </a:t>
                </a:r>
                <a:r>
                  <a:rPr lang="en-US" sz="2000" b="1" dirty="0">
                    <a:solidFill>
                      <a:schemeClr val="bg1"/>
                    </a:solidFill>
                  </a:rPr>
                  <a:t>abnormal</a:t>
                </a:r>
                <a:r>
                  <a:rPr lang="en-US" sz="2000" dirty="0">
                    <a:solidFill>
                      <a:schemeClr val="bg1"/>
                    </a:solidFill>
                  </a:rPr>
                  <a:t> (be </a:t>
                </a:r>
                <a14:m>
                  <m:oMath xmlns:m="http://schemas.openxmlformats.org/officeDocument/2006/math">
                    <m:r>
                      <a:rPr lang="en-US" sz="2000" i="1">
                        <a:solidFill>
                          <a:schemeClr val="bg1"/>
                        </a:solidFill>
                        <a:latin typeface="Cambria Math" panose="02040503050406030204" pitchFamily="18" charset="0"/>
                      </a:rPr>
                      <m:t>∼</m:t>
                    </m:r>
                    <m:rad>
                      <m:radPr>
                        <m:degHide m:val="on"/>
                        <m:ctrlPr>
                          <a:rPr lang="en-US" sz="2000" i="1">
                            <a:solidFill>
                              <a:schemeClr val="bg1"/>
                            </a:solidFill>
                            <a:latin typeface="Cambria Math" panose="02040503050406030204" pitchFamily="18" charset="0"/>
                          </a:rPr>
                        </m:ctrlPr>
                      </m:radPr>
                      <m:deg/>
                      <m:e>
                        <m:r>
                          <a:rPr lang="en-US" sz="2000" b="0" i="1" smtClean="0">
                            <a:solidFill>
                              <a:schemeClr val="bg1"/>
                            </a:solidFill>
                            <a:latin typeface="Cambria Math" panose="02040503050406030204" pitchFamily="18" charset="0"/>
                          </a:rPr>
                          <m:t>𝑑</m:t>
                        </m:r>
                      </m:e>
                    </m:rad>
                    <m:r>
                      <a:rPr lang="en-US" sz="2000">
                        <a:solidFill>
                          <a:schemeClr val="bg1"/>
                        </a:solidFill>
                        <a:latin typeface="Cambria Math" panose="02040503050406030204" pitchFamily="18" charset="0"/>
                      </a:rPr>
                      <m:t> </m:t>
                    </m:r>
                    <m:r>
                      <a:rPr lang="en-US" sz="2000" i="1">
                        <a:solidFill>
                          <a:schemeClr val="bg1"/>
                        </a:solidFill>
                        <a:latin typeface="Cambria Math" panose="02040503050406030204" pitchFamily="18" charset="0"/>
                      </a:rPr>
                      <m:t>𝜎</m:t>
                    </m:r>
                  </m:oMath>
                </a14:m>
                <a:r>
                  <a:rPr lang="en-US" sz="2000" dirty="0">
                    <a:solidFill>
                      <a:schemeClr val="bg1"/>
                    </a:solidFill>
                  </a:rPr>
                  <a:t> away from the “truth”) in some direction(s).</a:t>
                </a:r>
              </a:p>
            </p:txBody>
          </p:sp>
        </mc:Choice>
        <mc:Fallback xmlns="">
          <p:sp>
            <p:nvSpPr>
              <p:cNvPr id="8" name="TextBox 7">
                <a:extLst>
                  <a:ext uri="{FF2B5EF4-FFF2-40B4-BE49-F238E27FC236}">
                    <a16:creationId xmlns:a16="http://schemas.microsoft.com/office/drawing/2014/main" id="{5166DF2C-A0FD-69EB-C97F-4C798FFED41E}"/>
                  </a:ext>
                </a:extLst>
              </p:cNvPr>
              <p:cNvSpPr txBox="1">
                <a:spLocks noRot="1" noChangeAspect="1" noMove="1" noResize="1" noEditPoints="1" noAdjustHandles="1" noChangeArrowheads="1" noChangeShapeType="1" noTextEdit="1"/>
              </p:cNvSpPr>
              <p:nvPr/>
            </p:nvSpPr>
            <p:spPr>
              <a:xfrm>
                <a:off x="6330044" y="4814096"/>
                <a:ext cx="5597164" cy="1799275"/>
              </a:xfrm>
              <a:prstGeom prst="rect">
                <a:avLst/>
              </a:prstGeom>
              <a:blipFill>
                <a:blip r:embed="rId7"/>
                <a:stretch>
                  <a:fillRect l="-1131" t="-2113" b="-4930"/>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FB6E43F2-B87B-A9D6-A02E-BD6A0F152396}"/>
              </a:ext>
            </a:extLst>
          </p:cNvPr>
          <p:cNvGrpSpPr/>
          <p:nvPr/>
        </p:nvGrpSpPr>
        <p:grpSpPr>
          <a:xfrm>
            <a:off x="8803142" y="3640216"/>
            <a:ext cx="1377044" cy="1173880"/>
            <a:chOff x="2414833" y="4183403"/>
            <a:chExt cx="1377044" cy="1173880"/>
          </a:xfrm>
        </p:grpSpPr>
        <p:sp>
          <p:nvSpPr>
            <p:cNvPr id="10" name="Oval 9">
              <a:extLst>
                <a:ext uri="{FF2B5EF4-FFF2-40B4-BE49-F238E27FC236}">
                  <a16:creationId xmlns:a16="http://schemas.microsoft.com/office/drawing/2014/main" id="{18A6AE66-136F-78D1-8E5F-B06558D9E910}"/>
                </a:ext>
              </a:extLst>
            </p:cNvPr>
            <p:cNvSpPr/>
            <p:nvPr/>
          </p:nvSpPr>
          <p:spPr bwMode="auto">
            <a:xfrm>
              <a:off x="2414833" y="4183403"/>
              <a:ext cx="188536" cy="178370"/>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defTabSz="914400" fontAlgn="base">
                <a:spcBef>
                  <a:spcPct val="0"/>
                </a:spcBef>
                <a:spcAft>
                  <a:spcPct val="0"/>
                </a:spcAft>
              </a:pPr>
              <a:endParaRPr lang="en-US">
                <a:latin typeface="Arial" charset="0"/>
              </a:endParaRPr>
            </a:p>
          </p:txBody>
        </p:sp>
        <p:sp>
          <p:nvSpPr>
            <p:cNvPr id="13" name="Oval 12">
              <a:extLst>
                <a:ext uri="{FF2B5EF4-FFF2-40B4-BE49-F238E27FC236}">
                  <a16:creationId xmlns:a16="http://schemas.microsoft.com/office/drawing/2014/main" id="{0E488036-C855-DED6-BAFD-F8D9C109CFA3}"/>
                </a:ext>
              </a:extLst>
            </p:cNvPr>
            <p:cNvSpPr/>
            <p:nvPr/>
          </p:nvSpPr>
          <p:spPr bwMode="auto">
            <a:xfrm>
              <a:off x="3603341" y="5109620"/>
              <a:ext cx="188536" cy="178370"/>
            </a:xfrm>
            <a:prstGeom prst="ellipse">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ctr" defTabSz="914400" fontAlgn="base">
                <a:spcBef>
                  <a:spcPct val="0"/>
                </a:spcBef>
                <a:spcAft>
                  <a:spcPct val="0"/>
                </a:spcAft>
              </a:pPr>
              <a:endParaRPr lang="en-US">
                <a:latin typeface="Arial" charset="0"/>
              </a:endParaRPr>
            </a:p>
          </p:txBody>
        </p:sp>
        <p:cxnSp>
          <p:nvCxnSpPr>
            <p:cNvPr id="15" name="Straight Arrow Connector 14">
              <a:extLst>
                <a:ext uri="{FF2B5EF4-FFF2-40B4-BE49-F238E27FC236}">
                  <a16:creationId xmlns:a16="http://schemas.microsoft.com/office/drawing/2014/main" id="{7FA8E966-4E4E-5BA3-7334-89E12B1B3C2E}"/>
                </a:ext>
              </a:extLst>
            </p:cNvPr>
            <p:cNvCxnSpPr/>
            <p:nvPr/>
          </p:nvCxnSpPr>
          <p:spPr bwMode="auto">
            <a:xfrm>
              <a:off x="2569505" y="4335652"/>
              <a:ext cx="1094410" cy="824627"/>
            </a:xfrm>
            <a:prstGeom prst="straightConnector1">
              <a:avLst/>
            </a:prstGeom>
            <a:solidFill>
              <a:schemeClr val="accent1"/>
            </a:solidFill>
            <a:ln w="57150" cap="flat" cmpd="sng" algn="ctr">
              <a:solidFill>
                <a:srgbClr val="40E0D0"/>
              </a:solidFill>
              <a:prstDash val="solid"/>
              <a:round/>
              <a:headEnd type="triangle"/>
              <a:tailEnd type="triangle"/>
            </a:ln>
            <a:effectLst/>
          </p:spPr>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57BBA65-DBA5-1C5A-5F73-BD445B59B403}"/>
                    </a:ext>
                  </a:extLst>
                </p:cNvPr>
                <p:cNvSpPr txBox="1"/>
                <p:nvPr/>
              </p:nvSpPr>
              <p:spPr>
                <a:xfrm>
                  <a:off x="2662533" y="4850862"/>
                  <a:ext cx="499741" cy="506421"/>
                </a:xfrm>
                <a:prstGeom prst="rect">
                  <a:avLst/>
                </a:prstGeom>
                <a:solidFill>
                  <a:srgbClr val="40E0D0"/>
                </a:solid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𝑋</m:t>
                            </m:r>
                          </m:e>
                        </m:acc>
                      </m:oMath>
                    </m:oMathPara>
                  </a14:m>
                  <a:endParaRPr lang="en-US" sz="2400" dirty="0"/>
                </a:p>
              </p:txBody>
            </p:sp>
          </mc:Choice>
          <mc:Fallback xmlns="">
            <p:sp>
              <p:nvSpPr>
                <p:cNvPr id="16" name="TextBox 15">
                  <a:extLst>
                    <a:ext uri="{FF2B5EF4-FFF2-40B4-BE49-F238E27FC236}">
                      <a16:creationId xmlns:a16="http://schemas.microsoft.com/office/drawing/2014/main" id="{457BBA65-DBA5-1C5A-5F73-BD445B59B403}"/>
                    </a:ext>
                  </a:extLst>
                </p:cNvPr>
                <p:cNvSpPr txBox="1">
                  <a:spLocks noRot="1" noChangeAspect="1" noMove="1" noResize="1" noEditPoints="1" noAdjustHandles="1" noChangeArrowheads="1" noChangeShapeType="1" noTextEdit="1"/>
                </p:cNvSpPr>
                <p:nvPr/>
              </p:nvSpPr>
              <p:spPr>
                <a:xfrm>
                  <a:off x="2662533" y="4850862"/>
                  <a:ext cx="499741" cy="506421"/>
                </a:xfrm>
                <a:prstGeom prst="rect">
                  <a:avLst/>
                </a:prstGeom>
                <a:blipFill>
                  <a:blip r:embed="rId8"/>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478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1C00A-2F9D-7B38-816F-760E2B661842}"/>
              </a:ext>
            </a:extLst>
          </p:cNvPr>
          <p:cNvSpPr>
            <a:spLocks noGrp="1"/>
          </p:cNvSpPr>
          <p:nvPr>
            <p:ph type="title"/>
          </p:nvPr>
        </p:nvSpPr>
        <p:spPr/>
        <p:txBody>
          <a:bodyPr/>
          <a:lstStyle/>
          <a:p>
            <a:r>
              <a:rPr lang="en-US" dirty="0"/>
              <a:t>Lessons from the Big Data Paradox</a:t>
            </a:r>
          </a:p>
        </p:txBody>
      </p:sp>
      <p:sp>
        <p:nvSpPr>
          <p:cNvPr id="3" name="Content Placeholder 2">
            <a:extLst>
              <a:ext uri="{FF2B5EF4-FFF2-40B4-BE49-F238E27FC236}">
                <a16:creationId xmlns:a16="http://schemas.microsoft.com/office/drawing/2014/main" id="{961BBB85-1ED5-4118-1BAE-B50A89C08A9F}"/>
              </a:ext>
            </a:extLst>
          </p:cNvPr>
          <p:cNvSpPr>
            <a:spLocks noGrp="1"/>
          </p:cNvSpPr>
          <p:nvPr>
            <p:ph idx="1"/>
          </p:nvPr>
        </p:nvSpPr>
        <p:spPr>
          <a:xfrm>
            <a:off x="838199" y="1556951"/>
            <a:ext cx="11036643" cy="4620012"/>
          </a:xfrm>
        </p:spPr>
        <p:txBody>
          <a:bodyPr>
            <a:noAutofit/>
          </a:bodyPr>
          <a:lstStyle/>
          <a:p>
            <a:pPr>
              <a:lnSpc>
                <a:spcPct val="130000"/>
              </a:lnSpc>
              <a:spcBef>
                <a:spcPts val="0"/>
              </a:spcBef>
              <a:spcAft>
                <a:spcPts val="600"/>
              </a:spcAft>
            </a:pPr>
            <a:r>
              <a:rPr lang="en-US" dirty="0"/>
              <a:t>Data quality is far more important than data quantity. </a:t>
            </a:r>
          </a:p>
          <a:p>
            <a:pPr>
              <a:lnSpc>
                <a:spcPct val="130000"/>
              </a:lnSpc>
              <a:spcBef>
                <a:spcPts val="0"/>
              </a:spcBef>
              <a:spcAft>
                <a:spcPts val="600"/>
              </a:spcAft>
            </a:pPr>
            <a:r>
              <a:rPr lang="en-US" dirty="0"/>
              <a:t>Compensating for quality with quantity is a doomed game. </a:t>
            </a:r>
          </a:p>
          <a:p>
            <a:pPr>
              <a:lnSpc>
                <a:spcPct val="130000"/>
              </a:lnSpc>
              <a:spcBef>
                <a:spcPts val="0"/>
              </a:spcBef>
              <a:spcAft>
                <a:spcPts val="600"/>
              </a:spcAft>
            </a:pPr>
            <a:r>
              <a:rPr lang="en-US" dirty="0"/>
              <a:t>It is far more important to reduce sampling and non-response biases than non-response rates. </a:t>
            </a:r>
          </a:p>
          <a:p>
            <a:pPr>
              <a:lnSpc>
                <a:spcPct val="130000"/>
              </a:lnSpc>
              <a:spcBef>
                <a:spcPts val="0"/>
              </a:spcBef>
              <a:spcAft>
                <a:spcPts val="600"/>
              </a:spcAft>
            </a:pPr>
            <a:r>
              <a:rPr lang="en-US" dirty="0"/>
              <a:t>Invest in small but very high quality surveys than large surveys with uncontrolled/unknown quality. </a:t>
            </a:r>
          </a:p>
        </p:txBody>
      </p:sp>
    </p:spTree>
    <p:extLst>
      <p:ext uri="{BB962C8B-B14F-4D97-AF65-F5344CB8AC3E}">
        <p14:creationId xmlns:p14="http://schemas.microsoft.com/office/powerpoint/2010/main" val="40667878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1C00A-2F9D-7B38-816F-760E2B661842}"/>
              </a:ext>
            </a:extLst>
          </p:cNvPr>
          <p:cNvSpPr>
            <a:spLocks noGrp="1"/>
          </p:cNvSpPr>
          <p:nvPr>
            <p:ph type="title"/>
          </p:nvPr>
        </p:nvSpPr>
        <p:spPr/>
        <p:txBody>
          <a:bodyPr/>
          <a:lstStyle/>
          <a:p>
            <a:r>
              <a:rPr lang="en-US" dirty="0"/>
              <a:t>Lessons from the Big Data Paradox (cont’d)</a:t>
            </a:r>
          </a:p>
        </p:txBody>
      </p:sp>
      <p:sp>
        <p:nvSpPr>
          <p:cNvPr id="3" name="Content Placeholder 2">
            <a:extLst>
              <a:ext uri="{FF2B5EF4-FFF2-40B4-BE49-F238E27FC236}">
                <a16:creationId xmlns:a16="http://schemas.microsoft.com/office/drawing/2014/main" id="{961BBB85-1ED5-4118-1BAE-B50A89C08A9F}"/>
              </a:ext>
            </a:extLst>
          </p:cNvPr>
          <p:cNvSpPr>
            <a:spLocks noGrp="1"/>
          </p:cNvSpPr>
          <p:nvPr>
            <p:ph idx="1"/>
          </p:nvPr>
        </p:nvSpPr>
        <p:spPr>
          <a:xfrm>
            <a:off x="838199" y="1556951"/>
            <a:ext cx="11036643" cy="4620012"/>
          </a:xfrm>
        </p:spPr>
        <p:txBody>
          <a:bodyPr>
            <a:noAutofit/>
          </a:bodyPr>
          <a:lstStyle/>
          <a:p>
            <a:pPr>
              <a:lnSpc>
                <a:spcPct val="130000"/>
              </a:lnSpc>
              <a:spcBef>
                <a:spcPts val="0"/>
              </a:spcBef>
              <a:spcAft>
                <a:spcPts val="600"/>
              </a:spcAft>
            </a:pPr>
            <a:r>
              <a:rPr lang="en-US" dirty="0"/>
              <a:t>When combining datasets, relatively tiny but higher quality ones should be given far more weights than suggested by their sizes. </a:t>
            </a:r>
          </a:p>
          <a:p>
            <a:pPr>
              <a:lnSpc>
                <a:spcPct val="130000"/>
              </a:lnSpc>
              <a:spcBef>
                <a:spcPts val="0"/>
              </a:spcBef>
              <a:spcAft>
                <a:spcPts val="600"/>
              </a:spcAft>
            </a:pPr>
            <a:r>
              <a:rPr lang="en-US" dirty="0"/>
              <a:t>For population inferences, “bigness” of ”Big Data” should be measured by their relative size, not absolute size. </a:t>
            </a:r>
          </a:p>
          <a:p>
            <a:pPr>
              <a:lnSpc>
                <a:spcPct val="130000"/>
              </a:lnSpc>
              <a:spcBef>
                <a:spcPts val="0"/>
              </a:spcBef>
              <a:spcAft>
                <a:spcPts val="600"/>
              </a:spcAft>
            </a:pPr>
            <a:r>
              <a:rPr lang="en-US" dirty="0"/>
              <a:t>Probability sampling is an extremely powerful tool for ensuring data quality, but it is not the only strategy.</a:t>
            </a:r>
          </a:p>
        </p:txBody>
      </p:sp>
    </p:spTree>
    <p:extLst>
      <p:ext uri="{BB962C8B-B14F-4D97-AF65-F5344CB8AC3E}">
        <p14:creationId xmlns:p14="http://schemas.microsoft.com/office/powerpoint/2010/main" val="11456040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A590F8-5DAC-5AE2-6B1B-4C39AF774F90}"/>
              </a:ext>
            </a:extLst>
          </p:cNvPr>
          <p:cNvSpPr>
            <a:spLocks noGrp="1"/>
          </p:cNvSpPr>
          <p:nvPr>
            <p:ph type="title"/>
          </p:nvPr>
        </p:nvSpPr>
        <p:spPr>
          <a:xfrm>
            <a:off x="640080" y="325369"/>
            <a:ext cx="4368602" cy="1956841"/>
          </a:xfrm>
        </p:spPr>
        <p:txBody>
          <a:bodyPr anchor="b">
            <a:normAutofit/>
          </a:bodyPr>
          <a:lstStyle/>
          <a:p>
            <a:r>
              <a:rPr lang="en-US" sz="5400" strike="sngStrike"/>
              <a:t>The</a:t>
            </a:r>
            <a:r>
              <a:rPr lang="en-US" sz="5400"/>
              <a:t> A Solution?</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D38984D-4CFE-27E4-D803-3C42A080193E}"/>
              </a:ext>
            </a:extLst>
          </p:cNvPr>
          <p:cNvSpPr>
            <a:spLocks noGrp="1"/>
          </p:cNvSpPr>
          <p:nvPr>
            <p:ph idx="1"/>
          </p:nvPr>
        </p:nvSpPr>
        <p:spPr>
          <a:xfrm>
            <a:off x="640079" y="2872899"/>
            <a:ext cx="5357949" cy="3320668"/>
          </a:xfrm>
        </p:spPr>
        <p:txBody>
          <a:bodyPr>
            <a:normAutofit/>
          </a:bodyPr>
          <a:lstStyle/>
          <a:p>
            <a:pPr>
              <a:lnSpc>
                <a:spcPct val="110000"/>
              </a:lnSpc>
              <a:spcBef>
                <a:spcPts val="0"/>
              </a:spcBef>
              <a:spcAft>
                <a:spcPts val="600"/>
              </a:spcAft>
            </a:pPr>
            <a:r>
              <a:rPr lang="en-US" sz="2400" dirty="0"/>
              <a:t>Would the conclusion be the same if you had made a different, equally reasonable, choice in parameter values or analysis strategy?</a:t>
            </a:r>
          </a:p>
          <a:p>
            <a:pPr>
              <a:lnSpc>
                <a:spcPct val="110000"/>
              </a:lnSpc>
              <a:spcBef>
                <a:spcPts val="0"/>
              </a:spcBef>
              <a:spcAft>
                <a:spcPts val="600"/>
              </a:spcAft>
            </a:pPr>
            <a:r>
              <a:rPr lang="en-US" sz="2400" dirty="0"/>
              <a:t>Veridical Data Science (</a:t>
            </a:r>
            <a:r>
              <a:rPr lang="en-US" sz="2400" dirty="0">
                <a:hlinkClick r:id="rId2"/>
              </a:rPr>
              <a:t>paper</a:t>
            </a:r>
            <a:r>
              <a:rPr lang="en-US" sz="2400" dirty="0"/>
              <a:t> &amp; </a:t>
            </a:r>
            <a:r>
              <a:rPr lang="en-US" sz="2400" dirty="0">
                <a:hlinkClick r:id="rId3"/>
              </a:rPr>
              <a:t>book</a:t>
            </a:r>
            <a:r>
              <a:rPr lang="en-US" sz="2400" dirty="0"/>
              <a:t>)</a:t>
            </a:r>
          </a:p>
          <a:p>
            <a:pPr>
              <a:lnSpc>
                <a:spcPct val="110000"/>
              </a:lnSpc>
              <a:spcBef>
                <a:spcPts val="0"/>
              </a:spcBef>
              <a:spcAft>
                <a:spcPts val="600"/>
              </a:spcAft>
            </a:pPr>
            <a:r>
              <a:rPr lang="en-US" sz="2400" dirty="0"/>
              <a:t>Spans the data science life cycle</a:t>
            </a:r>
            <a:endParaRPr lang="en-US" sz="2200" dirty="0"/>
          </a:p>
          <a:p>
            <a:endParaRPr lang="en-US" sz="2200" dirty="0"/>
          </a:p>
        </p:txBody>
      </p:sp>
      <p:pic>
        <p:nvPicPr>
          <p:cNvPr id="5" name="Picture 4" descr="A diagram of data science life cycle&#10;&#10;Description automatically generated">
            <a:extLst>
              <a:ext uri="{FF2B5EF4-FFF2-40B4-BE49-F238E27FC236}">
                <a16:creationId xmlns:a16="http://schemas.microsoft.com/office/drawing/2014/main" id="{551202C7-7908-615E-1A8F-42E2185279BC}"/>
              </a:ext>
            </a:extLst>
          </p:cNvPr>
          <p:cNvPicPr>
            <a:picLocks noChangeAspect="1"/>
          </p:cNvPicPr>
          <p:nvPr/>
        </p:nvPicPr>
        <p:blipFill rotWithShape="1">
          <a:blip r:embed="rId4">
            <a:extLst>
              <a:ext uri="{28A0092B-C50C-407E-A947-70E740481C1C}">
                <a14:useLocalDpi xmlns:a14="http://schemas.microsoft.com/office/drawing/2010/main" val="0"/>
              </a:ext>
            </a:extLst>
          </a:blip>
          <a:srcRect l="14109" r="16933" b="-1"/>
          <a:stretch/>
        </p:blipFill>
        <p:spPr>
          <a:xfrm>
            <a:off x="5783485" y="555559"/>
            <a:ext cx="5974505" cy="5956452"/>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Right Triangle 6">
            <a:extLst>
              <a:ext uri="{FF2B5EF4-FFF2-40B4-BE49-F238E27FC236}">
                <a16:creationId xmlns:a16="http://schemas.microsoft.com/office/drawing/2014/main" id="{F9F79A1E-5839-B609-E2DA-B8752907CAF5}"/>
              </a:ext>
            </a:extLst>
          </p:cNvPr>
          <p:cNvSpPr/>
          <p:nvPr/>
        </p:nvSpPr>
        <p:spPr>
          <a:xfrm flipH="1" flipV="1">
            <a:off x="6857999" y="345989"/>
            <a:ext cx="4693919" cy="5956452"/>
          </a:xfrm>
          <a:prstGeom prst="rtTriangle">
            <a:avLst/>
          </a:prstGeom>
          <a:solidFill>
            <a:srgbClr val="4472C4">
              <a:alpha val="50196"/>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6722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F839C-6CA8-E7B8-7C69-8807DC2937B0}"/>
              </a:ext>
            </a:extLst>
          </p:cNvPr>
          <p:cNvSpPr>
            <a:spLocks noGrp="1"/>
          </p:cNvSpPr>
          <p:nvPr>
            <p:ph type="title"/>
          </p:nvPr>
        </p:nvSpPr>
        <p:spPr/>
        <p:txBody>
          <a:bodyPr/>
          <a:lstStyle/>
          <a:p>
            <a:r>
              <a:rPr lang="en-US" dirty="0"/>
              <a:t>Don’t Hide – Document! Use PCS</a:t>
            </a:r>
          </a:p>
        </p:txBody>
      </p:sp>
      <p:sp>
        <p:nvSpPr>
          <p:cNvPr id="3" name="Content Placeholder 2">
            <a:extLst>
              <a:ext uri="{FF2B5EF4-FFF2-40B4-BE49-F238E27FC236}">
                <a16:creationId xmlns:a16="http://schemas.microsoft.com/office/drawing/2014/main" id="{A1CC0090-E3C6-0575-02E7-936F3C95F72F}"/>
              </a:ext>
            </a:extLst>
          </p:cNvPr>
          <p:cNvSpPr>
            <a:spLocks noGrp="1"/>
          </p:cNvSpPr>
          <p:nvPr>
            <p:ph idx="1"/>
          </p:nvPr>
        </p:nvSpPr>
        <p:spPr>
          <a:xfrm>
            <a:off x="838200" y="1505632"/>
            <a:ext cx="10515600" cy="4100512"/>
          </a:xfrm>
        </p:spPr>
        <p:txBody>
          <a:bodyPr>
            <a:normAutofit fontScale="92500"/>
          </a:bodyPr>
          <a:lstStyle/>
          <a:p>
            <a:pPr>
              <a:lnSpc>
                <a:spcPct val="110000"/>
              </a:lnSpc>
              <a:spcBef>
                <a:spcPts val="0"/>
              </a:spcBef>
              <a:spcAft>
                <a:spcPts val="600"/>
              </a:spcAft>
            </a:pPr>
            <a:r>
              <a:rPr lang="en-US" b="1" dirty="0"/>
              <a:t>P</a:t>
            </a:r>
            <a:r>
              <a:rPr lang="en-US" b="1" dirty="0">
                <a:effectLst/>
              </a:rPr>
              <a:t>redictability</a:t>
            </a:r>
            <a:r>
              <a:rPr lang="en-US" b="1" dirty="0"/>
              <a:t>: </a:t>
            </a:r>
            <a:r>
              <a:rPr lang="en-US" dirty="0"/>
              <a:t>demonstrate </a:t>
            </a:r>
            <a:r>
              <a:rPr lang="en-US" dirty="0">
                <a:effectLst/>
              </a:rPr>
              <a:t>computationally that results reemerge in relevant future data and are in line with domain knowledge (reality check)</a:t>
            </a:r>
          </a:p>
          <a:p>
            <a:pPr>
              <a:lnSpc>
                <a:spcPct val="110000"/>
              </a:lnSpc>
              <a:spcBef>
                <a:spcPts val="0"/>
              </a:spcBef>
              <a:spcAft>
                <a:spcPts val="600"/>
              </a:spcAft>
            </a:pPr>
            <a:r>
              <a:rPr lang="en-US" b="1" dirty="0"/>
              <a:t>C</a:t>
            </a:r>
            <a:r>
              <a:rPr lang="en-US" b="1" dirty="0">
                <a:effectLst/>
              </a:rPr>
              <a:t>omputability: </a:t>
            </a:r>
            <a:r>
              <a:rPr lang="en-US" sz="2900" dirty="0"/>
              <a:t>document the reasons that certain algorithmic restrictions were deemed appropriate and the impact they may have on conclusions</a:t>
            </a:r>
          </a:p>
          <a:p>
            <a:pPr>
              <a:lnSpc>
                <a:spcPct val="110000"/>
              </a:lnSpc>
              <a:spcBef>
                <a:spcPts val="0"/>
              </a:spcBef>
              <a:spcAft>
                <a:spcPts val="600"/>
              </a:spcAft>
            </a:pPr>
            <a:r>
              <a:rPr lang="en-US" b="1" dirty="0"/>
              <a:t>S</a:t>
            </a:r>
            <a:r>
              <a:rPr lang="en-US" b="1" dirty="0">
                <a:effectLst/>
              </a:rPr>
              <a:t>tability</a:t>
            </a:r>
            <a:r>
              <a:rPr lang="en-US" dirty="0">
                <a:effectLst/>
              </a:rPr>
              <a:t>: </a:t>
            </a:r>
            <a:r>
              <a:rPr lang="en-US" dirty="0"/>
              <a:t>A</a:t>
            </a:r>
            <a:r>
              <a:rPr lang="en-US" dirty="0">
                <a:effectLst/>
              </a:rPr>
              <a:t>ssess the trustworthiness of your results by examining a range of sources of uncertainty using a series of </a:t>
            </a:r>
            <a:r>
              <a:rPr lang="en-US" i="1" dirty="0">
                <a:effectLst/>
              </a:rPr>
              <a:t>stability</a:t>
            </a:r>
            <a:r>
              <a:rPr lang="en-US" dirty="0">
                <a:effectLst/>
              </a:rPr>
              <a:t> explorations </a:t>
            </a:r>
            <a:r>
              <a:rPr lang="en-US" dirty="0">
                <a:solidFill>
                  <a:srgbClr val="C00000"/>
                </a:solidFill>
                <a:effectLst/>
              </a:rPr>
              <a:t>throughout the DSLC</a:t>
            </a:r>
          </a:p>
        </p:txBody>
      </p:sp>
      <p:sp>
        <p:nvSpPr>
          <p:cNvPr id="4" name="TextBox 3">
            <a:extLst>
              <a:ext uri="{FF2B5EF4-FFF2-40B4-BE49-F238E27FC236}">
                <a16:creationId xmlns:a16="http://schemas.microsoft.com/office/drawing/2014/main" id="{DF2874D9-97ED-87D8-46C4-C1957A015B0C}"/>
              </a:ext>
            </a:extLst>
          </p:cNvPr>
          <p:cNvSpPr txBox="1"/>
          <p:nvPr/>
        </p:nvSpPr>
        <p:spPr>
          <a:xfrm>
            <a:off x="938947" y="5606145"/>
            <a:ext cx="10314106" cy="584775"/>
          </a:xfrm>
          <a:prstGeom prst="rect">
            <a:avLst/>
          </a:prstGeom>
        </p:spPr>
        <p:style>
          <a:lnRef idx="3">
            <a:schemeClr val="lt1"/>
          </a:lnRef>
          <a:fillRef idx="1">
            <a:schemeClr val="accent1"/>
          </a:fillRef>
          <a:effectRef idx="1">
            <a:schemeClr val="accent1"/>
          </a:effectRef>
          <a:fontRef idx="minor">
            <a:schemeClr val="lt1"/>
          </a:fontRef>
        </p:style>
        <p:txBody>
          <a:bodyPr wrap="none" rtlCol="0">
            <a:spAutoFit/>
          </a:bodyPr>
          <a:lstStyle/>
          <a:p>
            <a:r>
              <a:rPr lang="en-US" sz="3200" dirty="0">
                <a:effectLst/>
              </a:rPr>
              <a:t>Actively embrace imperfections within our data and analyses</a:t>
            </a:r>
          </a:p>
        </p:txBody>
      </p:sp>
    </p:spTree>
    <p:extLst>
      <p:ext uri="{BB962C8B-B14F-4D97-AF65-F5344CB8AC3E}">
        <p14:creationId xmlns:p14="http://schemas.microsoft.com/office/powerpoint/2010/main" val="2054825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A590F8-5DAC-5AE2-6B1B-4C39AF774F90}"/>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PCS Spans the DSLC</a:t>
            </a:r>
          </a:p>
        </p:txBody>
      </p:sp>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diagram of data science life cycle&#10;&#10;Description automatically generated">
            <a:extLst>
              <a:ext uri="{FF2B5EF4-FFF2-40B4-BE49-F238E27FC236}">
                <a16:creationId xmlns:a16="http://schemas.microsoft.com/office/drawing/2014/main" id="{551202C7-7908-615E-1A8F-42E2185279BC}"/>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4109" r="16933" b="-1"/>
          <a:stretch/>
        </p:blipFill>
        <p:spPr>
          <a:xfrm>
            <a:off x="5478030" y="640080"/>
            <a:ext cx="5567147" cy="5550408"/>
          </a:xfrm>
          <a:prstGeom prst="rect">
            <a:avLst/>
          </a:prstGeom>
        </p:spPr>
      </p:pic>
    </p:spTree>
    <p:extLst>
      <p:ext uri="{BB962C8B-B14F-4D97-AF65-F5344CB8AC3E}">
        <p14:creationId xmlns:p14="http://schemas.microsoft.com/office/powerpoint/2010/main" val="23086859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259E5586-136C-410A-D75C-28E858A88647}"/>
              </a:ext>
            </a:extLst>
          </p:cNvPr>
          <p:cNvPicPr>
            <a:picLocks noChangeAspect="1"/>
          </p:cNvPicPr>
          <p:nvPr/>
        </p:nvPicPr>
        <p:blipFill rotWithShape="1">
          <a:blip r:embed="rId2">
            <a:alphaModFix amt="50000"/>
          </a:blip>
          <a:srcRect b="25000"/>
          <a:stretch/>
        </p:blipFill>
        <p:spPr>
          <a:xfrm>
            <a:off x="20" y="1"/>
            <a:ext cx="12191980" cy="6857999"/>
          </a:xfrm>
          <a:prstGeom prst="rect">
            <a:avLst/>
          </a:prstGeom>
        </p:spPr>
      </p:pic>
      <p:sp>
        <p:nvSpPr>
          <p:cNvPr id="4" name="Title 3">
            <a:extLst>
              <a:ext uri="{FF2B5EF4-FFF2-40B4-BE49-F238E27FC236}">
                <a16:creationId xmlns:a16="http://schemas.microsoft.com/office/drawing/2014/main" id="{0B32887A-8F89-692F-55DB-A7145C6078B0}"/>
              </a:ext>
            </a:extLst>
          </p:cNvPr>
          <p:cNvSpPr>
            <a:spLocks noGrp="1"/>
          </p:cNvSpPr>
          <p:nvPr>
            <p:ph type="ctrTitle"/>
          </p:nvPr>
        </p:nvSpPr>
        <p:spPr>
          <a:xfrm>
            <a:off x="1524000" y="1122362"/>
            <a:ext cx="9144000" cy="2900518"/>
          </a:xfrm>
        </p:spPr>
        <p:txBody>
          <a:bodyPr>
            <a:normAutofit/>
          </a:bodyPr>
          <a:lstStyle/>
          <a:p>
            <a:r>
              <a:rPr lang="en-US">
                <a:solidFill>
                  <a:srgbClr val="FFFFFF"/>
                </a:solidFill>
              </a:rPr>
              <a:t>Thank you!</a:t>
            </a:r>
          </a:p>
        </p:txBody>
      </p:sp>
      <p:sp>
        <p:nvSpPr>
          <p:cNvPr id="5" name="Subtitle 4">
            <a:extLst>
              <a:ext uri="{FF2B5EF4-FFF2-40B4-BE49-F238E27FC236}">
                <a16:creationId xmlns:a16="http://schemas.microsoft.com/office/drawing/2014/main" id="{A222B584-5FA0-FBD6-9FB0-B2B4A9DDD7E8}"/>
              </a:ext>
            </a:extLst>
          </p:cNvPr>
          <p:cNvSpPr>
            <a:spLocks noGrp="1"/>
          </p:cNvSpPr>
          <p:nvPr>
            <p:ph type="subTitle" idx="1"/>
          </p:nvPr>
        </p:nvSpPr>
        <p:spPr>
          <a:xfrm>
            <a:off x="1524000" y="4159404"/>
            <a:ext cx="9144000" cy="1098395"/>
          </a:xfrm>
        </p:spPr>
        <p:txBody>
          <a:bodyPr>
            <a:normAutofit/>
          </a:bodyPr>
          <a:lstStyle/>
          <a:p>
            <a:r>
              <a:rPr lang="en-US">
                <a:solidFill>
                  <a:srgbClr val="FFFFFF"/>
                </a:solidFill>
              </a:rPr>
              <a:t>Questions?</a:t>
            </a:r>
          </a:p>
        </p:txBody>
      </p:sp>
    </p:spTree>
    <p:extLst>
      <p:ext uri="{BB962C8B-B14F-4D97-AF65-F5344CB8AC3E}">
        <p14:creationId xmlns:p14="http://schemas.microsoft.com/office/powerpoint/2010/main" val="2983077725"/>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4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4971</TotalTime>
  <Words>2765</Words>
  <Application>Microsoft Macintosh PowerPoint</Application>
  <PresentationFormat>Widescreen</PresentationFormat>
  <Paragraphs>203</Paragraphs>
  <Slides>32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Arial</vt:lpstr>
      <vt:lpstr>Calibri</vt:lpstr>
      <vt:lpstr>Calibri Light</vt:lpstr>
      <vt:lpstr>Cambria Math</vt:lpstr>
      <vt:lpstr>Nueva Std Cond</vt:lpstr>
      <vt:lpstr>Open Sans</vt:lpstr>
      <vt:lpstr>Office Theme</vt:lpstr>
      <vt:lpstr>What is Reproducibility and Why do we care?</vt:lpstr>
      <vt:lpstr>What is Research?</vt:lpstr>
      <vt:lpstr>How do we know whether something no one has done before is correct?</vt:lpstr>
      <vt:lpstr>PowerPoint Presentation</vt:lpstr>
      <vt:lpstr>Replication “crisis” Increasing rates of non-replicability in scientific studies</vt:lpstr>
      <vt:lpstr>Studies on Reproducibility</vt:lpstr>
      <vt:lpstr>Why is that happening?</vt:lpstr>
      <vt:lpstr>Ioannidis (2005) “Corollaries”</vt:lpstr>
      <vt:lpstr>Reproducible research</vt:lpstr>
      <vt:lpstr>“doing reproducible research” in practice</vt:lpstr>
      <vt:lpstr>Reproducible Research Benefits</vt:lpstr>
      <vt:lpstr>Three Stages of Computational Research</vt:lpstr>
      <vt:lpstr>Three Stages of Computational Research</vt:lpstr>
      <vt:lpstr>Three Stages of Computational Research</vt:lpstr>
      <vt:lpstr>Three Stages of Computational Research</vt:lpstr>
      <vt:lpstr>PowerPoint Presentation</vt:lpstr>
      <vt:lpstr>Documenting Decisions</vt:lpstr>
      <vt:lpstr>Some Experimental Design Decisions</vt:lpstr>
      <vt:lpstr>Variable choice, the p-value, differing results If the variable choice isn’t documented, be suspicious</vt:lpstr>
      <vt:lpstr>A is for Analysis Choice</vt:lpstr>
      <vt:lpstr>Particularly a problem for high dimensional data</vt:lpstr>
      <vt:lpstr>Geometry of multivariate probability distributions is weird</vt:lpstr>
      <vt:lpstr>PowerPoint Presentation</vt:lpstr>
      <vt:lpstr>Volume of a unit ball in n dimensions</vt:lpstr>
      <vt:lpstr>Compare </vt:lpstr>
      <vt:lpstr>Standard Normal distributions</vt:lpstr>
      <vt:lpstr>Lessons from the Big Data Paradox</vt:lpstr>
      <vt:lpstr>Lessons from the Big Data Paradox (cont’d)</vt:lpstr>
      <vt:lpstr>The A Solution?</vt:lpstr>
      <vt:lpstr>Don’t Hide – Document! Use PCS</vt:lpstr>
      <vt:lpstr>PCS Spans the DSLC</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Statistical System</dc:title>
  <dc:creator>Stokes, Lynne</dc:creator>
  <cp:lastModifiedBy>McGee, Monnie</cp:lastModifiedBy>
  <cp:revision>34</cp:revision>
  <dcterms:created xsi:type="dcterms:W3CDTF">2022-06-09T15:50:27Z</dcterms:created>
  <dcterms:modified xsi:type="dcterms:W3CDTF">2026-06-05T17:33:23Z</dcterms:modified>
</cp:coreProperties>
</file>